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2"/>
  </p:sldIdLst>
  <p:sldSz cx="43891200" cy="32918400"/>
  <p:notesSz cx="5800725" cy="9094788"/>
  <p:embeddedFontLst>
    <p:embeddedFont>
      <p:font typeface="Amaranth" panose="020B0604020202020204" charset="0"/>
      <p:regular r:id="rId3"/>
    </p:embeddedFont>
    <p:embeddedFont>
      <p:font typeface="Titillium Web" panose="00000500000000000000" pitchFamily="2" charset="0"/>
      <p:regular r:id="rId4"/>
      <p:bold r:id="rId5"/>
      <p:italic r:id="rId6"/>
      <p:boldItalic r:id="rId7"/>
    </p:embeddedFont>
  </p:embeddedFontLst>
  <p:custDataLst>
    <p:tags r:id="rId8"/>
  </p:custDataLst>
  <p:defaultTextStyle>
    <a:defPPr>
      <a:defRPr lang="en-US"/>
    </a:defPPr>
    <a:lvl1pPr algn="l" rtl="0" fontAlgn="base">
      <a:spcBef>
        <a:spcPct val="0"/>
      </a:spcBef>
      <a:spcAft>
        <a:spcPct val="0"/>
      </a:spcAft>
      <a:defRPr sz="9300" kern="1200">
        <a:solidFill>
          <a:schemeClr val="tx1"/>
        </a:solidFill>
        <a:latin typeface="Arial"/>
        <a:ea typeface="+mn-ea"/>
        <a:cs typeface="+mn-cs"/>
      </a:defRPr>
    </a:lvl1pPr>
    <a:lvl2pPr marL="457200" algn="l" rtl="0" fontAlgn="base">
      <a:spcBef>
        <a:spcPct val="0"/>
      </a:spcBef>
      <a:spcAft>
        <a:spcPct val="0"/>
      </a:spcAft>
      <a:defRPr sz="9300" kern="1200">
        <a:solidFill>
          <a:schemeClr val="tx1"/>
        </a:solidFill>
        <a:latin typeface="Arial"/>
        <a:ea typeface="+mn-ea"/>
        <a:cs typeface="+mn-cs"/>
      </a:defRPr>
    </a:lvl2pPr>
    <a:lvl3pPr marL="914400" algn="l" rtl="0" fontAlgn="base">
      <a:spcBef>
        <a:spcPct val="0"/>
      </a:spcBef>
      <a:spcAft>
        <a:spcPct val="0"/>
      </a:spcAft>
      <a:defRPr sz="9300" kern="1200">
        <a:solidFill>
          <a:schemeClr val="tx1"/>
        </a:solidFill>
        <a:latin typeface="Arial"/>
        <a:ea typeface="+mn-ea"/>
        <a:cs typeface="+mn-cs"/>
      </a:defRPr>
    </a:lvl3pPr>
    <a:lvl4pPr marL="1371600" algn="l" rtl="0" fontAlgn="base">
      <a:spcBef>
        <a:spcPct val="0"/>
      </a:spcBef>
      <a:spcAft>
        <a:spcPct val="0"/>
      </a:spcAft>
      <a:defRPr sz="9300" kern="1200">
        <a:solidFill>
          <a:schemeClr val="tx1"/>
        </a:solidFill>
        <a:latin typeface="Arial"/>
        <a:ea typeface="+mn-ea"/>
        <a:cs typeface="+mn-cs"/>
      </a:defRPr>
    </a:lvl4pPr>
    <a:lvl5pPr marL="1828800" algn="l" rtl="0" fontAlgn="base">
      <a:spcBef>
        <a:spcPct val="0"/>
      </a:spcBef>
      <a:spcAft>
        <a:spcPct val="0"/>
      </a:spcAft>
      <a:defRPr sz="9300" kern="1200">
        <a:solidFill>
          <a:schemeClr val="tx1"/>
        </a:solidFill>
        <a:latin typeface="Arial"/>
        <a:ea typeface="+mn-ea"/>
        <a:cs typeface="+mn-cs"/>
      </a:defRPr>
    </a:lvl5pPr>
    <a:lvl6pPr marL="2286000" algn="l" defTabSz="914400" rtl="0" eaLnBrk="1" latinLnBrk="0" hangingPunct="1">
      <a:defRPr sz="9300" kern="1200">
        <a:solidFill>
          <a:schemeClr val="tx1"/>
        </a:solidFill>
        <a:latin typeface="Arial"/>
        <a:ea typeface="+mn-ea"/>
        <a:cs typeface="+mn-cs"/>
      </a:defRPr>
    </a:lvl6pPr>
    <a:lvl7pPr marL="2743200" algn="l" defTabSz="914400" rtl="0" eaLnBrk="1" latinLnBrk="0" hangingPunct="1">
      <a:defRPr sz="9300" kern="1200">
        <a:solidFill>
          <a:schemeClr val="tx1"/>
        </a:solidFill>
        <a:latin typeface="Arial"/>
        <a:ea typeface="+mn-ea"/>
        <a:cs typeface="+mn-cs"/>
      </a:defRPr>
    </a:lvl7pPr>
    <a:lvl8pPr marL="3200400" algn="l" defTabSz="914400" rtl="0" eaLnBrk="1" latinLnBrk="0" hangingPunct="1">
      <a:defRPr sz="9300" kern="1200">
        <a:solidFill>
          <a:schemeClr val="tx1"/>
        </a:solidFill>
        <a:latin typeface="Arial"/>
        <a:ea typeface="+mn-ea"/>
        <a:cs typeface="+mn-cs"/>
      </a:defRPr>
    </a:lvl8pPr>
    <a:lvl9pPr marL="3657600" algn="l" defTabSz="914400" rtl="0" eaLnBrk="1" latinLnBrk="0" hangingPunct="1">
      <a:defRPr sz="9300" kern="1200">
        <a:solidFill>
          <a:schemeClr val="tx1"/>
        </a:solidFill>
        <a:latin typeface="Arial"/>
        <a:ea typeface="+mn-ea"/>
        <a:cs typeface="+mn-cs"/>
      </a:defRPr>
    </a:lvl9pPr>
  </p:defaultTextStyle>
  <p:extLst>
    <p:ext uri="{EFAFB233-063F-42B5-8137-9DF3F51BA10A}">
      <p15:sldGuideLst xmlns:p15="http://schemas.microsoft.com/office/powerpoint/2012/main">
        <p15:guide id="1" orient="horz" pos="10368">
          <p15:clr>
            <a:srgbClr val="A4A3A4"/>
          </p15:clr>
        </p15:guide>
        <p15:guide id="2" pos="13824">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4D3E2"/>
    <a:srgbClr val="569BBE"/>
    <a:srgbClr val="A40000"/>
    <a:srgbClr val="FF1111"/>
    <a:srgbClr val="DE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13615" autoAdjust="0"/>
    <p:restoredTop sz="94660"/>
  </p:normalViewPr>
  <p:slideViewPr>
    <p:cSldViewPr snapToGrid="0">
      <p:cViewPr>
        <p:scale>
          <a:sx n="27" d="100"/>
          <a:sy n="27" d="100"/>
        </p:scale>
        <p:origin x="992" y="-872"/>
      </p:cViewPr>
      <p:guideLst>
        <p:guide orient="horz" pos="10368"/>
        <p:guide pos="13824"/>
      </p:guideLst>
    </p:cSldViewPr>
  </p:slideViewPr>
  <p:notesTextViewPr>
    <p:cViewPr>
      <p:scale>
        <a:sx n="100" d="100"/>
        <a:sy n="100" d="100"/>
      </p:scale>
      <p:origin x="0" y="0"/>
    </p:cViewPr>
  </p:notesTextViewPr>
  <p:notesViewPr>
    <p:cSldViewPr>
      <p:cViewPr>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font" Target="fonts/font1.fntdata"/><Relationship Id="rId7" Type="http://schemas.openxmlformats.org/officeDocument/2006/relationships/font" Target="fonts/font5.fntdata"/><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4.fntdata"/><Relationship Id="rId11" Type="http://schemas.openxmlformats.org/officeDocument/2006/relationships/theme" Target="theme/theme1.xml"/><Relationship Id="rId5" Type="http://schemas.openxmlformats.org/officeDocument/2006/relationships/font" Target="fonts/font3.fntdata"/><Relationship Id="rId10" Type="http://schemas.openxmlformats.org/officeDocument/2006/relationships/viewProps" Target="viewProps.xml"/><Relationship Id="rId4" Type="http://schemas.openxmlformats.org/officeDocument/2006/relationships/font" Target="fonts/font2.fntdata"/><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2475" y="10226675"/>
            <a:ext cx="37306250" cy="7054850"/>
          </a:xfrm>
        </p:spPr>
        <p:txBody>
          <a:bodyPr/>
          <a:lstStyle>
            <a:defPPr>
              <a:defRPr kern="1200"/>
            </a:defPPr>
          </a:lstStyle>
          <a:p>
            <a:r>
              <a:rPr lang="en-US"/>
              <a:t>Click to edit Master title style</a:t>
            </a:r>
          </a:p>
        </p:txBody>
      </p:sp>
      <p:sp>
        <p:nvSpPr>
          <p:cNvPr id="3" name="Subtitle 2"/>
          <p:cNvSpPr>
            <a:spLocks noGrp="1"/>
          </p:cNvSpPr>
          <p:nvPr>
            <p:ph type="subTitle" idx="1"/>
          </p:nvPr>
        </p:nvSpPr>
        <p:spPr>
          <a:xfrm>
            <a:off x="6583363" y="18653125"/>
            <a:ext cx="30724475" cy="8413750"/>
          </a:xfrm>
        </p:spPr>
        <p:txBody>
          <a:bodyPr/>
          <a:lstStyle>
            <a:defPPr>
              <a:defRPr kern="1200"/>
            </a:defPPr>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E9E44D62-E9B9-4A1F-9D60-78A1B8BD2136}" type="slidenum">
              <a:rPr lang="en-US"/>
              <a:pPr>
                <a:defRPr/>
              </a:pPr>
              <a:t>‹#›</a:t>
            </a:fld>
            <a:endParaRPr lang="en-US"/>
          </a:p>
        </p:txBody>
      </p:sp>
    </p:spTree>
    <p:extLst>
      <p:ext uri="{BB962C8B-B14F-4D97-AF65-F5344CB8AC3E}">
        <p14:creationId xmlns:p14="http://schemas.microsoft.com/office/powerpoint/2010/main" val="165212747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idx="1"/>
          </p:nvPr>
        </p:nvSpPr>
        <p:spPr/>
        <p:txBody>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D772C493-C7EB-4BEF-9EB3-C72AA1A173D7}" type="slidenum">
              <a:rPr lang="en-US"/>
              <a:pPr>
                <a:defRPr/>
              </a:pPr>
              <a:t>‹#›</a:t>
            </a:fld>
            <a:endParaRPr lang="en-US"/>
          </a:p>
        </p:txBody>
      </p:sp>
    </p:spTree>
    <p:extLst>
      <p:ext uri="{BB962C8B-B14F-4D97-AF65-F5344CB8AC3E}">
        <p14:creationId xmlns:p14="http://schemas.microsoft.com/office/powerpoint/2010/main" val="2428922162"/>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0" y="21153438"/>
            <a:ext cx="37307838" cy="6537325"/>
          </a:xfrm>
        </p:spPr>
        <p:txBody>
          <a:bodyPr anchor="t"/>
          <a:lstStyle>
            <a:defPPr>
              <a:defRPr kern="1200"/>
            </a:defPPr>
            <a:lvl1pPr algn="l">
              <a:defRPr sz="4000" b="1" cap="all"/>
            </a:lvl1pPr>
          </a:lstStyle>
          <a:p>
            <a:r>
              <a:rPr lang="en-US"/>
              <a:t>Click to edit Master title style</a:t>
            </a:r>
          </a:p>
        </p:txBody>
      </p:sp>
      <p:sp>
        <p:nvSpPr>
          <p:cNvPr id="3" name="Text Placeholder 2"/>
          <p:cNvSpPr>
            <a:spLocks noGrp="1"/>
          </p:cNvSpPr>
          <p:nvPr>
            <p:ph type="body" idx="1"/>
          </p:nvPr>
        </p:nvSpPr>
        <p:spPr>
          <a:xfrm>
            <a:off x="3467100" y="13952538"/>
            <a:ext cx="37307838" cy="7200900"/>
          </a:xfrm>
        </p:spPr>
        <p:txBody>
          <a:bodyPr anchor="b"/>
          <a:lstStyle>
            <a:defPPr>
              <a:defRPr kern="1200"/>
            </a:defPPr>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3239EF23-2AC5-4B50-8C9E-5F8D49668A77}" type="slidenum">
              <a:rPr lang="en-US"/>
              <a:pPr>
                <a:defRPr/>
              </a:pPr>
              <a:t>‹#›</a:t>
            </a:fld>
            <a:endParaRPr lang="en-US"/>
          </a:p>
        </p:txBody>
      </p:sp>
    </p:spTree>
    <p:extLst>
      <p:ext uri="{BB962C8B-B14F-4D97-AF65-F5344CB8AC3E}">
        <p14:creationId xmlns:p14="http://schemas.microsoft.com/office/powerpoint/2010/main" val="448625829"/>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sz="half" idx="1"/>
          </p:nvPr>
        </p:nvSpPr>
        <p:spPr>
          <a:xfrm>
            <a:off x="2193925" y="7680325"/>
            <a:ext cx="19675475" cy="21724938"/>
          </a:xfrm>
        </p:spPr>
        <p:txBody>
          <a:bodyPr/>
          <a:lstStyle>
            <a:defPPr>
              <a:defRPr kern="1200"/>
            </a:defPPr>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021800" y="7680325"/>
            <a:ext cx="19675475" cy="21724938"/>
          </a:xfrm>
        </p:spPr>
        <p:txBody>
          <a:bodyPr/>
          <a:lstStyle>
            <a:defPPr>
              <a:defRPr kern="1200"/>
            </a:defPPr>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0BBD8762-0F6F-41F2-8E1E-C5EF6CE7FF3C}" type="slidenum">
              <a:rPr lang="en-US"/>
              <a:pPr>
                <a:defRPr/>
              </a:pPr>
              <a:t>‹#›</a:t>
            </a:fld>
            <a:endParaRPr lang="en-US"/>
          </a:p>
        </p:txBody>
      </p:sp>
    </p:spTree>
    <p:extLst>
      <p:ext uri="{BB962C8B-B14F-4D97-AF65-F5344CB8AC3E}">
        <p14:creationId xmlns:p14="http://schemas.microsoft.com/office/powerpoint/2010/main" val="330539722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vl1pPr>
              <a:defRPr/>
            </a:lvl1pPr>
          </a:lstStyle>
          <a:p>
            <a:r>
              <a:rPr lang="en-US"/>
              <a:t>Click to edit Master title style</a:t>
            </a:r>
          </a:p>
        </p:txBody>
      </p:sp>
      <p:sp>
        <p:nvSpPr>
          <p:cNvPr id="3" name="Text Placeholder 2"/>
          <p:cNvSpPr>
            <a:spLocks noGrp="1"/>
          </p:cNvSpPr>
          <p:nvPr>
            <p:ph type="body" idx="1"/>
          </p:nvPr>
        </p:nvSpPr>
        <p:spPr>
          <a:xfrm>
            <a:off x="2193925" y="7369175"/>
            <a:ext cx="19392900" cy="3070225"/>
          </a:xfrm>
        </p:spPr>
        <p:txBody>
          <a:bodyPr anchor="b"/>
          <a:lstStyle>
            <a:defPPr>
              <a:defRPr kern="1200"/>
            </a:defPPr>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193925" y="10439400"/>
            <a:ext cx="19392900" cy="18965862"/>
          </a:xfrm>
        </p:spPr>
        <p:txBody>
          <a:bodyPr/>
          <a:lstStyle>
            <a:defPPr>
              <a:defRPr kern="1200"/>
            </a:defPPr>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438" y="7369175"/>
            <a:ext cx="19400838" cy="3070225"/>
          </a:xfrm>
        </p:spPr>
        <p:txBody>
          <a:bodyPr anchor="b"/>
          <a:lstStyle>
            <a:defPPr>
              <a:defRPr kern="1200"/>
            </a:defPPr>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22296438" y="10439400"/>
            <a:ext cx="19400838" cy="18965862"/>
          </a:xfrm>
        </p:spPr>
        <p:txBody>
          <a:bodyPr/>
          <a:lstStyle>
            <a:defPPr>
              <a:defRPr kern="1200"/>
            </a:defPPr>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8"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9" name="Rectangle 6"/>
          <p:cNvSpPr>
            <a:spLocks noGrp="1" noChangeArrowheads="1"/>
          </p:cNvSpPr>
          <p:nvPr>
            <p:ph type="sldNum" sz="quarter" idx="12"/>
          </p:nvPr>
        </p:nvSpPr>
        <p:spPr/>
        <p:txBody>
          <a:bodyPr/>
          <a:lstStyle>
            <a:defPPr>
              <a:defRPr kern="1200"/>
            </a:defPPr>
            <a:lvl1pPr>
              <a:defRPr/>
            </a:lvl1pPr>
          </a:lstStyle>
          <a:p>
            <a:pPr>
              <a:defRPr/>
            </a:pPr>
            <a:fld id="{C245EB89-E1F0-4213-BFCF-D6A06A13C4EF}" type="slidenum">
              <a:rPr lang="en-US"/>
              <a:pPr>
                <a:defRPr/>
              </a:pPr>
              <a:t>‹#›</a:t>
            </a:fld>
            <a:endParaRPr lang="en-US"/>
          </a:p>
        </p:txBody>
      </p:sp>
    </p:spTree>
    <p:extLst>
      <p:ext uri="{BB962C8B-B14F-4D97-AF65-F5344CB8AC3E}">
        <p14:creationId xmlns:p14="http://schemas.microsoft.com/office/powerpoint/2010/main" val="4037356688"/>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4"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5" name="Rectangle 6"/>
          <p:cNvSpPr>
            <a:spLocks noGrp="1" noChangeArrowheads="1"/>
          </p:cNvSpPr>
          <p:nvPr>
            <p:ph type="sldNum" sz="quarter" idx="12"/>
          </p:nvPr>
        </p:nvSpPr>
        <p:spPr/>
        <p:txBody>
          <a:bodyPr/>
          <a:lstStyle>
            <a:defPPr>
              <a:defRPr kern="1200"/>
            </a:defPPr>
            <a:lvl1pPr>
              <a:defRPr/>
            </a:lvl1pPr>
          </a:lstStyle>
          <a:p>
            <a:pPr>
              <a:defRPr/>
            </a:pPr>
            <a:fld id="{F9249905-9305-4041-8B60-8DE0824E8129}" type="slidenum">
              <a:rPr lang="en-US"/>
              <a:pPr>
                <a:defRPr/>
              </a:pPr>
              <a:t>‹#›</a:t>
            </a:fld>
            <a:endParaRPr lang="en-US"/>
          </a:p>
        </p:txBody>
      </p:sp>
    </p:spTree>
    <p:extLst>
      <p:ext uri="{BB962C8B-B14F-4D97-AF65-F5344CB8AC3E}">
        <p14:creationId xmlns:p14="http://schemas.microsoft.com/office/powerpoint/2010/main" val="832812194"/>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3"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4" name="Rectangle 6"/>
          <p:cNvSpPr>
            <a:spLocks noGrp="1" noChangeArrowheads="1"/>
          </p:cNvSpPr>
          <p:nvPr>
            <p:ph type="sldNum" sz="quarter" idx="12"/>
          </p:nvPr>
        </p:nvSpPr>
        <p:spPr/>
        <p:txBody>
          <a:bodyPr/>
          <a:lstStyle>
            <a:defPPr>
              <a:defRPr kern="1200"/>
            </a:defPPr>
            <a:lvl1pPr>
              <a:defRPr/>
            </a:lvl1pPr>
          </a:lstStyle>
          <a:p>
            <a:pPr>
              <a:defRPr/>
            </a:pPr>
            <a:fld id="{97C76933-D99D-4DC1-BD09-1072CC92B201}" type="slidenum">
              <a:rPr lang="en-US"/>
              <a:pPr>
                <a:defRPr/>
              </a:pPr>
              <a:t>‹#›</a:t>
            </a:fld>
            <a:endParaRPr lang="en-US"/>
          </a:p>
        </p:txBody>
      </p:sp>
    </p:spTree>
    <p:extLst>
      <p:ext uri="{BB962C8B-B14F-4D97-AF65-F5344CB8AC3E}">
        <p14:creationId xmlns:p14="http://schemas.microsoft.com/office/powerpoint/2010/main" val="754493674"/>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3925" y="1311275"/>
            <a:ext cx="14439900" cy="5576888"/>
          </a:xfrm>
        </p:spPr>
        <p:txBody>
          <a:bodyPr anchor="b"/>
          <a:lstStyle>
            <a:defPPr>
              <a:defRPr kern="1200"/>
            </a:defPPr>
            <a:lvl1pPr algn="l">
              <a:defRPr sz="2000" b="1"/>
            </a:lvl1pPr>
          </a:lstStyle>
          <a:p>
            <a:r>
              <a:rPr lang="en-US"/>
              <a:t>Click to edit Master title style</a:t>
            </a:r>
          </a:p>
        </p:txBody>
      </p:sp>
      <p:sp>
        <p:nvSpPr>
          <p:cNvPr id="3" name="Content Placeholder 2"/>
          <p:cNvSpPr>
            <a:spLocks noGrp="1"/>
          </p:cNvSpPr>
          <p:nvPr>
            <p:ph idx="1"/>
          </p:nvPr>
        </p:nvSpPr>
        <p:spPr>
          <a:xfrm>
            <a:off x="17160875" y="1311275"/>
            <a:ext cx="24536400" cy="28093988"/>
          </a:xfrm>
        </p:spPr>
        <p:txBody>
          <a:bodyPr/>
          <a:lstStyle>
            <a:defPPr>
              <a:defRPr kern="1200"/>
            </a:defPPr>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3925" y="6888163"/>
            <a:ext cx="14439900" cy="22517100"/>
          </a:xfrm>
        </p:spPr>
        <p:txBody>
          <a:bodyPr/>
          <a:lstStyle>
            <a:defPPr>
              <a:defRPr kern="1200"/>
            </a:defPPr>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EF6A5529-8465-4E7D-9DB8-D374C51CD792}" type="slidenum">
              <a:rPr lang="en-US"/>
              <a:pPr>
                <a:defRPr/>
              </a:pPr>
              <a:t>‹#›</a:t>
            </a:fld>
            <a:endParaRPr lang="en-US"/>
          </a:p>
        </p:txBody>
      </p:sp>
    </p:spTree>
    <p:extLst>
      <p:ext uri="{BB962C8B-B14F-4D97-AF65-F5344CB8AC3E}">
        <p14:creationId xmlns:p14="http://schemas.microsoft.com/office/powerpoint/2010/main" val="382911112"/>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663" y="23042562"/>
            <a:ext cx="26335038" cy="2720975"/>
          </a:xfrm>
        </p:spPr>
        <p:txBody>
          <a:bodyPr anchor="b"/>
          <a:lstStyle>
            <a:defPPr>
              <a:defRPr kern="1200"/>
            </a:defPPr>
            <a:lvl1pPr algn="l">
              <a:defRPr sz="2000" b="1"/>
            </a:lvl1pPr>
          </a:lstStyle>
          <a:p>
            <a:r>
              <a:rPr lang="en-US"/>
              <a:t>Click to edit Master title style</a:t>
            </a:r>
          </a:p>
        </p:txBody>
      </p:sp>
      <p:sp>
        <p:nvSpPr>
          <p:cNvPr id="3" name="Picture Placeholder 2"/>
          <p:cNvSpPr>
            <a:spLocks noGrp="1"/>
          </p:cNvSpPr>
          <p:nvPr>
            <p:ph type="pic" idx="1"/>
          </p:nvPr>
        </p:nvSpPr>
        <p:spPr>
          <a:xfrm>
            <a:off x="8602663" y="2941638"/>
            <a:ext cx="26335038" cy="19750088"/>
          </a:xfrm>
        </p:spPr>
        <p:txBody>
          <a:bodyPr/>
          <a:lstStyle>
            <a:defPPr>
              <a:defRPr kern="1200"/>
            </a:defPPr>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8602663" y="25763538"/>
            <a:ext cx="26335038" cy="3862387"/>
          </a:xfrm>
        </p:spPr>
        <p:txBody>
          <a:bodyPr/>
          <a:lstStyle>
            <a:defPPr>
              <a:defRPr kern="1200"/>
            </a:defPPr>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3C022C6C-C3BF-4CE1-8842-0AC597017372}" type="slidenum">
              <a:rPr lang="en-US"/>
              <a:pPr>
                <a:defRPr/>
              </a:pPr>
              <a:t>‹#›</a:t>
            </a:fld>
            <a:endParaRPr lang="en-US"/>
          </a:p>
        </p:txBody>
      </p:sp>
    </p:spTree>
    <p:extLst>
      <p:ext uri="{BB962C8B-B14F-4D97-AF65-F5344CB8AC3E}">
        <p14:creationId xmlns:p14="http://schemas.microsoft.com/office/powerpoint/2010/main" val="2601810504"/>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Vertical Text Placeholder 2"/>
          <p:cNvSpPr>
            <a:spLocks noGrp="1"/>
          </p:cNvSpPr>
          <p:nvPr>
            <p:ph type="body" orient="vert" idx="1"/>
          </p:nvPr>
        </p:nvSpPr>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8A277C51-0625-40F0-8A02-D153CC2D7029}" type="slidenum">
              <a:rPr lang="en-US"/>
              <a:pPr>
                <a:defRPr/>
              </a:pPr>
              <a:t>‹#›</a:t>
            </a:fld>
            <a:endParaRPr lang="en-US"/>
          </a:p>
        </p:txBody>
      </p:sp>
    </p:spTree>
    <p:extLst>
      <p:ext uri="{BB962C8B-B14F-4D97-AF65-F5344CB8AC3E}">
        <p14:creationId xmlns:p14="http://schemas.microsoft.com/office/powerpoint/2010/main" val="4242859031"/>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821438" y="1317625"/>
            <a:ext cx="9875837" cy="28087638"/>
          </a:xfrm>
        </p:spPr>
        <p:txBody>
          <a:bodyPr vert="eaVert"/>
          <a:lstStyle>
            <a:defPPr>
              <a:defRPr kern="1200"/>
            </a:defPPr>
          </a:lstStyle>
          <a:p>
            <a:r>
              <a:rPr lang="en-US"/>
              <a:t>Click to edit Master title style</a:t>
            </a:r>
          </a:p>
        </p:txBody>
      </p:sp>
      <p:sp>
        <p:nvSpPr>
          <p:cNvPr id="3" name="Vertical Text Placeholder 2"/>
          <p:cNvSpPr>
            <a:spLocks noGrp="1"/>
          </p:cNvSpPr>
          <p:nvPr>
            <p:ph type="body" orient="vert" idx="1"/>
          </p:nvPr>
        </p:nvSpPr>
        <p:spPr>
          <a:xfrm>
            <a:off x="2193925" y="1317625"/>
            <a:ext cx="29475112" cy="28087638"/>
          </a:xfrm>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6C9A1A37-7051-412A-8F35-8483CD8F48E7}" type="slidenum">
              <a:rPr lang="en-US"/>
              <a:pPr>
                <a:defRPr/>
              </a:pPr>
              <a:t>‹#›</a:t>
            </a:fld>
            <a:endParaRPr lang="en-US"/>
          </a:p>
        </p:txBody>
      </p:sp>
    </p:spTree>
    <p:extLst>
      <p:ext uri="{BB962C8B-B14F-4D97-AF65-F5344CB8AC3E}">
        <p14:creationId xmlns:p14="http://schemas.microsoft.com/office/powerpoint/2010/main" val="37091706"/>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193925" y="1317625"/>
            <a:ext cx="39503350" cy="5486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8" tIns="235129" rIns="470258" bIns="235129" anchor="ctr" anchorCtr="0" compatLnSpc="1">
            <a:prstTxWarp prst="textNoShape">
              <a:avLst/>
            </a:prstTxWarp>
          </a:bodyPr>
          <a:lstStyle>
            <a:defPPr>
              <a:defRPr kern="1200"/>
            </a:defPPr>
          </a:lstStyle>
          <a:p>
            <a:pPr lvl="0"/>
            <a:r>
              <a:rPr lang="en-US"/>
              <a:t>Click to edit Master title style</a:t>
            </a:r>
          </a:p>
        </p:txBody>
      </p:sp>
      <p:sp>
        <p:nvSpPr>
          <p:cNvPr id="1027" name="Rectangle 3"/>
          <p:cNvSpPr>
            <a:spLocks noGrp="1" noChangeArrowheads="1"/>
          </p:cNvSpPr>
          <p:nvPr>
            <p:ph type="body" idx="1"/>
          </p:nvPr>
        </p:nvSpPr>
        <p:spPr bwMode="auto">
          <a:xfrm>
            <a:off x="2193925" y="7680325"/>
            <a:ext cx="39503350" cy="217249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8" tIns="235129" rIns="470258" bIns="235129" anchor="t" anchorCtr="0" compatLnSpc="1">
            <a:prstTxWarp prst="textNoShape">
              <a:avLst/>
            </a:prstTxWarp>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2193925" y="29976762"/>
            <a:ext cx="10242550" cy="2286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8" tIns="235129" rIns="470258" bIns="235129" anchor="t" anchorCtr="0" compatLnSpc="1">
            <a:prstTxWarp prst="textNoShape">
              <a:avLst/>
            </a:prstTxWarp>
          </a:bodyPr>
          <a:lstStyle>
            <a:defPPr>
              <a:defRPr kern="1200"/>
            </a:defPPr>
            <a:lvl1pPr defTabSz="4702175">
              <a:defRPr sz="7200" smtClean="0">
                <a:latin typeface="Arial" pitchFamily="34" charset="0"/>
              </a:defRPr>
            </a:lvl1pPr>
          </a:lstStyle>
          <a:p>
            <a:pPr>
              <a:defRPr/>
            </a:pPr>
            <a:endParaRPr lang="en-US"/>
          </a:p>
        </p:txBody>
      </p:sp>
      <p:sp>
        <p:nvSpPr>
          <p:cNvPr id="1029" name="Rectangle 5"/>
          <p:cNvSpPr>
            <a:spLocks noGrp="1" noChangeArrowheads="1"/>
          </p:cNvSpPr>
          <p:nvPr>
            <p:ph type="ftr" sz="quarter" idx="3"/>
          </p:nvPr>
        </p:nvSpPr>
        <p:spPr bwMode="auto">
          <a:xfrm>
            <a:off x="14995525" y="29976762"/>
            <a:ext cx="13900150" cy="2286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8" tIns="235129" rIns="470258" bIns="235129" anchor="t" anchorCtr="0" compatLnSpc="1">
            <a:prstTxWarp prst="textNoShape">
              <a:avLst/>
            </a:prstTxWarp>
          </a:bodyPr>
          <a:lstStyle>
            <a:defPPr>
              <a:defRPr kern="1200"/>
            </a:defPPr>
            <a:lvl1pPr algn="ctr" defTabSz="4702175">
              <a:defRPr sz="7200" smtClean="0">
                <a:latin typeface="Arial" pitchFamily="34" charset="0"/>
              </a:defRPr>
            </a:lvl1pPr>
          </a:lstStyle>
          <a:p>
            <a:pPr>
              <a:defRPr/>
            </a:pPr>
            <a:endParaRPr lang="en-US"/>
          </a:p>
        </p:txBody>
      </p:sp>
      <p:sp>
        <p:nvSpPr>
          <p:cNvPr id="1030" name="Rectangle 6"/>
          <p:cNvSpPr>
            <a:spLocks noGrp="1" noChangeArrowheads="1"/>
          </p:cNvSpPr>
          <p:nvPr>
            <p:ph type="sldNum" sz="quarter" idx="4"/>
          </p:nvPr>
        </p:nvSpPr>
        <p:spPr bwMode="auto">
          <a:xfrm>
            <a:off x="31454725" y="29976762"/>
            <a:ext cx="10242550" cy="2286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8" tIns="235129" rIns="470258" bIns="235129" anchor="t" anchorCtr="0" compatLnSpc="1">
            <a:prstTxWarp prst="textNoShape">
              <a:avLst/>
            </a:prstTxWarp>
          </a:bodyPr>
          <a:lstStyle>
            <a:defPPr>
              <a:defRPr kern="1200"/>
            </a:defPPr>
            <a:lvl1pPr algn="r" defTabSz="4702175">
              <a:defRPr sz="7200" smtClean="0">
                <a:latin typeface="Arial" pitchFamily="34" charset="0"/>
              </a:defRPr>
            </a:lvl1pPr>
          </a:lstStyle>
          <a:p>
            <a:pPr>
              <a:defRPr/>
            </a:pPr>
            <a:fld id="{25043CB6-A91D-4176-912B-555F54C38C99}" type="slidenum">
              <a:rPr lang="en-US"/>
              <a:pPr>
                <a:defRPr/>
              </a:pPr>
              <a:t>‹#›</a:t>
            </a:fld>
            <a:endParaRPr lang="en-US"/>
          </a:p>
        </p:txBody>
      </p:sp>
      <p:pic>
        <p:nvPicPr>
          <p:cNvPr id="1031" name="New picture"/>
          <p:cNvPicPr/>
          <p:nvPr/>
        </p:nvPicPr>
        <p:blipFill>
          <a:blip r:embed="rId13"/>
          <a:stretch>
            <a:fillRect/>
          </a:stretch>
        </p:blipFill>
        <p:spPr>
          <a:xfrm rot="16200000">
            <a:off x="-11074400" y="16459200"/>
            <a:ext cx="14274800" cy="3937000"/>
          </a:xfrm>
          <a:prstGeom prst="rect">
            <a:avLst/>
          </a:prstGeom>
        </p:spPr>
      </p:pic>
      <p:pic>
        <p:nvPicPr>
          <p:cNvPr id="1032" name="New picture"/>
          <p:cNvPicPr/>
          <p:nvPr/>
        </p:nvPicPr>
        <p:blipFill>
          <a:blip r:embed="rId13"/>
          <a:stretch>
            <a:fillRect/>
          </a:stretch>
        </p:blipFill>
        <p:spPr>
          <a:xfrm rot="5400000">
            <a:off x="40690800" y="16459200"/>
            <a:ext cx="14274800" cy="3937000"/>
          </a:xfrm>
          <a:prstGeom prst="rect">
            <a:avLst/>
          </a:prstGeom>
        </p:spPr>
      </p:pic>
      <p:pic>
        <p:nvPicPr>
          <p:cNvPr id="1033" name="New picture"/>
          <p:cNvPicPr/>
          <p:nvPr/>
        </p:nvPicPr>
        <p:blipFill>
          <a:blip r:embed="rId14"/>
          <a:stretch>
            <a:fillRect/>
          </a:stretch>
        </p:blipFill>
        <p:spPr>
          <a:xfrm>
            <a:off x="6946900" y="33426400"/>
            <a:ext cx="29997400" cy="1447800"/>
          </a:xfrm>
          <a:prstGeom prst="rect">
            <a:avLst/>
          </a:prstGeom>
        </p:spPr>
      </p:pic>
      <p:sp>
        <p:nvSpPr>
          <p:cNvPr id="1034" name="New shape"/>
          <p:cNvSpPr/>
          <p:nvPr/>
        </p:nvSpPr>
        <p:spPr>
          <a:xfrm>
            <a:off x="6946900" y="33997900"/>
            <a:ext cx="21945600" cy="127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sz="4560">
                <a:solidFill>
                  <a:srgbClr val="808080"/>
                </a:solidFill>
              </a:rPr>
              <a:t>Template ID: conceptualizingcobalt  Size: 48x36</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txStyles>
    <p:titleStyle>
      <a:defPPr>
        <a:defRPr kern="1200"/>
      </a:defPPr>
      <a:lvl1pPr algn="ctr" defTabSz="4702175" rtl="0" eaLnBrk="0" fontAlgn="base" hangingPunct="0">
        <a:spcBef>
          <a:spcPct val="0"/>
        </a:spcBef>
        <a:spcAft>
          <a:spcPct val="0"/>
        </a:spcAft>
        <a:defRPr sz="22600">
          <a:solidFill>
            <a:schemeClr val="tx2"/>
          </a:solidFill>
          <a:latin typeface="+mj-lt"/>
          <a:ea typeface="+mj-ea"/>
          <a:cs typeface="+mj-cs"/>
        </a:defRPr>
      </a:lvl1pPr>
      <a:lvl2pPr algn="ctr" defTabSz="4702175" rtl="0" eaLnBrk="0" fontAlgn="base" hangingPunct="0">
        <a:spcBef>
          <a:spcPct val="0"/>
        </a:spcBef>
        <a:spcAft>
          <a:spcPct val="0"/>
        </a:spcAft>
        <a:defRPr sz="22600">
          <a:solidFill>
            <a:schemeClr val="tx2"/>
          </a:solidFill>
          <a:latin typeface="Arial" pitchFamily="34" charset="0"/>
        </a:defRPr>
      </a:lvl2pPr>
      <a:lvl3pPr algn="ctr" defTabSz="4702175" rtl="0" eaLnBrk="0" fontAlgn="base" hangingPunct="0">
        <a:spcBef>
          <a:spcPct val="0"/>
        </a:spcBef>
        <a:spcAft>
          <a:spcPct val="0"/>
        </a:spcAft>
        <a:defRPr sz="22600">
          <a:solidFill>
            <a:schemeClr val="tx2"/>
          </a:solidFill>
          <a:latin typeface="Arial" pitchFamily="34" charset="0"/>
        </a:defRPr>
      </a:lvl3pPr>
      <a:lvl4pPr algn="ctr" defTabSz="4702175" rtl="0" eaLnBrk="0" fontAlgn="base" hangingPunct="0">
        <a:spcBef>
          <a:spcPct val="0"/>
        </a:spcBef>
        <a:spcAft>
          <a:spcPct val="0"/>
        </a:spcAft>
        <a:defRPr sz="22600">
          <a:solidFill>
            <a:schemeClr val="tx2"/>
          </a:solidFill>
          <a:latin typeface="Arial" pitchFamily="34" charset="0"/>
        </a:defRPr>
      </a:lvl4pPr>
      <a:lvl5pPr algn="ctr" defTabSz="4702175" rtl="0" eaLnBrk="0" fontAlgn="base" hangingPunct="0">
        <a:spcBef>
          <a:spcPct val="0"/>
        </a:spcBef>
        <a:spcAft>
          <a:spcPct val="0"/>
        </a:spcAft>
        <a:defRPr sz="22600">
          <a:solidFill>
            <a:schemeClr val="tx2"/>
          </a:solidFill>
          <a:latin typeface="Arial" pitchFamily="34" charset="0"/>
        </a:defRPr>
      </a:lvl5pPr>
      <a:lvl6pPr marL="457200" algn="ctr" defTabSz="4702175" rtl="0" fontAlgn="base">
        <a:spcBef>
          <a:spcPct val="0"/>
        </a:spcBef>
        <a:spcAft>
          <a:spcPct val="0"/>
        </a:spcAft>
        <a:defRPr sz="22600">
          <a:solidFill>
            <a:schemeClr val="tx2"/>
          </a:solidFill>
          <a:latin typeface="Arial" pitchFamily="34" charset="0"/>
        </a:defRPr>
      </a:lvl6pPr>
      <a:lvl7pPr marL="914400" algn="ctr" defTabSz="4702175" rtl="0" fontAlgn="base">
        <a:spcBef>
          <a:spcPct val="0"/>
        </a:spcBef>
        <a:spcAft>
          <a:spcPct val="0"/>
        </a:spcAft>
        <a:defRPr sz="22600">
          <a:solidFill>
            <a:schemeClr val="tx2"/>
          </a:solidFill>
          <a:latin typeface="Arial" pitchFamily="34" charset="0"/>
        </a:defRPr>
      </a:lvl7pPr>
      <a:lvl8pPr marL="1371600" algn="ctr" defTabSz="4702175" rtl="0" fontAlgn="base">
        <a:spcBef>
          <a:spcPct val="0"/>
        </a:spcBef>
        <a:spcAft>
          <a:spcPct val="0"/>
        </a:spcAft>
        <a:defRPr sz="22600">
          <a:solidFill>
            <a:schemeClr val="tx2"/>
          </a:solidFill>
          <a:latin typeface="Arial" pitchFamily="34" charset="0"/>
        </a:defRPr>
      </a:lvl8pPr>
      <a:lvl9pPr marL="1828800" algn="ctr" defTabSz="4702175" rtl="0" fontAlgn="base">
        <a:spcBef>
          <a:spcPct val="0"/>
        </a:spcBef>
        <a:spcAft>
          <a:spcPct val="0"/>
        </a:spcAft>
        <a:defRPr sz="22600">
          <a:solidFill>
            <a:schemeClr val="tx2"/>
          </a:solidFill>
          <a:latin typeface="Arial" pitchFamily="34" charset="0"/>
        </a:defRPr>
      </a:lvl9pPr>
    </p:titleStyle>
    <p:bodyStyle>
      <a:defPPr>
        <a:defRPr kern="1200"/>
      </a:defPPr>
      <a:lvl1pPr marL="1763713" indent="-1763713" algn="l" defTabSz="4702175" rtl="0" eaLnBrk="0" fontAlgn="base" hangingPunct="0">
        <a:spcBef>
          <a:spcPct val="20000"/>
        </a:spcBef>
        <a:spcAft>
          <a:spcPct val="0"/>
        </a:spcAft>
        <a:buChar char="•"/>
        <a:defRPr sz="16500">
          <a:solidFill>
            <a:schemeClr val="tx1"/>
          </a:solidFill>
          <a:latin typeface="+mn-lt"/>
          <a:ea typeface="+mn-ea"/>
          <a:cs typeface="+mn-cs"/>
        </a:defRPr>
      </a:lvl1pPr>
      <a:lvl2pPr marL="3821113" indent="-1470025" algn="l" defTabSz="4702175" rtl="0" eaLnBrk="0" fontAlgn="base" hangingPunct="0">
        <a:spcBef>
          <a:spcPct val="20000"/>
        </a:spcBef>
        <a:spcAft>
          <a:spcPct val="0"/>
        </a:spcAft>
        <a:buChar char="–"/>
        <a:defRPr sz="14400">
          <a:solidFill>
            <a:schemeClr val="tx1"/>
          </a:solidFill>
          <a:latin typeface="+mn-lt"/>
        </a:defRPr>
      </a:lvl2pPr>
      <a:lvl3pPr marL="5878513" indent="-1176338" algn="l" defTabSz="4702175" rtl="0" eaLnBrk="0" fontAlgn="base" hangingPunct="0">
        <a:spcBef>
          <a:spcPct val="20000"/>
        </a:spcBef>
        <a:spcAft>
          <a:spcPct val="0"/>
        </a:spcAft>
        <a:buChar char="•"/>
        <a:defRPr sz="12300">
          <a:solidFill>
            <a:schemeClr val="tx1"/>
          </a:solidFill>
          <a:latin typeface="+mn-lt"/>
        </a:defRPr>
      </a:lvl3pPr>
      <a:lvl4pPr marL="8229600" indent="-1176338" algn="l" defTabSz="4702175" rtl="0" eaLnBrk="0" fontAlgn="base" hangingPunct="0">
        <a:spcBef>
          <a:spcPct val="20000"/>
        </a:spcBef>
        <a:spcAft>
          <a:spcPct val="0"/>
        </a:spcAft>
        <a:buChar char="–"/>
        <a:defRPr sz="10300">
          <a:solidFill>
            <a:schemeClr val="tx1"/>
          </a:solidFill>
          <a:latin typeface="+mn-lt"/>
        </a:defRPr>
      </a:lvl4pPr>
      <a:lvl5pPr marL="10580688" indent="-1174750" algn="l" defTabSz="4702175" rtl="0" eaLnBrk="0" fontAlgn="base" hangingPunct="0">
        <a:spcBef>
          <a:spcPct val="20000"/>
        </a:spcBef>
        <a:spcAft>
          <a:spcPct val="0"/>
        </a:spcAft>
        <a:buChar char="»"/>
        <a:defRPr sz="10300">
          <a:solidFill>
            <a:schemeClr val="tx1"/>
          </a:solidFill>
          <a:latin typeface="+mn-lt"/>
        </a:defRPr>
      </a:lvl5pPr>
      <a:lvl6pPr marL="11037888" indent="-1174750" algn="l" defTabSz="4702175" rtl="0" fontAlgn="base">
        <a:spcBef>
          <a:spcPct val="20000"/>
        </a:spcBef>
        <a:spcAft>
          <a:spcPct val="0"/>
        </a:spcAft>
        <a:buChar char="»"/>
        <a:defRPr sz="10300">
          <a:solidFill>
            <a:schemeClr val="tx1"/>
          </a:solidFill>
          <a:latin typeface="+mn-lt"/>
        </a:defRPr>
      </a:lvl6pPr>
      <a:lvl7pPr marL="11495088" indent="-1174750" algn="l" defTabSz="4702175" rtl="0" fontAlgn="base">
        <a:spcBef>
          <a:spcPct val="20000"/>
        </a:spcBef>
        <a:spcAft>
          <a:spcPct val="0"/>
        </a:spcAft>
        <a:buChar char="»"/>
        <a:defRPr sz="10300">
          <a:solidFill>
            <a:schemeClr val="tx1"/>
          </a:solidFill>
          <a:latin typeface="+mn-lt"/>
        </a:defRPr>
      </a:lvl7pPr>
      <a:lvl8pPr marL="11952288" indent="-1174750" algn="l" defTabSz="4702175" rtl="0" fontAlgn="base">
        <a:spcBef>
          <a:spcPct val="20000"/>
        </a:spcBef>
        <a:spcAft>
          <a:spcPct val="0"/>
        </a:spcAft>
        <a:buChar char="»"/>
        <a:defRPr sz="10300">
          <a:solidFill>
            <a:schemeClr val="tx1"/>
          </a:solidFill>
          <a:latin typeface="+mn-lt"/>
        </a:defRPr>
      </a:lvl8pPr>
      <a:lvl9pPr marL="12409488" indent="-1174750" algn="l" defTabSz="4702175" rtl="0" fontAlgn="base">
        <a:spcBef>
          <a:spcPct val="20000"/>
        </a:spcBef>
        <a:spcAft>
          <a:spcPct val="0"/>
        </a:spcAft>
        <a:buChar char="»"/>
        <a:defRPr sz="103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07/relationships/hdphoto" Target="../media/hdphoto1.wdp"/><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0">
          <a:gsLst>
            <a:gs pos="0">
              <a:srgbClr val="FFFFFF"/>
            </a:gs>
            <a:gs pos="100000">
              <a:srgbClr val="D1E0E5"/>
            </a:gs>
          </a:gsLst>
          <a:lin ang="5400000" scaled="1"/>
        </a:gradFill>
        <a:effectLst/>
      </p:bgPr>
    </p:bg>
    <p:spTree>
      <p:nvGrpSpPr>
        <p:cNvPr id="1" name=""/>
        <p:cNvGrpSpPr/>
        <p:nvPr/>
      </p:nvGrpSpPr>
      <p:grpSpPr>
        <a:xfrm>
          <a:off x="0" y="0"/>
          <a:ext cx="0" cy="0"/>
          <a:chOff x="0" y="0"/>
          <a:chExt cx="0" cy="0"/>
        </a:xfrm>
      </p:grpSpPr>
      <p:sp>
        <p:nvSpPr>
          <p:cNvPr id="32" name="Rectangle 27"/>
          <p:cNvSpPr>
            <a:spLocks noChangeArrowheads="1"/>
          </p:cNvSpPr>
          <p:nvPr/>
        </p:nvSpPr>
        <p:spPr bwMode="auto">
          <a:xfrm>
            <a:off x="-48494" y="0"/>
            <a:ext cx="43939693" cy="6533048"/>
          </a:xfrm>
          <a:prstGeom prst="rect">
            <a:avLst/>
          </a:prstGeom>
          <a:gradFill>
            <a:gsLst>
              <a:gs pos="5000">
                <a:srgbClr val="235078"/>
              </a:gs>
              <a:gs pos="100000">
                <a:srgbClr val="1482A5"/>
              </a:gs>
            </a:gsLst>
            <a:lin ang="0" scaled="1"/>
          </a:gradFill>
          <a:ln>
            <a:noFill/>
          </a:ln>
        </p:spPr>
        <p:txBody>
          <a:bodyPr wrap="none" anchor="ctr"/>
          <a:lstStyle>
            <a:defPPr>
              <a:defRPr kern="1200"/>
            </a:defPPr>
          </a:lstStyle>
          <a:p>
            <a:endParaRPr lang="en-US"/>
          </a:p>
        </p:txBody>
      </p:sp>
      <p:sp>
        <p:nvSpPr>
          <p:cNvPr id="33" name="Rectangle 29"/>
          <p:cNvSpPr>
            <a:spLocks noChangeArrowheads="1"/>
          </p:cNvSpPr>
          <p:nvPr/>
        </p:nvSpPr>
        <p:spPr bwMode="auto">
          <a:xfrm>
            <a:off x="-48492" y="31447268"/>
            <a:ext cx="43939693" cy="1471130"/>
          </a:xfrm>
          <a:prstGeom prst="rect">
            <a:avLst/>
          </a:prstGeom>
          <a:gradFill>
            <a:gsLst>
              <a:gs pos="5000">
                <a:srgbClr val="235078"/>
              </a:gs>
              <a:gs pos="100000">
                <a:srgbClr val="1482A5"/>
              </a:gs>
            </a:gsLst>
            <a:lin ang="0" scaled="1"/>
          </a:gradFill>
          <a:ln>
            <a:noFill/>
          </a:ln>
        </p:spPr>
        <p:txBody>
          <a:bodyPr lIns="137160" tIns="68580" rIns="137160" bIns="68580" anchor="ctr"/>
          <a:lstStyle>
            <a:defPPr>
              <a:defRPr kern="1200"/>
            </a:defPPr>
          </a:lstStyle>
          <a:p>
            <a:pPr defTabSz="4703763"/>
            <a:endParaRPr lang="en-US">
              <a:solidFill>
                <a:schemeClr val="bg1"/>
              </a:solidFill>
              <a:sym typeface="Symbol" pitchFamily="18" charset="2"/>
            </a:endParaRPr>
          </a:p>
        </p:txBody>
      </p:sp>
      <p:sp>
        <p:nvSpPr>
          <p:cNvPr id="31" name="Title 11">
            <a:extLst>
              <a:ext uri="{FF2B5EF4-FFF2-40B4-BE49-F238E27FC236}">
                <a16:creationId xmlns:a16="http://schemas.microsoft.com/office/drawing/2014/main" id="{A3F6428D-1FA6-42BA-BAEA-3577E1620F6B}"/>
              </a:ext>
            </a:extLst>
          </p:cNvPr>
          <p:cNvSpPr txBox="1"/>
          <p:nvPr/>
        </p:nvSpPr>
        <p:spPr>
          <a:xfrm>
            <a:off x="1005840" y="792385"/>
            <a:ext cx="41148000" cy="2746935"/>
          </a:xfrm>
          <a:prstGeom prst="rect">
            <a:avLst/>
          </a:prstGeom>
        </p:spPr>
        <p:txBody>
          <a:bodyPr lIns="128016" tIns="64008" rIns="128016" bIns="64008"/>
          <a:lstStyle>
            <a:defPPr>
              <a:defRPr kern="1200"/>
            </a:defPPr>
            <a:lvl1pPr algn="ctr" defTabSz="4389028" rtl="0" eaLnBrk="1" latinLnBrk="0" hangingPunct="1">
              <a:spcBef>
                <a:spcPct val="0"/>
              </a:spcBef>
              <a:buNone/>
              <a:defRPr sz="13400" kern="1200">
                <a:solidFill>
                  <a:schemeClr val="tx1"/>
                </a:solidFill>
                <a:latin typeface="+mj-lt"/>
                <a:ea typeface="+mj-ea"/>
                <a:cs typeface="+mj-cs"/>
              </a:defRPr>
            </a:lvl1pPr>
          </a:lstStyle>
          <a:p>
            <a:pPr algn="l"/>
            <a:r>
              <a:rPr lang="en-US" sz="8500" dirty="0">
                <a:solidFill>
                  <a:schemeClr val="bg1"/>
                </a:solidFill>
                <a:latin typeface="Amaranth" panose="02000503050000020004" pitchFamily="2" charset="0"/>
              </a:rPr>
              <a:t>Knowledge Graphs for Solar Energy News Analysis</a:t>
            </a:r>
          </a:p>
        </p:txBody>
      </p:sp>
      <p:sp>
        <p:nvSpPr>
          <p:cNvPr id="35" name="Text Placeholder 16">
            <a:extLst>
              <a:ext uri="{FF2B5EF4-FFF2-40B4-BE49-F238E27FC236}">
                <a16:creationId xmlns:a16="http://schemas.microsoft.com/office/drawing/2014/main" id="{30C08963-BE29-4B96-B122-F15F02A3F7E3}"/>
              </a:ext>
            </a:extLst>
          </p:cNvPr>
          <p:cNvSpPr txBox="1"/>
          <p:nvPr/>
        </p:nvSpPr>
        <p:spPr>
          <a:xfrm>
            <a:off x="1005840" y="3778048"/>
            <a:ext cx="41148000" cy="2025170"/>
          </a:xfrm>
          <a:prstGeom prst="rect">
            <a:avLst/>
          </a:prstGeom>
        </p:spPr>
        <p:txBody>
          <a:bodyPr lIns="128016" tIns="64008" rIns="128016" bIns="64008">
            <a:spAutoFit/>
          </a:bodyPr>
          <a:lstStyle>
            <a:defPPr>
              <a:defRPr kern="1200"/>
            </a:defPPr>
            <a:lvl1pPr marL="0" indent="0" algn="l" defTabSz="4389028" rtl="0" eaLnBrk="1" latinLnBrk="0" hangingPunct="1">
              <a:spcBef>
                <a:spcPct val="20000"/>
              </a:spcBef>
              <a:buFont typeface="Arial" pitchFamily="34" charset="0"/>
              <a:buNone/>
              <a:defRPr sz="13400" kern="1200" baseline="0">
                <a:solidFill>
                  <a:schemeClr val="tx1"/>
                </a:solidFill>
                <a:latin typeface="+mn-lt"/>
                <a:ea typeface="+mn-ea"/>
                <a:cs typeface="+mn-cs"/>
              </a:defRPr>
            </a:lvl1pPr>
            <a:lvl2pPr marL="3566086" indent="-1371572" algn="l" defTabSz="4389028" rtl="0" eaLnBrk="1" latinLnBrk="0" hangingPunct="1">
              <a:spcBef>
                <a:spcPct val="20000"/>
              </a:spcBef>
              <a:buFont typeface="Arial" pitchFamily="34" charset="0"/>
              <a:buChar char="–"/>
              <a:defRPr sz="13400" kern="1200">
                <a:solidFill>
                  <a:schemeClr val="tx1"/>
                </a:solidFill>
                <a:latin typeface="+mn-lt"/>
                <a:ea typeface="+mn-ea"/>
                <a:cs typeface="+mn-cs"/>
              </a:defRPr>
            </a:lvl2pPr>
            <a:lvl3pPr marL="5486286" indent="-1097257" algn="l" defTabSz="4389028" rtl="0" eaLnBrk="1" latinLnBrk="0" hangingPunct="1">
              <a:spcBef>
                <a:spcPct val="20000"/>
              </a:spcBef>
              <a:buFont typeface="Arial" pitchFamily="34" charset="0"/>
              <a:buChar char="•"/>
              <a:defRPr sz="11500" kern="1200">
                <a:solidFill>
                  <a:schemeClr val="tx1"/>
                </a:solidFill>
                <a:latin typeface="+mn-lt"/>
                <a:ea typeface="+mn-ea"/>
                <a:cs typeface="+mn-cs"/>
              </a:defRPr>
            </a:lvl3pPr>
            <a:lvl4pPr marL="7680800"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4pPr>
            <a:lvl5pPr marL="9875314"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5pPr>
            <a:lvl6pPr marL="12069828"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6pPr>
            <a:lvl7pPr marL="14264342"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7pPr>
            <a:lvl8pPr marL="16458857"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8pPr>
            <a:lvl9pPr marL="18653371"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9pPr>
          </a:lstStyle>
          <a:p>
            <a:r>
              <a:rPr lang="en-US" sz="5600" dirty="0">
                <a:solidFill>
                  <a:schemeClr val="bg1"/>
                </a:solidFill>
                <a:latin typeface="Titillium Web" panose="00000500000000000000" pitchFamily="2" charset="0"/>
              </a:rPr>
              <a:t>Rachel Kan, Chris Dunham</a:t>
            </a:r>
          </a:p>
          <a:p>
            <a:r>
              <a:rPr lang="en-US" sz="5600" dirty="0">
                <a:solidFill>
                  <a:schemeClr val="bg1"/>
                </a:solidFill>
                <a:latin typeface="Titillium Web" panose="00000500000000000000" pitchFamily="2" charset="0"/>
              </a:rPr>
              <a:t>Cornell University, Syracuse University</a:t>
            </a:r>
          </a:p>
        </p:txBody>
      </p:sp>
      <p:sp>
        <p:nvSpPr>
          <p:cNvPr id="36" name="Rectangle 5">
            <a:extLst>
              <a:ext uri="{FF2B5EF4-FFF2-40B4-BE49-F238E27FC236}">
                <a16:creationId xmlns:a16="http://schemas.microsoft.com/office/drawing/2014/main" id="{98FCC399-CA5D-4873-B45E-22BAE0F51D2E}"/>
              </a:ext>
            </a:extLst>
          </p:cNvPr>
          <p:cNvSpPr>
            <a:spLocks noChangeArrowheads="1"/>
          </p:cNvSpPr>
          <p:nvPr/>
        </p:nvSpPr>
        <p:spPr bwMode="auto">
          <a:xfrm>
            <a:off x="11521440" y="7125252"/>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Methodology</a:t>
            </a:r>
          </a:p>
        </p:txBody>
      </p:sp>
      <p:sp>
        <p:nvSpPr>
          <p:cNvPr id="37" name="Text Box 6">
            <a:extLst>
              <a:ext uri="{FF2B5EF4-FFF2-40B4-BE49-F238E27FC236}">
                <a16:creationId xmlns:a16="http://schemas.microsoft.com/office/drawing/2014/main" id="{BAB40251-2E35-4623-A6BE-28130F737F03}"/>
              </a:ext>
            </a:extLst>
          </p:cNvPr>
          <p:cNvSpPr txBox="1">
            <a:spLocks noChangeArrowheads="1"/>
          </p:cNvSpPr>
          <p:nvPr/>
        </p:nvSpPr>
        <p:spPr bwMode="auto">
          <a:xfrm>
            <a:off x="731518" y="16513725"/>
            <a:ext cx="10058400" cy="3508653"/>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r>
              <a:rPr lang="en-US" sz="2400" dirty="0">
                <a:latin typeface="Titillium Web" panose="00000500000000000000" pitchFamily="2" charset="0"/>
                <a:ea typeface="Open Sans" panose="020B0606030504020204" pitchFamily="34" charset="0"/>
                <a:cs typeface="Open Sans" panose="020B0606030504020204" pitchFamily="34" charset="0"/>
              </a:rPr>
              <a:t>Data Collection</a:t>
            </a:r>
          </a:p>
          <a:p>
            <a:endParaRPr lang="en-US" sz="2400" dirty="0">
              <a:latin typeface="Titillium Web" panose="00000500000000000000" pitchFamily="2" charset="0"/>
              <a:ea typeface="Open Sans" panose="020B0606030504020204" pitchFamily="34" charset="0"/>
              <a:cs typeface="Open Sans" panose="020B0606030504020204" pitchFamily="34" charset="0"/>
            </a:endParaRPr>
          </a:p>
          <a:p>
            <a:r>
              <a:rPr lang="en-US" sz="2400" dirty="0">
                <a:latin typeface="Titillium Web" panose="00000500000000000000" pitchFamily="2" charset="0"/>
                <a:ea typeface="Open Sans" panose="020B0606030504020204" pitchFamily="34" charset="0"/>
                <a:cs typeface="Open Sans" panose="020B0606030504020204" pitchFamily="34" charset="0"/>
              </a:rPr>
              <a:t>Cornell Newsroom articles were screened for solar energy content using domain-specific keywords. Candidate keywords were identified by extracting frequent bigrams containing solar from article summaries and supplementing them with additional terms from the solar energy literature (e.g., “photovoltaic cell”). Articles containing at least one keyword were scraped for full-text analysis.</a:t>
            </a:r>
          </a:p>
        </p:txBody>
      </p:sp>
      <p:sp>
        <p:nvSpPr>
          <p:cNvPr id="38" name="Rectangle 5">
            <a:extLst>
              <a:ext uri="{FF2B5EF4-FFF2-40B4-BE49-F238E27FC236}">
                <a16:creationId xmlns:a16="http://schemas.microsoft.com/office/drawing/2014/main" id="{991B9DF0-7DD4-4C17-94B6-6C493D1C390D}"/>
              </a:ext>
            </a:extLst>
          </p:cNvPr>
          <p:cNvSpPr>
            <a:spLocks noChangeArrowheads="1"/>
          </p:cNvSpPr>
          <p:nvPr/>
        </p:nvSpPr>
        <p:spPr bwMode="auto">
          <a:xfrm>
            <a:off x="22311361" y="7125252"/>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a:solidFill>
                  <a:schemeClr val="bg1"/>
                </a:solidFill>
                <a:latin typeface="Amaranth" panose="02000503050000020004" pitchFamily="2" charset="0"/>
              </a:rPr>
              <a:t>Results</a:t>
            </a:r>
          </a:p>
        </p:txBody>
      </p:sp>
      <p:sp>
        <p:nvSpPr>
          <p:cNvPr id="39" name="Text Box 6">
            <a:extLst>
              <a:ext uri="{FF2B5EF4-FFF2-40B4-BE49-F238E27FC236}">
                <a16:creationId xmlns:a16="http://schemas.microsoft.com/office/drawing/2014/main" id="{62D65E41-7BC1-4B4D-9C1B-6ED3152D12D0}"/>
              </a:ext>
            </a:extLst>
          </p:cNvPr>
          <p:cNvSpPr txBox="1">
            <a:spLocks noChangeArrowheads="1"/>
          </p:cNvSpPr>
          <p:nvPr/>
        </p:nvSpPr>
        <p:spPr bwMode="auto">
          <a:xfrm>
            <a:off x="22311361" y="8196127"/>
            <a:ext cx="10058400" cy="10525958"/>
          </a:xfrm>
          <a:prstGeom prst="rect">
            <a:avLst/>
          </a:prstGeom>
          <a:solidFill>
            <a:srgbClr val="B4D3E2"/>
          </a:solidFill>
          <a:ln>
            <a:noFill/>
          </a:ln>
          <a:effectLst>
            <a:softEdge rad="0"/>
          </a:effectLst>
        </p:spPr>
        <p:txBody>
          <a:bodyPr lIns="274320" tIns="274320" rIns="274320" bIns="274320">
            <a:spAutoFit/>
          </a:bodyPr>
          <a:lstStyle>
            <a:defPPr>
              <a:defRPr lang="en-US" kern="1200"/>
            </a:defPPr>
            <a:lvl1pPr defTabSz="4703763" eaLnBrk="0" hangingPunct="0">
              <a:defRPr sz="2400">
                <a:latin typeface="Titillium Web" panose="00000500000000000000" pitchFamily="2" charset="0"/>
                <a:ea typeface="Open Sans" panose="020B0606030504020204" pitchFamily="34" charset="0"/>
                <a:cs typeface="Open Sans" panose="020B0606030504020204" pitchFamily="34" charset="0"/>
              </a:defRPr>
            </a:lvl1pPr>
            <a:lvl2pPr marL="742950" indent="-285750" defTabSz="4703763" eaLnBrk="0" hangingPunct="0"/>
            <a:lvl3pPr marL="1143000" indent="-228600" defTabSz="4703763" eaLnBrk="0" hangingPunct="0"/>
            <a:lvl4pPr marL="1600200" indent="-228600" defTabSz="4703763" eaLnBrk="0" hangingPunct="0"/>
            <a:lvl5pPr marL="2057400" indent="-228600" defTabSz="4703763" eaLnBrk="0" hangingPunct="0"/>
            <a:lvl6pPr marL="2514600" indent="-228600" defTabSz="4703763" eaLnBrk="0" fontAlgn="base" hangingPunct="0">
              <a:spcBef>
                <a:spcPct val="0"/>
              </a:spcBef>
              <a:spcAft>
                <a:spcPct val="0"/>
              </a:spcAft>
            </a:lvl6pPr>
            <a:lvl7pPr marL="2971800" indent="-228600" defTabSz="4703763" eaLnBrk="0" fontAlgn="base" hangingPunct="0">
              <a:spcBef>
                <a:spcPct val="0"/>
              </a:spcBef>
              <a:spcAft>
                <a:spcPct val="0"/>
              </a:spcAft>
            </a:lvl7pPr>
            <a:lvl8pPr marL="3429000" indent="-228600" defTabSz="4703763" eaLnBrk="0" fontAlgn="base" hangingPunct="0">
              <a:spcBef>
                <a:spcPct val="0"/>
              </a:spcBef>
              <a:spcAft>
                <a:spcPct val="0"/>
              </a:spcAft>
            </a:lvl8pPr>
            <a:lvl9pPr marL="3886200" indent="-228600" defTabSz="4703763" eaLnBrk="0" fontAlgn="base" hangingPunct="0">
              <a:spcBef>
                <a:spcPct val="0"/>
              </a:spcBef>
              <a:spcAft>
                <a:spcPct val="0"/>
              </a:spcAft>
            </a:lvl9pPr>
          </a:lstStyle>
          <a:p>
            <a:pPr marL="342900" indent="-342900">
              <a:buFont typeface="Arial" panose="020B0604020202020204" pitchFamily="34" charset="0"/>
              <a:buChar char="•"/>
            </a:pPr>
            <a:r>
              <a:rPr lang="en-US" dirty="0"/>
              <a:t>The filtering pipeline reduced the original dataset from 5,374 to 1,985 highly relevant solar energy articles, improving extraction quality while reducing computational cost.</a:t>
            </a:r>
          </a:p>
          <a:p>
            <a:pPr marL="342900" indent="-342900">
              <a:buFont typeface="Arial" panose="020B0604020202020204" pitchFamily="34" charset="0"/>
              <a:buChar char="•"/>
            </a:pPr>
            <a:r>
              <a:rPr lang="en-US" dirty="0"/>
              <a:t>The LLM successfully transformed unstructured news articles into a structured knowledge graph containing entities and their relationships across technologies, organizations, policies, countries, and research initiatives.</a:t>
            </a:r>
          </a:p>
          <a:p>
            <a:pPr marL="342900" indent="-342900">
              <a:buFont typeface="Arial" panose="020B0604020202020204" pitchFamily="34" charset="0"/>
              <a:buChar char="•"/>
            </a:pPr>
            <a:r>
              <a:rPr lang="en-US" dirty="0"/>
              <a:t>Initial graphs were highly connected and noisy. Graph cleaning and entity deduplication produced a more interpretable network that highlighted the most influential entities and relationships.</a:t>
            </a:r>
          </a:p>
          <a:p>
            <a:pPr marL="342900" indent="-342900">
              <a:buFont typeface="Arial" panose="020B0604020202020204" pitchFamily="34" charset="0"/>
              <a:buChar char="•"/>
            </a:pPr>
            <a:r>
              <a:rPr lang="en-US" dirty="0"/>
              <a:t>Community detection revealed that clusters formed primarily around geographic regions and areas of focus, including technology development, policy, manufacturing, and international collaborations.</a:t>
            </a:r>
          </a:p>
          <a:p>
            <a:pPr marL="342900" indent="-342900">
              <a:buFont typeface="Arial" panose="020B0604020202020204" pitchFamily="34" charset="0"/>
              <a:buChar char="•"/>
            </a:pPr>
            <a:r>
              <a:rPr lang="en-US" dirty="0"/>
              <a:t>The community graph showed that most communities were not directly connected. Instead, information flowed through a small number of highly central communities that linked otherwise separate regions of the network.</a:t>
            </a:r>
          </a:p>
          <a:p>
            <a:pPr marL="342900" indent="-342900">
              <a:buFont typeface="Arial" panose="020B0604020202020204" pitchFamily="34" charset="0"/>
              <a:buChar char="•"/>
            </a:pPr>
            <a:r>
              <a:rPr lang="en-US" dirty="0"/>
              <a:t>Prominent communities represented:</a:t>
            </a:r>
          </a:p>
          <a:p>
            <a:pPr marL="1085850" lvl="1" indent="-342900">
              <a:buFont typeface="Arial" panose="020B0604020202020204" pitchFamily="34" charset="0"/>
              <a:buChar char="•"/>
            </a:pPr>
            <a:r>
              <a:rPr lang="en-US" sz="2400" dirty="0">
                <a:latin typeface="Titillium Web" panose="00000500000000000000" pitchFamily="2" charset="0"/>
                <a:ea typeface="Open Sans" panose="020B0606030504020204" pitchFamily="34" charset="0"/>
                <a:cs typeface="Open Sans" panose="020B0606030504020204" pitchFamily="34" charset="0"/>
              </a:rPr>
              <a:t>American residential solar markets</a:t>
            </a:r>
          </a:p>
          <a:p>
            <a:pPr marL="1085850" lvl="1" indent="-342900">
              <a:buFont typeface="Arial" panose="020B0604020202020204" pitchFamily="34" charset="0"/>
              <a:buChar char="•"/>
            </a:pPr>
            <a:r>
              <a:rPr lang="en-US" sz="2400" dirty="0">
                <a:latin typeface="Titillium Web" panose="00000500000000000000" pitchFamily="2" charset="0"/>
                <a:ea typeface="Open Sans" panose="020B0606030504020204" pitchFamily="34" charset="0"/>
                <a:cs typeface="Open Sans" panose="020B0606030504020204" pitchFamily="34" charset="0"/>
              </a:rPr>
              <a:t>U.S.–China manufacturing and trade</a:t>
            </a:r>
          </a:p>
          <a:p>
            <a:pPr marL="1085850" lvl="1" indent="-342900">
              <a:buFont typeface="Arial" panose="020B0604020202020204" pitchFamily="34" charset="0"/>
              <a:buChar char="•"/>
            </a:pPr>
            <a:r>
              <a:rPr lang="en-US" sz="2400" dirty="0">
                <a:latin typeface="Titillium Web" panose="00000500000000000000" pitchFamily="2" charset="0"/>
                <a:ea typeface="Open Sans" panose="020B0606030504020204" pitchFamily="34" charset="0"/>
                <a:cs typeface="Open Sans" panose="020B0606030504020204" pitchFamily="34" charset="0"/>
              </a:rPr>
              <a:t>U.S. solar policy</a:t>
            </a:r>
          </a:p>
          <a:p>
            <a:pPr marL="1085850" lvl="1" indent="-342900">
              <a:buFont typeface="Arial" panose="020B0604020202020204" pitchFamily="34" charset="0"/>
              <a:buChar char="•"/>
            </a:pPr>
            <a:r>
              <a:rPr lang="en-US" sz="2400" dirty="0">
                <a:latin typeface="Titillium Web" panose="00000500000000000000" pitchFamily="2" charset="0"/>
                <a:ea typeface="Open Sans" panose="020B0606030504020204" pitchFamily="34" charset="0"/>
                <a:cs typeface="Open Sans" panose="020B0606030504020204" pitchFamily="34" charset="0"/>
              </a:rPr>
              <a:t>International solar technologies and cross-border projects</a:t>
            </a:r>
          </a:p>
          <a:p>
            <a:pPr marL="1085850" lvl="1" indent="-342900">
              <a:buFont typeface="Arial" panose="020B0604020202020204" pitchFamily="34" charset="0"/>
              <a:buChar char="•"/>
            </a:pPr>
            <a:r>
              <a:rPr lang="en-US" sz="2400" dirty="0">
                <a:latin typeface="Titillium Web" panose="00000500000000000000" pitchFamily="2" charset="0"/>
                <a:ea typeface="Open Sans" panose="020B0606030504020204" pitchFamily="34" charset="0"/>
                <a:cs typeface="Open Sans" panose="020B0606030504020204" pitchFamily="34" charset="0"/>
              </a:rPr>
              <a:t>International organizations promoting solar energy</a:t>
            </a:r>
          </a:p>
          <a:p>
            <a:pPr marL="342900" indent="-342900">
              <a:buFont typeface="Arial" panose="020B0604020202020204" pitchFamily="34" charset="0"/>
              <a:buChar char="•"/>
            </a:pPr>
            <a:r>
              <a:rPr lang="en-US" dirty="0"/>
              <a:t>These results demonstrate that LLM-based information extraction combined with network analysis can efficiently convert large collections of news articles into interpretable knowledge graphs for studying global solar energy ecosystems.</a:t>
            </a:r>
          </a:p>
        </p:txBody>
      </p:sp>
      <p:sp>
        <p:nvSpPr>
          <p:cNvPr id="42" name="Rectangle 5">
            <a:extLst>
              <a:ext uri="{FF2B5EF4-FFF2-40B4-BE49-F238E27FC236}">
                <a16:creationId xmlns:a16="http://schemas.microsoft.com/office/drawing/2014/main" id="{C08CCD14-6632-49E3-A19B-81E98D465D46}"/>
              </a:ext>
            </a:extLst>
          </p:cNvPr>
          <p:cNvSpPr>
            <a:spLocks noChangeArrowheads="1"/>
          </p:cNvSpPr>
          <p:nvPr/>
        </p:nvSpPr>
        <p:spPr bwMode="auto">
          <a:xfrm>
            <a:off x="33101279" y="7125252"/>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Future Work</a:t>
            </a:r>
          </a:p>
        </p:txBody>
      </p:sp>
      <p:sp>
        <p:nvSpPr>
          <p:cNvPr id="46" name="Rectangle 5">
            <a:extLst>
              <a:ext uri="{FF2B5EF4-FFF2-40B4-BE49-F238E27FC236}">
                <a16:creationId xmlns:a16="http://schemas.microsoft.com/office/drawing/2014/main" id="{88D57C6D-9B7C-4799-9EEF-AD493DF30EC4}"/>
              </a:ext>
            </a:extLst>
          </p:cNvPr>
          <p:cNvSpPr>
            <a:spLocks noChangeArrowheads="1"/>
          </p:cNvSpPr>
          <p:nvPr/>
        </p:nvSpPr>
        <p:spPr bwMode="auto">
          <a:xfrm>
            <a:off x="33097620" y="27077111"/>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a:solidFill>
                  <a:schemeClr val="bg1"/>
                </a:solidFill>
                <a:latin typeface="Amaranth" panose="02000503050000020004" pitchFamily="2" charset="0"/>
              </a:rPr>
              <a:t>Acknowledgements</a:t>
            </a:r>
          </a:p>
        </p:txBody>
      </p:sp>
      <p:sp>
        <p:nvSpPr>
          <p:cNvPr id="16" name="Rectangle 5">
            <a:extLst>
              <a:ext uri="{FF2B5EF4-FFF2-40B4-BE49-F238E27FC236}">
                <a16:creationId xmlns:a16="http://schemas.microsoft.com/office/drawing/2014/main" id="{620C51D2-3423-4C6C-A077-34B27F321D2D}"/>
              </a:ext>
            </a:extLst>
          </p:cNvPr>
          <p:cNvSpPr>
            <a:spLocks noChangeArrowheads="1"/>
          </p:cNvSpPr>
          <p:nvPr/>
        </p:nvSpPr>
        <p:spPr bwMode="auto">
          <a:xfrm>
            <a:off x="731521" y="7125059"/>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Introduction</a:t>
            </a:r>
          </a:p>
        </p:txBody>
      </p:sp>
      <p:sp>
        <p:nvSpPr>
          <p:cNvPr id="17" name="Text Box 6">
            <a:extLst>
              <a:ext uri="{FF2B5EF4-FFF2-40B4-BE49-F238E27FC236}">
                <a16:creationId xmlns:a16="http://schemas.microsoft.com/office/drawing/2014/main" id="{8AE8A03B-3762-4AF2-A9FC-B088E0736F3A}"/>
              </a:ext>
            </a:extLst>
          </p:cNvPr>
          <p:cNvSpPr txBox="1">
            <a:spLocks noChangeArrowheads="1"/>
          </p:cNvSpPr>
          <p:nvPr/>
        </p:nvSpPr>
        <p:spPr bwMode="auto">
          <a:xfrm>
            <a:off x="731521" y="8000040"/>
            <a:ext cx="10058400" cy="92333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r>
              <a:rPr lang="en-US" sz="2400" dirty="0">
                <a:latin typeface="Titillium Web" panose="00000500000000000000" pitchFamily="2" charset="0"/>
                <a:ea typeface="Open Sans" panose="020B0606030504020204" pitchFamily="34" charset="0"/>
                <a:cs typeface="Open Sans" panose="020B0606030504020204" pitchFamily="34" charset="0"/>
              </a:rPr>
              <a:t>Add your information, graphs, and images to this section.</a:t>
            </a:r>
          </a:p>
        </p:txBody>
      </p:sp>
      <p:sp>
        <p:nvSpPr>
          <p:cNvPr id="287" name="TextBox 286">
            <a:extLst>
              <a:ext uri="{FF2B5EF4-FFF2-40B4-BE49-F238E27FC236}">
                <a16:creationId xmlns:a16="http://schemas.microsoft.com/office/drawing/2014/main" id="{2C6E9F3E-3183-4639-8BD4-4D30DDD1A58D}"/>
              </a:ext>
            </a:extLst>
          </p:cNvPr>
          <p:cNvSpPr txBox="1"/>
          <p:nvPr/>
        </p:nvSpPr>
        <p:spPr>
          <a:xfrm>
            <a:off x="33097620" y="28117418"/>
            <a:ext cx="9857035" cy="1661993"/>
          </a:xfrm>
          <a:prstGeom prst="rect">
            <a:avLst/>
          </a:prstGeom>
          <a:noFill/>
        </p:spPr>
        <p:txBody>
          <a:bodyPr wrap="square" lIns="274320" tIns="274320" rIns="274320" bIns="274320" rtlCol="0">
            <a:spAutoFit/>
          </a:bodyPr>
          <a:lstStyle>
            <a:defPPr>
              <a:defRPr kern="1200"/>
            </a:defPPr>
          </a:lstStyle>
          <a:p>
            <a:r>
              <a:rPr lang="en-US" sz="2400" dirty="0">
                <a:latin typeface="Titillium Web" panose="00000500000000000000" pitchFamily="2" charset="0"/>
                <a:ea typeface="Open Sans" panose="020B0606030504020204" pitchFamily="34" charset="0"/>
                <a:cs typeface="Open Sans" panose="020B0606030504020204" pitchFamily="34" charset="0"/>
              </a:rPr>
              <a:t>Special thanks to Prof. Chris Dunham for his support throughout the project. Additional credit to the Cornell Newsroom project for providing access to the underlying dataset.</a:t>
            </a:r>
          </a:p>
        </p:txBody>
      </p:sp>
      <p:pic>
        <p:nvPicPr>
          <p:cNvPr id="4" name="Picture 3">
            <a:extLst>
              <a:ext uri="{FF2B5EF4-FFF2-40B4-BE49-F238E27FC236}">
                <a16:creationId xmlns:a16="http://schemas.microsoft.com/office/drawing/2014/main" id="{68CF27D8-B844-AC83-86F1-AF9AA231413E}"/>
              </a:ext>
            </a:extLst>
          </p:cNvPr>
          <p:cNvPicPr>
            <a:picLocks noChangeAspect="1"/>
          </p:cNvPicPr>
          <p:nvPr/>
        </p:nvPicPr>
        <p:blipFill>
          <a:blip r:embed="rId2"/>
          <a:srcRect l="6513" t="8096" r="5492" b="6232"/>
          <a:stretch>
            <a:fillRect/>
          </a:stretch>
        </p:blipFill>
        <p:spPr>
          <a:xfrm>
            <a:off x="12454312" y="11846448"/>
            <a:ext cx="8192656" cy="7976335"/>
          </a:xfrm>
          <a:prstGeom prst="rect">
            <a:avLst/>
          </a:prstGeom>
        </p:spPr>
      </p:pic>
      <p:sp>
        <p:nvSpPr>
          <p:cNvPr id="12" name="Rectangle 5">
            <a:extLst>
              <a:ext uri="{FF2B5EF4-FFF2-40B4-BE49-F238E27FC236}">
                <a16:creationId xmlns:a16="http://schemas.microsoft.com/office/drawing/2014/main" id="{114A7476-6864-8128-A04C-407D201C8BD4}"/>
              </a:ext>
            </a:extLst>
          </p:cNvPr>
          <p:cNvSpPr>
            <a:spLocks noChangeArrowheads="1"/>
          </p:cNvSpPr>
          <p:nvPr/>
        </p:nvSpPr>
        <p:spPr bwMode="auto">
          <a:xfrm>
            <a:off x="33097620" y="21396168"/>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Resources and Contact Information</a:t>
            </a:r>
          </a:p>
        </p:txBody>
      </p:sp>
      <p:sp>
        <p:nvSpPr>
          <p:cNvPr id="13" name="Rectangle 12">
            <a:extLst>
              <a:ext uri="{FF2B5EF4-FFF2-40B4-BE49-F238E27FC236}">
                <a16:creationId xmlns:a16="http://schemas.microsoft.com/office/drawing/2014/main" id="{E9835FDE-A306-B85D-791B-8C956ADB42BB}"/>
              </a:ext>
            </a:extLst>
          </p:cNvPr>
          <p:cNvSpPr/>
          <p:nvPr/>
        </p:nvSpPr>
        <p:spPr bwMode="auto">
          <a:xfrm>
            <a:off x="34751732" y="22665244"/>
            <a:ext cx="6750176" cy="1977180"/>
          </a:xfrm>
          <a:prstGeom prst="rect">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4702175" rtl="0" eaLnBrk="1" fontAlgn="base" latinLnBrk="0" hangingPunct="1">
              <a:lnSpc>
                <a:spcPct val="100000"/>
              </a:lnSpc>
              <a:spcBef>
                <a:spcPct val="0"/>
              </a:spcBef>
              <a:spcAft>
                <a:spcPct val="0"/>
              </a:spcAft>
              <a:buClrTx/>
              <a:buSzTx/>
              <a:buFontTx/>
              <a:buNone/>
              <a:tabLst/>
            </a:pPr>
            <a:r>
              <a:rPr kumimoji="0" lang="en-US" sz="9300" b="0" i="0" u="none" strike="noStrike" cap="none" normalizeH="0" baseline="0" dirty="0">
                <a:ln>
                  <a:noFill/>
                </a:ln>
                <a:solidFill>
                  <a:schemeClr val="tx1"/>
                </a:solidFill>
                <a:effectLst/>
                <a:latin typeface="Arial" pitchFamily="34" charset="0"/>
              </a:rPr>
              <a:t>QR CODES</a:t>
            </a:r>
          </a:p>
        </p:txBody>
      </p:sp>
      <p:pic>
        <p:nvPicPr>
          <p:cNvPr id="15" name="Picture 14">
            <a:extLst>
              <a:ext uri="{FF2B5EF4-FFF2-40B4-BE49-F238E27FC236}">
                <a16:creationId xmlns:a16="http://schemas.microsoft.com/office/drawing/2014/main" id="{57FFC0EE-7EF3-426C-241E-F3889769AA8C}"/>
              </a:ext>
            </a:extLst>
          </p:cNvPr>
          <p:cNvPicPr>
            <a:picLocks noChangeAspect="1"/>
          </p:cNvPicPr>
          <p:nvPr/>
        </p:nvPicPr>
        <p:blipFill>
          <a:blip r:embed="rId3" cstate="print">
            <a:biLevel thresh="25000"/>
            <a:extLst>
              <a:ext uri="{28A0092B-C50C-407E-A947-70E740481C1C}">
                <a14:useLocalDpi xmlns:a14="http://schemas.microsoft.com/office/drawing/2010/main" val="0"/>
              </a:ext>
            </a:extLst>
          </a:blip>
          <a:stretch>
            <a:fillRect/>
          </a:stretch>
        </p:blipFill>
        <p:spPr>
          <a:xfrm>
            <a:off x="38537188" y="864109"/>
            <a:ext cx="4114808" cy="4133096"/>
          </a:xfrm>
          <a:prstGeom prst="rect">
            <a:avLst/>
          </a:prstGeom>
        </p:spPr>
      </p:pic>
      <p:pic>
        <p:nvPicPr>
          <p:cNvPr id="231" name="Picture 230">
            <a:extLst>
              <a:ext uri="{FF2B5EF4-FFF2-40B4-BE49-F238E27FC236}">
                <a16:creationId xmlns:a16="http://schemas.microsoft.com/office/drawing/2014/main" id="{8BAE6E6E-6724-4726-D4E8-7B1051042D0D}"/>
              </a:ext>
            </a:extLst>
          </p:cNvPr>
          <p:cNvPicPr>
            <a:picLocks noChangeAspect="1"/>
          </p:cNvPicPr>
          <p:nvPr/>
        </p:nvPicPr>
        <p:blipFill>
          <a:blip r:embed="rId4" cstate="print">
            <a:clrChange>
              <a:clrFrom>
                <a:srgbClr val="FFFFFF"/>
              </a:clrFrom>
              <a:clrTo>
                <a:srgbClr val="FFFFFF">
                  <a:alpha val="0"/>
                </a:srgbClr>
              </a:clrTo>
            </a:clrChange>
            <a:biLevel thresh="25000"/>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tretch>
            <a:fillRect/>
          </a:stretch>
        </p:blipFill>
        <p:spPr>
          <a:xfrm>
            <a:off x="33164889" y="864109"/>
            <a:ext cx="4133096" cy="4133096"/>
          </a:xfrm>
          <a:prstGeom prst="rect">
            <a:avLst/>
          </a:prstGeom>
        </p:spPr>
      </p:pic>
      <p:pic>
        <p:nvPicPr>
          <p:cNvPr id="233" name="Picture 232">
            <a:extLst>
              <a:ext uri="{FF2B5EF4-FFF2-40B4-BE49-F238E27FC236}">
                <a16:creationId xmlns:a16="http://schemas.microsoft.com/office/drawing/2014/main" id="{2E42E5C4-B25A-A56D-3C0D-80882415788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3157855" y="29910450"/>
            <a:ext cx="4760986" cy="771146"/>
          </a:xfrm>
          <a:prstGeom prst="rect">
            <a:avLst/>
          </a:prstGeom>
        </p:spPr>
      </p:pic>
      <p:sp>
        <p:nvSpPr>
          <p:cNvPr id="235" name="Text Box 6">
            <a:extLst>
              <a:ext uri="{FF2B5EF4-FFF2-40B4-BE49-F238E27FC236}">
                <a16:creationId xmlns:a16="http://schemas.microsoft.com/office/drawing/2014/main" id="{DC771754-0602-7C35-AAA2-C4CF5FF723D5}"/>
              </a:ext>
            </a:extLst>
          </p:cNvPr>
          <p:cNvSpPr txBox="1">
            <a:spLocks noChangeArrowheads="1"/>
          </p:cNvSpPr>
          <p:nvPr/>
        </p:nvSpPr>
        <p:spPr bwMode="auto">
          <a:xfrm>
            <a:off x="731518" y="20308689"/>
            <a:ext cx="10058400" cy="3508653"/>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r>
              <a:rPr lang="en-US" sz="2400" dirty="0">
                <a:latin typeface="Titillium Web" panose="00000500000000000000" pitchFamily="2" charset="0"/>
                <a:ea typeface="Open Sans" panose="020B0606030504020204" pitchFamily="34" charset="0"/>
                <a:cs typeface="Open Sans" panose="020B0606030504020204" pitchFamily="34" charset="0"/>
              </a:rPr>
              <a:t>Dataset Filtering</a:t>
            </a:r>
          </a:p>
          <a:p>
            <a:endParaRPr lang="en-US" sz="2400" dirty="0">
              <a:latin typeface="Titillium Web" panose="00000500000000000000" pitchFamily="2" charset="0"/>
              <a:ea typeface="Open Sans" panose="020B0606030504020204" pitchFamily="34" charset="0"/>
              <a:cs typeface="Open Sans" panose="020B0606030504020204" pitchFamily="34" charset="0"/>
            </a:endParaRPr>
          </a:p>
          <a:p>
            <a:r>
              <a:rPr lang="en-US" sz="2400" dirty="0">
                <a:latin typeface="Titillium Web" panose="00000500000000000000" pitchFamily="2" charset="0"/>
                <a:ea typeface="Open Sans" panose="020B0606030504020204" pitchFamily="34" charset="0"/>
                <a:cs typeface="Open Sans" panose="020B0606030504020204" pitchFamily="34" charset="0"/>
              </a:rPr>
              <a:t>Each article was tokenized using </a:t>
            </a:r>
            <a:r>
              <a:rPr lang="en-US" sz="2400" dirty="0" err="1">
                <a:latin typeface="Titillium Web" panose="00000500000000000000" pitchFamily="2" charset="0"/>
                <a:ea typeface="Open Sans" panose="020B0606030504020204" pitchFamily="34" charset="0"/>
                <a:cs typeface="Open Sans" panose="020B0606030504020204" pitchFamily="34" charset="0"/>
              </a:rPr>
              <a:t>tiktoken</a:t>
            </a:r>
            <a:r>
              <a:rPr lang="en-US" sz="2400" dirty="0">
                <a:latin typeface="Titillium Web" panose="00000500000000000000" pitchFamily="2" charset="0"/>
                <a:ea typeface="Open Sans" panose="020B0606030504020204" pitchFamily="34" charset="0"/>
                <a:cs typeface="Open Sans" panose="020B0606030504020204" pitchFamily="34" charset="0"/>
              </a:rPr>
              <a:t> and processed with an LLM. During development, the extraction pipeline was tested on a subset of articles before applying additional filtering criteria. Articles containing fewer than two solar-related keyword mentions or only brief references to solar energy were excluded, reducing the dataset from 5,374 to 1,985 articles while substantially lowering inference cost.</a:t>
            </a:r>
          </a:p>
        </p:txBody>
      </p:sp>
      <p:sp>
        <p:nvSpPr>
          <p:cNvPr id="237" name="Text Box 6">
            <a:extLst>
              <a:ext uri="{FF2B5EF4-FFF2-40B4-BE49-F238E27FC236}">
                <a16:creationId xmlns:a16="http://schemas.microsoft.com/office/drawing/2014/main" id="{F8EAF608-3616-200D-13DA-E3D715DE2FCA}"/>
              </a:ext>
            </a:extLst>
          </p:cNvPr>
          <p:cNvSpPr txBox="1">
            <a:spLocks noChangeArrowheads="1"/>
          </p:cNvSpPr>
          <p:nvPr/>
        </p:nvSpPr>
        <p:spPr bwMode="auto">
          <a:xfrm>
            <a:off x="11521439" y="8196127"/>
            <a:ext cx="10058400" cy="3139321"/>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r>
              <a:rPr lang="en-US" sz="2400" dirty="0">
                <a:latin typeface="Titillium Web" panose="00000500000000000000" pitchFamily="2" charset="0"/>
                <a:ea typeface="Open Sans" panose="020B0606030504020204" pitchFamily="34" charset="0"/>
                <a:cs typeface="Open Sans" panose="020B0606030504020204" pitchFamily="34" charset="0"/>
              </a:rPr>
              <a:t>Knowledge Graph Construction</a:t>
            </a:r>
          </a:p>
          <a:p>
            <a:endParaRPr lang="en-US" sz="2400" dirty="0">
              <a:latin typeface="Titillium Web" panose="00000500000000000000" pitchFamily="2" charset="0"/>
              <a:ea typeface="Open Sans" panose="020B0606030504020204" pitchFamily="34" charset="0"/>
              <a:cs typeface="Open Sans" panose="020B0606030504020204" pitchFamily="34" charset="0"/>
            </a:endParaRPr>
          </a:p>
          <a:p>
            <a:r>
              <a:rPr lang="en-US" sz="2400" dirty="0">
                <a:latin typeface="Titillium Web" panose="00000500000000000000" pitchFamily="2" charset="0"/>
                <a:ea typeface="Open Sans" panose="020B0606030504020204" pitchFamily="34" charset="0"/>
                <a:cs typeface="Open Sans" panose="020B0606030504020204" pitchFamily="34" charset="0"/>
              </a:rPr>
              <a:t>The extracted JSON outputs were converted into node and edge tables to construct a knowledge graph. To improve graph quality, nodes with fewer than two connections were removed, semantically similar entities were merged using fuzzy matching and transformer-based similarity, node size was scaled by degree, and colors were assigned by entity type.</a:t>
            </a:r>
          </a:p>
        </p:txBody>
      </p:sp>
      <p:sp>
        <p:nvSpPr>
          <p:cNvPr id="239" name="Text Box 6">
            <a:extLst>
              <a:ext uri="{FF2B5EF4-FFF2-40B4-BE49-F238E27FC236}">
                <a16:creationId xmlns:a16="http://schemas.microsoft.com/office/drawing/2014/main" id="{5DAD8F8A-EF61-4280-03BC-FDEB19449874}"/>
              </a:ext>
            </a:extLst>
          </p:cNvPr>
          <p:cNvSpPr txBox="1">
            <a:spLocks noChangeArrowheads="1"/>
          </p:cNvSpPr>
          <p:nvPr/>
        </p:nvSpPr>
        <p:spPr bwMode="auto">
          <a:xfrm>
            <a:off x="731520" y="27125314"/>
            <a:ext cx="10058400" cy="3508653"/>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r>
              <a:rPr lang="en-US" sz="2400" dirty="0">
                <a:latin typeface="Titillium Web" panose="00000500000000000000" pitchFamily="2" charset="0"/>
                <a:ea typeface="Open Sans" panose="020B0606030504020204" pitchFamily="34" charset="0"/>
                <a:cs typeface="Open Sans" panose="020B0606030504020204" pitchFamily="34" charset="0"/>
              </a:rPr>
              <a:t>LLM-Based Information Extraction</a:t>
            </a:r>
          </a:p>
          <a:p>
            <a:endParaRPr lang="en-US" sz="2400" dirty="0">
              <a:latin typeface="Titillium Web" panose="00000500000000000000" pitchFamily="2" charset="0"/>
              <a:ea typeface="Open Sans" panose="020B0606030504020204" pitchFamily="34" charset="0"/>
              <a:cs typeface="Open Sans" panose="020B0606030504020204" pitchFamily="34" charset="0"/>
            </a:endParaRPr>
          </a:p>
          <a:p>
            <a:r>
              <a:rPr lang="en-US" sz="2400" dirty="0">
                <a:latin typeface="Titillium Web" panose="00000500000000000000" pitchFamily="2" charset="0"/>
                <a:ea typeface="Open Sans" panose="020B0606030504020204" pitchFamily="34" charset="0"/>
                <a:cs typeface="Open Sans" panose="020B0606030504020204" pitchFamily="34" charset="0"/>
              </a:rPr>
              <a:t>A structured prompting framework consisting of a system prompt, user prompt, and JSON output schema was developed and iteratively optimized to reduce token usage. The LLM extracted entities (e.g., organizations, technologies, policies, countries) and semantic relationships while also determining whether each article was meaningfully related to solar energy.</a:t>
            </a:r>
          </a:p>
        </p:txBody>
      </p:sp>
      <p:sp>
        <p:nvSpPr>
          <p:cNvPr id="241" name="Text Box 6">
            <a:extLst>
              <a:ext uri="{FF2B5EF4-FFF2-40B4-BE49-F238E27FC236}">
                <a16:creationId xmlns:a16="http://schemas.microsoft.com/office/drawing/2014/main" id="{7FFDF291-C30B-7440-51D0-7CB74BA6F891}"/>
              </a:ext>
            </a:extLst>
          </p:cNvPr>
          <p:cNvSpPr txBox="1">
            <a:spLocks noChangeArrowheads="1"/>
          </p:cNvSpPr>
          <p:nvPr/>
        </p:nvSpPr>
        <p:spPr bwMode="auto">
          <a:xfrm>
            <a:off x="11521440" y="20752140"/>
            <a:ext cx="10058400" cy="2769989"/>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r>
              <a:rPr lang="en-US" sz="2400" dirty="0">
                <a:latin typeface="Titillium Web" panose="00000500000000000000" pitchFamily="2" charset="0"/>
                <a:ea typeface="Open Sans" panose="020B0606030504020204" pitchFamily="34" charset="0"/>
                <a:cs typeface="Open Sans" panose="020B0606030504020204" pitchFamily="34" charset="0"/>
              </a:rPr>
              <a:t>Network Analysis</a:t>
            </a:r>
          </a:p>
          <a:p>
            <a:endParaRPr lang="en-US" sz="2400" dirty="0">
              <a:latin typeface="Titillium Web" panose="00000500000000000000" pitchFamily="2" charset="0"/>
              <a:ea typeface="Open Sans" panose="020B0606030504020204" pitchFamily="34" charset="0"/>
              <a:cs typeface="Open Sans" panose="020B0606030504020204" pitchFamily="34" charset="0"/>
            </a:endParaRPr>
          </a:p>
          <a:p>
            <a:r>
              <a:rPr lang="en-US" sz="2400" dirty="0">
                <a:latin typeface="Titillium Web" panose="00000500000000000000" pitchFamily="2" charset="0"/>
                <a:ea typeface="Open Sans" panose="020B0606030504020204" pitchFamily="34" charset="0"/>
                <a:cs typeface="Open Sans" panose="020B0606030504020204" pitchFamily="34" charset="0"/>
              </a:rPr>
              <a:t>Community detection was applied to identify groups of closely connected entities. Additional analysis examined interactions between communities and the relationship types that most strongly connected different sectors of the international solar energy ecosystem.</a:t>
            </a:r>
          </a:p>
        </p:txBody>
      </p:sp>
      <p:sp>
        <p:nvSpPr>
          <p:cNvPr id="244" name="Rectangle 5">
            <a:extLst>
              <a:ext uri="{FF2B5EF4-FFF2-40B4-BE49-F238E27FC236}">
                <a16:creationId xmlns:a16="http://schemas.microsoft.com/office/drawing/2014/main" id="{3287EB6F-AA5C-E342-30B0-E54767021E00}"/>
              </a:ext>
            </a:extLst>
          </p:cNvPr>
          <p:cNvSpPr>
            <a:spLocks noChangeArrowheads="1"/>
          </p:cNvSpPr>
          <p:nvPr/>
        </p:nvSpPr>
        <p:spPr bwMode="auto">
          <a:xfrm>
            <a:off x="731519" y="15480278"/>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Methodology</a:t>
            </a:r>
          </a:p>
        </p:txBody>
      </p:sp>
      <p:sp>
        <p:nvSpPr>
          <p:cNvPr id="246" name="Text Box 6">
            <a:extLst>
              <a:ext uri="{FF2B5EF4-FFF2-40B4-BE49-F238E27FC236}">
                <a16:creationId xmlns:a16="http://schemas.microsoft.com/office/drawing/2014/main" id="{2576A97F-56DB-4BBD-B2A5-6AF36265324E}"/>
              </a:ext>
            </a:extLst>
          </p:cNvPr>
          <p:cNvSpPr txBox="1">
            <a:spLocks noChangeArrowheads="1"/>
          </p:cNvSpPr>
          <p:nvPr/>
        </p:nvSpPr>
        <p:spPr bwMode="auto">
          <a:xfrm>
            <a:off x="33097620" y="8196126"/>
            <a:ext cx="10058400" cy="5355312"/>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r>
              <a:rPr lang="en-US" sz="2400" dirty="0">
                <a:latin typeface="Titillium Web" panose="00000500000000000000" pitchFamily="2" charset="0"/>
                <a:ea typeface="Open Sans" panose="020B0606030504020204" pitchFamily="34" charset="0"/>
                <a:cs typeface="Open Sans" panose="020B0606030504020204" pitchFamily="34" charset="0"/>
              </a:rPr>
              <a:t>News Company Analysis</a:t>
            </a:r>
          </a:p>
          <a:p>
            <a:endParaRPr lang="en-US" sz="2400" dirty="0">
              <a:latin typeface="Titillium Web" panose="00000500000000000000" pitchFamily="2" charset="0"/>
              <a:ea typeface="Open Sans" panose="020B0606030504020204" pitchFamily="34" charset="0"/>
              <a:cs typeface="Open Sans" panose="020B0606030504020204" pitchFamily="34" charset="0"/>
            </a:endParaRPr>
          </a:p>
          <a:p>
            <a:r>
              <a:rPr lang="en-US" sz="2400" dirty="0">
                <a:latin typeface="Titillium Web" panose="00000500000000000000" pitchFamily="2" charset="0"/>
                <a:ea typeface="Open Sans" panose="020B0606030504020204" pitchFamily="34" charset="0"/>
                <a:cs typeface="Open Sans" panose="020B0606030504020204" pitchFamily="34" charset="0"/>
              </a:rPr>
              <a:t>Further analysis can be done with the dataset on the companies reporting on solar energy. Metrics such as common topics, geographical focus, and coverage percentage can provide an understanding of how news corporations in the dataset report on solar energy.</a:t>
            </a:r>
          </a:p>
          <a:p>
            <a:endParaRPr lang="en-US" sz="2400" dirty="0">
              <a:latin typeface="Titillium Web" panose="00000500000000000000" pitchFamily="2" charset="0"/>
              <a:ea typeface="Open Sans" panose="020B0606030504020204" pitchFamily="34" charset="0"/>
              <a:cs typeface="Open Sans" panose="020B0606030504020204" pitchFamily="34" charset="0"/>
            </a:endParaRPr>
          </a:p>
          <a:p>
            <a:r>
              <a:rPr lang="en-US" sz="2400" dirty="0">
                <a:latin typeface="Titillium Web" panose="00000500000000000000" pitchFamily="2" charset="0"/>
                <a:ea typeface="Open Sans" panose="020B0606030504020204" pitchFamily="34" charset="0"/>
                <a:cs typeface="Open Sans" panose="020B0606030504020204" pitchFamily="34" charset="0"/>
              </a:rPr>
              <a:t>Expansion to Other Topics</a:t>
            </a:r>
          </a:p>
          <a:p>
            <a:endParaRPr lang="en-US" sz="2400" dirty="0">
              <a:latin typeface="Titillium Web" panose="00000500000000000000" pitchFamily="2" charset="0"/>
              <a:ea typeface="Open Sans" panose="020B0606030504020204" pitchFamily="34" charset="0"/>
              <a:cs typeface="Open Sans" panose="020B0606030504020204" pitchFamily="34" charset="0"/>
            </a:endParaRPr>
          </a:p>
          <a:p>
            <a:r>
              <a:rPr lang="en-US" sz="2400" dirty="0">
                <a:latin typeface="Titillium Web" panose="00000500000000000000" pitchFamily="2" charset="0"/>
                <a:ea typeface="Open Sans" panose="020B0606030504020204" pitchFamily="34" charset="0"/>
                <a:cs typeface="Open Sans" panose="020B0606030504020204" pitchFamily="34" charset="0"/>
              </a:rPr>
              <a:t>A similar pipeline can be applied to other topics beyond solar energy. As the Cornell Newsroom dataset is not limited to solar energy, data filtering strategies with different topic-specific keywords can be applied to construct similar datasets for other topics and network analyses.</a:t>
            </a:r>
          </a:p>
        </p:txBody>
      </p:sp>
      <p:sp>
        <p:nvSpPr>
          <p:cNvPr id="248" name="Rectangle 5">
            <a:extLst>
              <a:ext uri="{FF2B5EF4-FFF2-40B4-BE49-F238E27FC236}">
                <a16:creationId xmlns:a16="http://schemas.microsoft.com/office/drawing/2014/main" id="{8EB9A9AE-9CE2-CF79-0BF2-28093D349CFA}"/>
              </a:ext>
            </a:extLst>
          </p:cNvPr>
          <p:cNvSpPr>
            <a:spLocks noChangeArrowheads="1"/>
          </p:cNvSpPr>
          <p:nvPr/>
        </p:nvSpPr>
        <p:spPr bwMode="auto">
          <a:xfrm>
            <a:off x="33097620" y="14112140"/>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Limitations</a:t>
            </a:r>
          </a:p>
        </p:txBody>
      </p:sp>
      <p:sp>
        <p:nvSpPr>
          <p:cNvPr id="250" name="Text Box 6">
            <a:extLst>
              <a:ext uri="{FF2B5EF4-FFF2-40B4-BE49-F238E27FC236}">
                <a16:creationId xmlns:a16="http://schemas.microsoft.com/office/drawing/2014/main" id="{B54F5422-44CD-FE3F-1DF0-906EFB78BC57}"/>
              </a:ext>
            </a:extLst>
          </p:cNvPr>
          <p:cNvSpPr txBox="1">
            <a:spLocks noChangeArrowheads="1"/>
          </p:cNvSpPr>
          <p:nvPr/>
        </p:nvSpPr>
        <p:spPr bwMode="auto">
          <a:xfrm>
            <a:off x="33093961" y="15183014"/>
            <a:ext cx="10058400" cy="3508653"/>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marL="342900" indent="-342900">
              <a:buFont typeface="Arial" panose="020B0604020202020204" pitchFamily="34" charset="0"/>
              <a:buChar char="•"/>
            </a:pPr>
            <a:r>
              <a:rPr lang="en-US" sz="2400" dirty="0">
                <a:latin typeface="Titillium Web" panose="00000500000000000000" pitchFamily="2" charset="0"/>
                <a:ea typeface="Open Sans" panose="020B0606030504020204" pitchFamily="34" charset="0"/>
                <a:cs typeface="Open Sans" panose="020B0606030504020204" pitchFamily="34" charset="0"/>
              </a:rPr>
              <a:t>Articles are limited to 1998-2017, limiting analysis for current trends such as Artificial Intelligence. This creates a restricted analysis of solar energy, only allowing for a look into the past.</a:t>
            </a:r>
          </a:p>
          <a:p>
            <a:pPr marL="342900" indent="-342900">
              <a:buFont typeface="Arial" panose="020B0604020202020204" pitchFamily="34" charset="0"/>
              <a:buChar char="•"/>
            </a:pPr>
            <a:r>
              <a:rPr lang="en-US" sz="2400" dirty="0">
                <a:latin typeface="Titillium Web" panose="00000500000000000000" pitchFamily="2" charset="0"/>
                <a:ea typeface="Open Sans" panose="020B0606030504020204" pitchFamily="34" charset="0"/>
                <a:cs typeface="Open Sans" panose="020B0606030504020204" pitchFamily="34" charset="0"/>
              </a:rPr>
              <a:t>Sources are limited to the 38 major publications originally found in the Cornell Newsroom dataset, limiting the diversity of information available. News publications outside the United States are likely to be missing, in particular those in other languages. Therefore, this project is likely to reveal highly Americanized views of solar energy.</a:t>
            </a:r>
          </a:p>
        </p:txBody>
      </p:sp>
      <p:pic>
        <p:nvPicPr>
          <p:cNvPr id="253" name="Picture 252">
            <a:extLst>
              <a:ext uri="{FF2B5EF4-FFF2-40B4-BE49-F238E27FC236}">
                <a16:creationId xmlns:a16="http://schemas.microsoft.com/office/drawing/2014/main" id="{562B6D9C-DDD3-4929-5FDE-80BDB426CF81}"/>
              </a:ext>
            </a:extLst>
          </p:cNvPr>
          <p:cNvPicPr>
            <a:picLocks noChangeAspect="1"/>
          </p:cNvPicPr>
          <p:nvPr/>
        </p:nvPicPr>
        <p:blipFill>
          <a:blip r:embed="rId7"/>
          <a:stretch>
            <a:fillRect/>
          </a:stretch>
        </p:blipFill>
        <p:spPr>
          <a:xfrm>
            <a:off x="11980905" y="23934819"/>
            <a:ext cx="9139468" cy="7068807"/>
          </a:xfrm>
          <a:prstGeom prst="rect">
            <a:avLst/>
          </a:prstGeom>
        </p:spPr>
      </p:pic>
      <p:graphicFrame>
        <p:nvGraphicFramePr>
          <p:cNvPr id="254" name="Table 253">
            <a:extLst>
              <a:ext uri="{FF2B5EF4-FFF2-40B4-BE49-F238E27FC236}">
                <a16:creationId xmlns:a16="http://schemas.microsoft.com/office/drawing/2014/main" id="{4948646E-1634-82C2-40D9-444CDAF07FF7}"/>
              </a:ext>
            </a:extLst>
          </p:cNvPr>
          <p:cNvGraphicFramePr>
            <a:graphicFrameLocks noGrp="1"/>
          </p:cNvGraphicFramePr>
          <p:nvPr>
            <p:extLst>
              <p:ext uri="{D42A27DB-BD31-4B8C-83A1-F6EECF244321}">
                <p14:modId xmlns:p14="http://schemas.microsoft.com/office/powerpoint/2010/main" val="1806892141"/>
              </p:ext>
            </p:extLst>
          </p:nvPr>
        </p:nvGraphicFramePr>
        <p:xfrm>
          <a:off x="2261956" y="24081591"/>
          <a:ext cx="7001189" cy="2743200"/>
        </p:xfrm>
        <a:graphic>
          <a:graphicData uri="http://schemas.openxmlformats.org/drawingml/2006/table">
            <a:tbl>
              <a:tblPr firstRow="1" firstCol="1">
                <a:tableStyleId>{2D5ABB26-0587-4C30-8999-92F81FD0307C}</a:tableStyleId>
              </a:tblPr>
              <a:tblGrid>
                <a:gridCol w="3411188">
                  <a:extLst>
                    <a:ext uri="{9D8B030D-6E8A-4147-A177-3AD203B41FA5}">
                      <a16:colId xmlns:a16="http://schemas.microsoft.com/office/drawing/2014/main" val="3833514160"/>
                    </a:ext>
                  </a:extLst>
                </a:gridCol>
                <a:gridCol w="1880968">
                  <a:extLst>
                    <a:ext uri="{9D8B030D-6E8A-4147-A177-3AD203B41FA5}">
                      <a16:colId xmlns:a16="http://schemas.microsoft.com/office/drawing/2014/main" val="1902017129"/>
                    </a:ext>
                  </a:extLst>
                </a:gridCol>
                <a:gridCol w="1709033">
                  <a:extLst>
                    <a:ext uri="{9D8B030D-6E8A-4147-A177-3AD203B41FA5}">
                      <a16:colId xmlns:a16="http://schemas.microsoft.com/office/drawing/2014/main" val="2938504809"/>
                    </a:ext>
                  </a:extLst>
                </a:gridCol>
              </a:tblGrid>
              <a:tr h="0">
                <a:tc>
                  <a:txBody>
                    <a:bodyPr/>
                    <a:lstStyle/>
                    <a:p>
                      <a:pPr>
                        <a:buNone/>
                      </a:pPr>
                      <a:r>
                        <a:rPr lang="en-US" sz="2400" b="1" dirty="0">
                          <a:latin typeface="Titillium Web" panose="00000500000000000000" pitchFamily="2" charset="0"/>
                        </a:rPr>
                        <a:t>Item</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569BBE"/>
                    </a:solidFill>
                  </a:tcPr>
                </a:tc>
                <a:tc>
                  <a:txBody>
                    <a:bodyPr/>
                    <a:lstStyle/>
                    <a:p>
                      <a:pPr algn="r">
                        <a:buNone/>
                      </a:pPr>
                      <a:r>
                        <a:rPr lang="en-US" sz="2400" b="1" dirty="0">
                          <a:latin typeface="Titillium Web" panose="00000500000000000000" pitchFamily="2" charset="0"/>
                        </a:rPr>
                        <a:t>Before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569BBE"/>
                    </a:solidFill>
                  </a:tcPr>
                </a:tc>
                <a:tc>
                  <a:txBody>
                    <a:bodyPr/>
                    <a:lstStyle/>
                    <a:p>
                      <a:pPr algn="r">
                        <a:buNone/>
                      </a:pPr>
                      <a:r>
                        <a:rPr lang="en-US" sz="2400" b="1" dirty="0">
                          <a:latin typeface="Titillium Web" panose="00000500000000000000" pitchFamily="2" charset="0"/>
                        </a:rPr>
                        <a:t>After</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569BBE"/>
                    </a:solidFill>
                  </a:tcPr>
                </a:tc>
                <a:extLst>
                  <a:ext uri="{0D108BD9-81ED-4DB2-BD59-A6C34878D82A}">
                    <a16:rowId xmlns:a16="http://schemas.microsoft.com/office/drawing/2014/main" val="1046880155"/>
                  </a:ext>
                </a:extLst>
              </a:tr>
              <a:tr h="0">
                <a:tc>
                  <a:txBody>
                    <a:bodyPr/>
                    <a:lstStyle/>
                    <a:p>
                      <a:pPr>
                        <a:buNone/>
                      </a:pPr>
                      <a:r>
                        <a:rPr lang="en-US" sz="2400" b="1" dirty="0">
                          <a:latin typeface="Titillium Web" panose="00000500000000000000" pitchFamily="2" charset="0"/>
                        </a:rPr>
                        <a:t>Number of articles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400" dirty="0">
                          <a:latin typeface="Titillium Web" panose="00000500000000000000" pitchFamily="2" charset="0"/>
                        </a:rPr>
                        <a:t>5,374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400" dirty="0">
                          <a:latin typeface="Titillium Web" panose="00000500000000000000" pitchFamily="2" charset="0"/>
                        </a:rPr>
                        <a:t>1,985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extLst>
                  <a:ext uri="{0D108BD9-81ED-4DB2-BD59-A6C34878D82A}">
                    <a16:rowId xmlns:a16="http://schemas.microsoft.com/office/drawing/2014/main" val="385092680"/>
                  </a:ext>
                </a:extLst>
              </a:tr>
              <a:tr h="0">
                <a:tc>
                  <a:txBody>
                    <a:bodyPr/>
                    <a:lstStyle/>
                    <a:p>
                      <a:pPr>
                        <a:buNone/>
                      </a:pPr>
                      <a:r>
                        <a:rPr lang="en-US" sz="2400" b="1" dirty="0">
                          <a:latin typeface="Titillium Web" panose="00000500000000000000" pitchFamily="2" charset="0"/>
                        </a:rPr>
                        <a:t>System prompt tokens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400" dirty="0">
                          <a:latin typeface="Titillium Web" panose="00000500000000000000" pitchFamily="2" charset="0"/>
                        </a:rPr>
                        <a:t>1,773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400">
                          <a:latin typeface="Titillium Web" panose="00000500000000000000" pitchFamily="2" charset="0"/>
                        </a:rPr>
                        <a:t>775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extLst>
                  <a:ext uri="{0D108BD9-81ED-4DB2-BD59-A6C34878D82A}">
                    <a16:rowId xmlns:a16="http://schemas.microsoft.com/office/drawing/2014/main" val="3255593464"/>
                  </a:ext>
                </a:extLst>
              </a:tr>
              <a:tr h="0">
                <a:tc>
                  <a:txBody>
                    <a:bodyPr/>
                    <a:lstStyle/>
                    <a:p>
                      <a:pPr>
                        <a:buNone/>
                      </a:pPr>
                      <a:r>
                        <a:rPr lang="en-US" sz="2400" b="1" dirty="0">
                          <a:latin typeface="Titillium Web" panose="00000500000000000000" pitchFamily="2" charset="0"/>
                        </a:rPr>
                        <a:t>Article corpus tokens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400">
                          <a:latin typeface="Titillium Web" panose="00000500000000000000" pitchFamily="2" charset="0"/>
                        </a:rPr>
                        <a:t>6,673,300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400" dirty="0">
                          <a:latin typeface="Titillium Web" panose="00000500000000000000" pitchFamily="2" charset="0"/>
                        </a:rPr>
                        <a:t>2,534,844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extLst>
                  <a:ext uri="{0D108BD9-81ED-4DB2-BD59-A6C34878D82A}">
                    <a16:rowId xmlns:a16="http://schemas.microsoft.com/office/drawing/2014/main" val="2177487150"/>
                  </a:ext>
                </a:extLst>
              </a:tr>
              <a:tr h="0">
                <a:tc>
                  <a:txBody>
                    <a:bodyPr/>
                    <a:lstStyle/>
                    <a:p>
                      <a:pPr>
                        <a:buNone/>
                      </a:pPr>
                      <a:r>
                        <a:rPr lang="en-US" sz="2400" b="1" dirty="0">
                          <a:latin typeface="Titillium Web" panose="00000500000000000000" pitchFamily="2" charset="0"/>
                        </a:rPr>
                        <a:t>Total input tokens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400" dirty="0">
                          <a:latin typeface="Titillium Web" panose="00000500000000000000" pitchFamily="2" charset="0"/>
                        </a:rPr>
                        <a:t>16,201,402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400" dirty="0">
                          <a:latin typeface="Titillium Web" panose="00000500000000000000" pitchFamily="2" charset="0"/>
                        </a:rPr>
                        <a:t>4,073,219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extLst>
                  <a:ext uri="{0D108BD9-81ED-4DB2-BD59-A6C34878D82A}">
                    <a16:rowId xmlns:a16="http://schemas.microsoft.com/office/drawing/2014/main" val="731956399"/>
                  </a:ext>
                </a:extLst>
              </a:tr>
              <a:tr h="0">
                <a:tc>
                  <a:txBody>
                    <a:bodyPr/>
                    <a:lstStyle/>
                    <a:p>
                      <a:pPr>
                        <a:buNone/>
                      </a:pPr>
                      <a:r>
                        <a:rPr lang="en-US" sz="2400" b="1" dirty="0">
                          <a:latin typeface="Titillium Web" panose="00000500000000000000" pitchFamily="2" charset="0"/>
                        </a:rPr>
                        <a:t>Estimated cost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400" dirty="0">
                          <a:latin typeface="Titillium Web" panose="00000500000000000000" pitchFamily="2" charset="0"/>
                        </a:rPr>
                        <a:t>$40.51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400" dirty="0">
                          <a:latin typeface="Titillium Web" panose="00000500000000000000" pitchFamily="2" charset="0"/>
                        </a:rPr>
                        <a:t>$10.19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extLst>
                  <a:ext uri="{0D108BD9-81ED-4DB2-BD59-A6C34878D82A}">
                    <a16:rowId xmlns:a16="http://schemas.microsoft.com/office/drawing/2014/main" val="3325067963"/>
                  </a:ext>
                </a:extLst>
              </a:tr>
            </a:tbl>
          </a:graphicData>
        </a:graphic>
      </p:graphicFrame>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6.2.9200.0"/>
  <p:tag name="AS_RELEASE_DATE" val="2022.04.14"/>
  <p:tag name="AS_TITLE" val="Aspose.Slides for .NET 4.0 Client Profile"/>
  <p:tag name="AS_VERSION" val="22.4"/>
  <p:tag name="POSTERNERDTEMPLATE" val="conceptualizingcobalt|08-2022"/>
</p:tagLst>
</file>

<file path=ppt/theme/theme1.xml><?xml version="1.0" encoding="utf-8"?>
<a:theme xmlns:a="http://schemas.openxmlformats.org/drawingml/2006/main" name="Default Design">
  <a:themeElements>
    <a:clrScheme name="Verve">
      <a:dk1>
        <a:sysClr val="windowText" lastClr="000000"/>
      </a:dk1>
      <a:lt1>
        <a:sysClr val="window" lastClr="FFFFFF"/>
      </a:lt1>
      <a:dk2>
        <a:srgbClr val="666666"/>
      </a:dk2>
      <a:lt2>
        <a:srgbClr val="D2D2D2"/>
      </a:lt2>
      <a:accent1>
        <a:srgbClr val="FF388C"/>
      </a:accent1>
      <a:accent2>
        <a:srgbClr val="E40059"/>
      </a:accent2>
      <a:accent3>
        <a:srgbClr val="9C007F"/>
      </a:accent3>
      <a:accent4>
        <a:srgbClr val="68007F"/>
      </a:accent4>
      <a:accent5>
        <a:srgbClr val="005BD3"/>
      </a:accent5>
      <a:accent6>
        <a:srgbClr val="00349E"/>
      </a:accent6>
      <a:hlink>
        <a:srgbClr val="17BBFD"/>
      </a:hlink>
      <a:folHlink>
        <a:srgbClr val="FF79C2"/>
      </a:folHlink>
    </a:clrScheme>
    <a:fontScheme name="Default Design">
      <a:majorFont>
        <a:latin typeface="Arial"/>
        <a:ea typeface="Arial"/>
        <a:cs typeface="Arial"/>
      </a:majorFont>
      <a:minorFont>
        <a:latin typeface="Arial"/>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702175" rtl="0" eaLnBrk="1" fontAlgn="base" latinLnBrk="0" hangingPunct="1">
          <a:lnSpc>
            <a:spcPct val="100000"/>
          </a:lnSpc>
          <a:spcBef>
            <a:spcPct val="0"/>
          </a:spcBef>
          <a:spcAft>
            <a:spcPct val="0"/>
          </a:spcAft>
          <a:buClrTx/>
          <a:buSzTx/>
          <a:buFontTx/>
          <a:buNone/>
          <a:tabLst/>
          <a:defRPr kumimoji="0" lang="en-US" sz="9300" b="0" i="0" u="none" strike="noStrike" cap="none" normalizeH="0" baseline="0" smtClean="0">
            <a:ln>
              <a:noFill/>
            </a:ln>
            <a:solidFill>
              <a:schemeClr val="tx1"/>
            </a:solidFill>
            <a:effectLst/>
            <a:latin typeface="Arial"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702175" rtl="0" eaLnBrk="1" fontAlgn="base" latinLnBrk="0" hangingPunct="1">
          <a:lnSpc>
            <a:spcPct val="100000"/>
          </a:lnSpc>
          <a:spcBef>
            <a:spcPct val="0"/>
          </a:spcBef>
          <a:spcAft>
            <a:spcPct val="0"/>
          </a:spcAft>
          <a:buClrTx/>
          <a:buSzTx/>
          <a:buFontTx/>
          <a:buNone/>
          <a:tabLst/>
          <a:defRPr kumimoji="0" lang="en-US" sz="9300" b="0" i="0" u="none" strike="noStrike" cap="none" normalizeH="0" baseline="0" smtClean="0">
            <a:ln>
              <a:noFill/>
            </a:ln>
            <a:solidFill>
              <a:schemeClr val="tx1"/>
            </a:solidFill>
            <a:effectLst/>
            <a:latin typeface="Arial" pitchFamily="34"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docProps/app.xml><?xml version="1.0" encoding="utf-8"?>
<Properties xmlns="http://schemas.openxmlformats.org/officeDocument/2006/extended-properties" xmlns:vt="http://schemas.openxmlformats.org/officeDocument/2006/docPropsVTypes">
  <TotalTime>681</TotalTime>
  <Words>780</Words>
  <Application>Microsoft Office PowerPoint</Application>
  <PresentationFormat>Custom</PresentationFormat>
  <Paragraphs>68</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Titillium Web</vt:lpstr>
      <vt:lpstr>Arial</vt:lpstr>
      <vt:lpstr>Symbol</vt:lpstr>
      <vt:lpstr>Amaranth</vt:lpstr>
      <vt:lpstr>Default Design</vt:lpstr>
      <vt:lpstr>PowerPoint Presentation</vt:lpstr>
    </vt:vector>
  </TitlesOfParts>
  <Company>Graphicsland/MAKESIGNS.COM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Knowledge Graphs for Solar Energy News Analysis</dc:title>
  <dc:subject>Example Of A Sample Research Poster</dc:subject>
  <dc:creator>Rachel Kan</dc:creator>
  <cp:keywords>scientific, research, template, custom, poster, presentation, symposium, printing, PowerPoint, create, design, example, sample, download</cp:keywords>
  <dc:description>Download our scientific poster templates at no cost to you and get one step closer to making a great research poster.</dc:description>
  <cp:lastModifiedBy>Rachel Kan</cp:lastModifiedBy>
  <cp:revision>38</cp:revision>
  <dcterms:modified xsi:type="dcterms:W3CDTF">2026-08-03T06:29:47Z</dcterms:modified>
  <cp:category>scientific poster PowerPoint</cp:category>
</cp:coreProperties>
</file>