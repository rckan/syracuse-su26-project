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
  </p:notesMasterIdLst>
  <p:sldIdLst>
    <p:sldId id="256" r:id="rId2"/>
  </p:sldIdLst>
  <p:sldSz cx="43891200" cy="32918400"/>
  <p:notesSz cx="5800725" cy="9094788"/>
  <p:embeddedFontLst>
    <p:embeddedFont>
      <p:font typeface="Amaranth" panose="020B0604020202020204" charset="0"/>
      <p:regular r:id="rId4"/>
    </p:embeddedFont>
    <p:embeddedFont>
      <p:font typeface="Titillium Web" panose="00000500000000000000" pitchFamily="2" charset="0"/>
      <p:regular r:id="rId5"/>
      <p:bold r:id="rId6"/>
      <p:italic r:id="rId7"/>
      <p:boldItalic r:id="rId8"/>
    </p:embeddedFont>
  </p:embeddedFontLst>
  <p:custDataLst>
    <p:tags r:id="rId9"/>
  </p:custDataLst>
  <p:defaultTextStyle>
    <a:defPPr>
      <a:defRPr lang="en-US"/>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p:defaultTextStyle>
  <p:extLst>
    <p:ext uri="{EFAFB233-063F-42B5-8137-9DF3F51BA10A}">
      <p15:sldGuideLst xmlns:p15="http://schemas.microsoft.com/office/powerpoint/2012/main">
        <p15:guide id="1" orient="horz" pos="10368">
          <p15:clr>
            <a:srgbClr val="A4A3A4"/>
          </p15:clr>
        </p15:guide>
        <p15:guide id="2" pos="13824">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A7A7"/>
    <a:srgbClr val="ECDBAA"/>
    <a:srgbClr val="ACD4B7"/>
    <a:srgbClr val="B4D3E2"/>
    <a:srgbClr val="CFE3ED"/>
    <a:srgbClr val="569BBE"/>
    <a:srgbClr val="EFC6A7"/>
    <a:srgbClr val="E4B8B2"/>
    <a:srgbClr val="CBAFE7"/>
    <a:srgbClr val="E5C0B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3615" autoAdjust="0"/>
    <p:restoredTop sz="94660"/>
  </p:normalViewPr>
  <p:slideViewPr>
    <p:cSldViewPr snapToGrid="0">
      <p:cViewPr>
        <p:scale>
          <a:sx n="23" d="100"/>
          <a:sy n="23" d="100"/>
        </p:scale>
        <p:origin x="652" y="12"/>
      </p:cViewPr>
      <p:guideLst>
        <p:guide orient="horz" pos="10368"/>
        <p:guide pos="13824"/>
      </p:guideLst>
    </p:cSldViewPr>
  </p:slideViewPr>
  <p:notesTextViewPr>
    <p:cViewPr>
      <p:scale>
        <a:sx n="100" d="100"/>
        <a:sy n="100" d="100"/>
      </p:scale>
      <p:origin x="0" y="0"/>
    </p:cViewPr>
  </p:notesTextViewPr>
  <p:notesViewPr>
    <p:cSldViewPr>
      <p:cViewPr>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viewProps" Target="viewProps.xml"/><Relationship Id="rId5" Type="http://schemas.openxmlformats.org/officeDocument/2006/relationships/font" Target="fonts/font2.fntdata"/><Relationship Id="rId10" Type="http://schemas.openxmlformats.org/officeDocument/2006/relationships/presProps" Target="presProps.xml"/><Relationship Id="rId4" Type="http://schemas.openxmlformats.org/officeDocument/2006/relationships/font" Target="fonts/font1.fntdata"/><Relationship Id="rId9"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513013" cy="45561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286125" y="0"/>
            <a:ext cx="2513013" cy="455613"/>
          </a:xfrm>
          <a:prstGeom prst="rect">
            <a:avLst/>
          </a:prstGeom>
        </p:spPr>
        <p:txBody>
          <a:bodyPr vert="horz" lIns="91440" tIns="45720" rIns="91440" bIns="45720" rtlCol="0"/>
          <a:lstStyle>
            <a:lvl1pPr algn="r">
              <a:defRPr sz="1200"/>
            </a:lvl1pPr>
          </a:lstStyle>
          <a:p>
            <a:fld id="{3D9C46C7-1D6F-4D96-8AEB-AC9D96A24BEB}" type="datetimeFigureOut">
              <a:rPr lang="en-US" smtClean="0"/>
              <a:t>8/3/2026</a:t>
            </a:fld>
            <a:endParaRPr lang="en-US"/>
          </a:p>
        </p:txBody>
      </p:sp>
      <p:sp>
        <p:nvSpPr>
          <p:cNvPr id="4" name="Slide Image Placeholder 3"/>
          <p:cNvSpPr>
            <a:spLocks noGrp="1" noRot="1" noChangeAspect="1"/>
          </p:cNvSpPr>
          <p:nvPr>
            <p:ph type="sldImg" idx="2"/>
          </p:nvPr>
        </p:nvSpPr>
        <p:spPr>
          <a:xfrm>
            <a:off x="854075" y="1136650"/>
            <a:ext cx="4092575" cy="30702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79438" y="4376738"/>
            <a:ext cx="4641850" cy="35814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39175"/>
            <a:ext cx="2513013" cy="45561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286125" y="8639175"/>
            <a:ext cx="2513013" cy="455613"/>
          </a:xfrm>
          <a:prstGeom prst="rect">
            <a:avLst/>
          </a:prstGeom>
        </p:spPr>
        <p:txBody>
          <a:bodyPr vert="horz" lIns="91440" tIns="45720" rIns="91440" bIns="45720" rtlCol="0" anchor="b"/>
          <a:lstStyle>
            <a:lvl1pPr algn="r">
              <a:defRPr sz="1200"/>
            </a:lvl1pPr>
          </a:lstStyle>
          <a:p>
            <a:fld id="{06F20416-0590-4FC5-9D38-DA5B39CB99EA}" type="slidenum">
              <a:rPr lang="en-US" smtClean="0"/>
              <a:t>‹#›</a:t>
            </a:fld>
            <a:endParaRPr lang="en-US"/>
          </a:p>
        </p:txBody>
      </p:sp>
    </p:spTree>
    <p:extLst>
      <p:ext uri="{BB962C8B-B14F-4D97-AF65-F5344CB8AC3E}">
        <p14:creationId xmlns:p14="http://schemas.microsoft.com/office/powerpoint/2010/main" val="28665699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75" y="10226675"/>
            <a:ext cx="37306250" cy="7054850"/>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6583363" y="18653125"/>
            <a:ext cx="30724475" cy="8413750"/>
          </a:xfrm>
        </p:spPr>
        <p:txBody>
          <a:bodyPr/>
          <a:lstStyle>
            <a:defPPr>
              <a:defRPr kern="1200"/>
            </a:defPPr>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E9E44D62-E9B9-4A1F-9D60-78A1B8BD2136}" type="slidenum">
              <a:rPr lang="en-US"/>
              <a:pPr>
                <a:defRPr/>
              </a:pPr>
              <a:t>‹#›</a:t>
            </a:fld>
            <a:endParaRPr lang="en-US"/>
          </a:p>
        </p:txBody>
      </p:sp>
    </p:spTree>
    <p:extLst>
      <p:ext uri="{BB962C8B-B14F-4D97-AF65-F5344CB8AC3E}">
        <p14:creationId xmlns:p14="http://schemas.microsoft.com/office/powerpoint/2010/main" val="1652127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772C493-C7EB-4BEF-9EB3-C72AA1A173D7}" type="slidenum">
              <a:rPr lang="en-US"/>
              <a:pPr>
                <a:defRPr/>
              </a:pPr>
              <a:t>‹#›</a:t>
            </a:fld>
            <a:endParaRPr lang="en-US"/>
          </a:p>
        </p:txBody>
      </p:sp>
    </p:spTree>
    <p:extLst>
      <p:ext uri="{BB962C8B-B14F-4D97-AF65-F5344CB8AC3E}">
        <p14:creationId xmlns:p14="http://schemas.microsoft.com/office/powerpoint/2010/main" val="2428922162"/>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0" y="21153438"/>
            <a:ext cx="37307838" cy="6537325"/>
          </a:xfrm>
        </p:spPr>
        <p:txBody>
          <a:bodyPr anchor="t"/>
          <a:lstStyle>
            <a:defPPr>
              <a:defRPr kern="1200"/>
            </a:defPPr>
            <a:lvl1pPr algn="l">
              <a:defRPr sz="4000" b="1" cap="all"/>
            </a:lvl1pPr>
          </a:lstStyle>
          <a:p>
            <a:r>
              <a:rPr lang="en-US"/>
              <a:t>Click to edit Master title style</a:t>
            </a:r>
          </a:p>
        </p:txBody>
      </p:sp>
      <p:sp>
        <p:nvSpPr>
          <p:cNvPr id="3" name="Text Placeholder 2"/>
          <p:cNvSpPr>
            <a:spLocks noGrp="1"/>
          </p:cNvSpPr>
          <p:nvPr>
            <p:ph type="body" idx="1"/>
          </p:nvPr>
        </p:nvSpPr>
        <p:spPr>
          <a:xfrm>
            <a:off x="3467100" y="13952538"/>
            <a:ext cx="37307838" cy="7200900"/>
          </a:xfrm>
        </p:spPr>
        <p:txBody>
          <a:bodyPr anchor="b"/>
          <a:lstStyle>
            <a:defPPr>
              <a:defRPr kern="1200"/>
            </a:defPPr>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3239EF23-2AC5-4B50-8C9E-5F8D49668A77}" type="slidenum">
              <a:rPr lang="en-US"/>
              <a:pPr>
                <a:defRPr/>
              </a:pPr>
              <a:t>‹#›</a:t>
            </a:fld>
            <a:endParaRPr lang="en-US"/>
          </a:p>
        </p:txBody>
      </p:sp>
    </p:spTree>
    <p:extLst>
      <p:ext uri="{BB962C8B-B14F-4D97-AF65-F5344CB8AC3E}">
        <p14:creationId xmlns:p14="http://schemas.microsoft.com/office/powerpoint/2010/main" val="448625829"/>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193925"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0" y="7680325"/>
            <a:ext cx="19675475" cy="21724938"/>
          </a:xfrm>
        </p:spPr>
        <p:txBody>
          <a:bodyPr/>
          <a:lstStyle>
            <a:defPPr>
              <a:defRPr kern="1200"/>
            </a:defPPr>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0BBD8762-0F6F-41F2-8E1E-C5EF6CE7FF3C}" type="slidenum">
              <a:rPr lang="en-US"/>
              <a:pPr>
                <a:defRPr/>
              </a:pPr>
              <a:t>‹#›</a:t>
            </a:fld>
            <a:endParaRPr lang="en-US"/>
          </a:p>
        </p:txBody>
      </p:sp>
    </p:spTree>
    <p:extLst>
      <p:ext uri="{BB962C8B-B14F-4D97-AF65-F5344CB8AC3E}">
        <p14:creationId xmlns:p14="http://schemas.microsoft.com/office/powerpoint/2010/main" val="330539722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2193925" y="7369175"/>
            <a:ext cx="19392900"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193925" y="10439400"/>
            <a:ext cx="19392900"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38" y="7369175"/>
            <a:ext cx="19400838" cy="3070225"/>
          </a:xfrm>
        </p:spPr>
        <p:txBody>
          <a:bodyPr anchor="b"/>
          <a:lstStyle>
            <a:defPPr>
              <a:defRPr kern="1200"/>
            </a:defPPr>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22296438" y="10439400"/>
            <a:ext cx="19400838" cy="18965862"/>
          </a:xfrm>
        </p:spPr>
        <p:txBody>
          <a:bodyPr/>
          <a:lstStyle>
            <a:defPPr>
              <a:defRPr kern="1200"/>
            </a:defPPr>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C245EB89-E1F0-4213-BFCF-D6A06A13C4EF}" type="slidenum">
              <a:rPr lang="en-US"/>
              <a:pPr>
                <a:defRPr/>
              </a:pPr>
              <a:t>‹#›</a:t>
            </a:fld>
            <a:endParaRPr lang="en-US"/>
          </a:p>
        </p:txBody>
      </p:sp>
    </p:spTree>
    <p:extLst>
      <p:ext uri="{BB962C8B-B14F-4D97-AF65-F5344CB8AC3E}">
        <p14:creationId xmlns:p14="http://schemas.microsoft.com/office/powerpoint/2010/main" val="4037356688"/>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F9249905-9305-4041-8B60-8DE0824E8129}" type="slidenum">
              <a:rPr lang="en-US"/>
              <a:pPr>
                <a:defRPr/>
              </a:pPr>
              <a:t>‹#›</a:t>
            </a:fld>
            <a:endParaRPr lang="en-US"/>
          </a:p>
        </p:txBody>
      </p:sp>
    </p:spTree>
    <p:extLst>
      <p:ext uri="{BB962C8B-B14F-4D97-AF65-F5344CB8AC3E}">
        <p14:creationId xmlns:p14="http://schemas.microsoft.com/office/powerpoint/2010/main" val="832812194"/>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97C76933-D99D-4DC1-BD09-1072CC92B201}" type="slidenum">
              <a:rPr lang="en-US"/>
              <a:pPr>
                <a:defRPr/>
              </a:pPr>
              <a:t>‹#›</a:t>
            </a:fld>
            <a:endParaRPr lang="en-US"/>
          </a:p>
        </p:txBody>
      </p:sp>
    </p:spTree>
    <p:extLst>
      <p:ext uri="{BB962C8B-B14F-4D97-AF65-F5344CB8AC3E}">
        <p14:creationId xmlns:p14="http://schemas.microsoft.com/office/powerpoint/2010/main" val="754493674"/>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5"/>
            <a:ext cx="14439900" cy="5576888"/>
          </a:xfrm>
        </p:spPr>
        <p:txBody>
          <a:bodyPr anchor="b"/>
          <a:lstStyle>
            <a:defPPr>
              <a:defRPr kern="1200"/>
            </a:defPPr>
            <a:lvl1pPr algn="l">
              <a:defRPr sz="2000" b="1"/>
            </a:lvl1pPr>
          </a:lstStyle>
          <a:p>
            <a:r>
              <a:rPr lang="en-US"/>
              <a:t>Click to edit Master title style</a:t>
            </a:r>
          </a:p>
        </p:txBody>
      </p:sp>
      <p:sp>
        <p:nvSpPr>
          <p:cNvPr id="3" name="Content Placeholder 2"/>
          <p:cNvSpPr>
            <a:spLocks noGrp="1"/>
          </p:cNvSpPr>
          <p:nvPr>
            <p:ph idx="1"/>
          </p:nvPr>
        </p:nvSpPr>
        <p:spPr>
          <a:xfrm>
            <a:off x="17160875" y="1311275"/>
            <a:ext cx="24536400" cy="28093988"/>
          </a:xfrm>
        </p:spPr>
        <p:txBody>
          <a:bodyPr/>
          <a:lstStyle>
            <a:defPPr>
              <a:defRPr kern="1200"/>
            </a:defPPr>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3"/>
            <a:ext cx="14439900" cy="22517100"/>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EF6A5529-8465-4E7D-9DB8-D374C51CD792}" type="slidenum">
              <a:rPr lang="en-US"/>
              <a:pPr>
                <a:defRPr/>
              </a:pPr>
              <a:t>‹#›</a:t>
            </a:fld>
            <a:endParaRPr lang="en-US"/>
          </a:p>
        </p:txBody>
      </p:sp>
    </p:spTree>
    <p:extLst>
      <p:ext uri="{BB962C8B-B14F-4D97-AF65-F5344CB8AC3E}">
        <p14:creationId xmlns:p14="http://schemas.microsoft.com/office/powerpoint/2010/main" val="382911112"/>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3" y="23042562"/>
            <a:ext cx="26335038" cy="2720975"/>
          </a:xfrm>
        </p:spPr>
        <p:txBody>
          <a:bodyPr anchor="b"/>
          <a:lstStyle>
            <a:defPPr>
              <a:defRPr kern="1200"/>
            </a:defPPr>
            <a:lvl1pPr algn="l">
              <a:defRPr sz="2000" b="1"/>
            </a:lvl1pPr>
          </a:lstStyle>
          <a:p>
            <a:r>
              <a:rPr lang="en-US"/>
              <a:t>Click to edit Master title style</a:t>
            </a:r>
          </a:p>
        </p:txBody>
      </p:sp>
      <p:sp>
        <p:nvSpPr>
          <p:cNvPr id="3" name="Picture Placeholder 2"/>
          <p:cNvSpPr>
            <a:spLocks noGrp="1"/>
          </p:cNvSpPr>
          <p:nvPr>
            <p:ph type="pic" idx="1"/>
          </p:nvPr>
        </p:nvSpPr>
        <p:spPr>
          <a:xfrm>
            <a:off x="8602663" y="2941638"/>
            <a:ext cx="26335038" cy="19750088"/>
          </a:xfrm>
        </p:spPr>
        <p:txBody>
          <a:bodyPr/>
          <a:lstStyle>
            <a:defPPr>
              <a:defRPr kern="1200"/>
            </a:defPPr>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8602663" y="25763538"/>
            <a:ext cx="26335038" cy="3862387"/>
          </a:xfrm>
        </p:spPr>
        <p:txBody>
          <a:bodyPr/>
          <a:lstStyle>
            <a:defPPr>
              <a:defRPr kern="1200"/>
            </a:defPPr>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3C022C6C-C3BF-4CE1-8842-0AC597017372}" type="slidenum">
              <a:rPr lang="en-US"/>
              <a:pPr>
                <a:defRPr/>
              </a:pPr>
              <a:t>‹#›</a:t>
            </a:fld>
            <a:endParaRPr lang="en-US"/>
          </a:p>
        </p:txBody>
      </p:sp>
    </p:spTree>
    <p:extLst>
      <p:ext uri="{BB962C8B-B14F-4D97-AF65-F5344CB8AC3E}">
        <p14:creationId xmlns:p14="http://schemas.microsoft.com/office/powerpoint/2010/main" val="2601810504"/>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8A277C51-0625-40F0-8A02-D153CC2D7029}" type="slidenum">
              <a:rPr lang="en-US"/>
              <a:pPr>
                <a:defRPr/>
              </a:pPr>
              <a:t>‹#›</a:t>
            </a:fld>
            <a:endParaRPr lang="en-US"/>
          </a:p>
        </p:txBody>
      </p:sp>
    </p:spTree>
    <p:extLst>
      <p:ext uri="{BB962C8B-B14F-4D97-AF65-F5344CB8AC3E}">
        <p14:creationId xmlns:p14="http://schemas.microsoft.com/office/powerpoint/2010/main" val="424285903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38" y="1317625"/>
            <a:ext cx="9875837" cy="28087638"/>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193925" y="1317625"/>
            <a:ext cx="29475112" cy="28087638"/>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6C9A1A37-7051-412A-8F35-8483CD8F48E7}" type="slidenum">
              <a:rPr lang="en-US"/>
              <a:pPr>
                <a:defRPr/>
              </a:pPr>
              <a:t>‹#›</a:t>
            </a:fld>
            <a:endParaRPr lang="en-US"/>
          </a:p>
        </p:txBody>
      </p:sp>
    </p:spTree>
    <p:extLst>
      <p:ext uri="{BB962C8B-B14F-4D97-AF65-F5344CB8AC3E}">
        <p14:creationId xmlns:p14="http://schemas.microsoft.com/office/powerpoint/2010/main" val="37091706"/>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3925" y="1317625"/>
            <a:ext cx="39503350"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193925" y="7680325"/>
            <a:ext cx="39503350" cy="217249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1939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defTabSz="4702175">
              <a:defRPr sz="7200" smtClean="0">
                <a:latin typeface="Arial" pitchFamily="34" charset="0"/>
              </a:defRPr>
            </a:lvl1pPr>
          </a:lstStyle>
          <a:p>
            <a:pPr>
              <a:defRPr/>
            </a:pPr>
            <a:endParaRPr lang="en-US"/>
          </a:p>
        </p:txBody>
      </p:sp>
      <p:sp>
        <p:nvSpPr>
          <p:cNvPr id="1029" name="Rectangle 5"/>
          <p:cNvSpPr>
            <a:spLocks noGrp="1" noChangeArrowheads="1"/>
          </p:cNvSpPr>
          <p:nvPr>
            <p:ph type="ftr" sz="quarter" idx="3"/>
          </p:nvPr>
        </p:nvSpPr>
        <p:spPr bwMode="auto">
          <a:xfrm>
            <a:off x="14995525" y="29976762"/>
            <a:ext cx="139001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ctr" defTabSz="4702175">
              <a:defRPr sz="7200" smtClean="0">
                <a:latin typeface="Arial" pitchFamily="34" charset="0"/>
              </a:defRPr>
            </a:lvl1pPr>
          </a:lstStyle>
          <a:p>
            <a:pPr>
              <a:defRPr/>
            </a:pPr>
            <a:endParaRPr lang="en-US"/>
          </a:p>
        </p:txBody>
      </p:sp>
      <p:sp>
        <p:nvSpPr>
          <p:cNvPr id="1030" name="Rectangle 6"/>
          <p:cNvSpPr>
            <a:spLocks noGrp="1" noChangeArrowheads="1"/>
          </p:cNvSpPr>
          <p:nvPr>
            <p:ph type="sldNum" sz="quarter" idx="4"/>
          </p:nvPr>
        </p:nvSpPr>
        <p:spPr bwMode="auto">
          <a:xfrm>
            <a:off x="31454725" y="29976762"/>
            <a:ext cx="10242550" cy="2286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70258" tIns="235129" rIns="470258" bIns="235129" anchor="t" anchorCtr="0" compatLnSpc="1">
            <a:prstTxWarp prst="textNoShape">
              <a:avLst/>
            </a:prstTxWarp>
          </a:bodyPr>
          <a:lstStyle>
            <a:defPPr>
              <a:defRPr kern="1200"/>
            </a:defPPr>
            <a:lvl1pPr algn="r" defTabSz="4702175">
              <a:defRPr sz="7200" smtClean="0">
                <a:latin typeface="Arial" pitchFamily="34" charset="0"/>
              </a:defRPr>
            </a:lvl1pPr>
          </a:lstStyle>
          <a:p>
            <a:pPr>
              <a:defRPr/>
            </a:pPr>
            <a:fld id="{25043CB6-A91D-4176-912B-555F54C38C99}" type="slidenum">
              <a:rPr lang="en-US"/>
              <a:pPr>
                <a:defRPr/>
              </a:pPr>
              <a:t>‹#›</a:t>
            </a:fld>
            <a:endParaRPr lang="en-US"/>
          </a:p>
        </p:txBody>
      </p:sp>
      <p:pic>
        <p:nvPicPr>
          <p:cNvPr id="1031" name="New picture"/>
          <p:cNvPicPr/>
          <p:nvPr/>
        </p:nvPicPr>
        <p:blipFill>
          <a:blip r:embed="rId13"/>
          <a:stretch>
            <a:fillRect/>
          </a:stretch>
        </p:blipFill>
        <p:spPr>
          <a:xfrm rot="16200000">
            <a:off x="-11074400" y="16459200"/>
            <a:ext cx="14274800" cy="3937000"/>
          </a:xfrm>
          <a:prstGeom prst="rect">
            <a:avLst/>
          </a:prstGeom>
        </p:spPr>
      </p:pic>
      <p:pic>
        <p:nvPicPr>
          <p:cNvPr id="1032" name="New picture"/>
          <p:cNvPicPr/>
          <p:nvPr/>
        </p:nvPicPr>
        <p:blipFill>
          <a:blip r:embed="rId13"/>
          <a:stretch>
            <a:fillRect/>
          </a:stretch>
        </p:blipFill>
        <p:spPr>
          <a:xfrm rot="5400000">
            <a:off x="40690800" y="16459200"/>
            <a:ext cx="14274800" cy="3937000"/>
          </a:xfrm>
          <a:prstGeom prst="rect">
            <a:avLst/>
          </a:prstGeom>
        </p:spPr>
      </p:pic>
      <p:pic>
        <p:nvPicPr>
          <p:cNvPr id="1033" name="New picture"/>
          <p:cNvPicPr/>
          <p:nvPr/>
        </p:nvPicPr>
        <p:blipFill>
          <a:blip r:embed="rId14"/>
          <a:stretch>
            <a:fillRect/>
          </a:stretch>
        </p:blipFill>
        <p:spPr>
          <a:xfrm>
            <a:off x="6946900" y="33426400"/>
            <a:ext cx="29997400" cy="1447800"/>
          </a:xfrm>
          <a:prstGeom prst="rect">
            <a:avLst/>
          </a:prstGeom>
        </p:spPr>
      </p:pic>
      <p:sp>
        <p:nvSpPr>
          <p:cNvPr id="1034" name="New shape"/>
          <p:cNvSpPr/>
          <p:nvPr/>
        </p:nvSpPr>
        <p:spPr>
          <a:xfrm>
            <a:off x="6946900" y="33997900"/>
            <a:ext cx="219456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conceptualizingcobalt  Size: 48x36</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4702175" rtl="0" eaLnBrk="0" fontAlgn="base" hangingPunct="0">
        <a:spcBef>
          <a:spcPct val="0"/>
        </a:spcBef>
        <a:spcAft>
          <a:spcPct val="0"/>
        </a:spcAft>
        <a:defRPr sz="22600">
          <a:solidFill>
            <a:schemeClr val="tx2"/>
          </a:solidFill>
          <a:latin typeface="+mj-lt"/>
          <a:ea typeface="+mj-ea"/>
          <a:cs typeface="+mj-cs"/>
        </a:defRPr>
      </a:lvl1pPr>
      <a:lvl2pPr algn="ctr" defTabSz="4702175" rtl="0" eaLnBrk="0" fontAlgn="base" hangingPunct="0">
        <a:spcBef>
          <a:spcPct val="0"/>
        </a:spcBef>
        <a:spcAft>
          <a:spcPct val="0"/>
        </a:spcAft>
        <a:defRPr sz="22600">
          <a:solidFill>
            <a:schemeClr val="tx2"/>
          </a:solidFill>
          <a:latin typeface="Arial" pitchFamily="34" charset="0"/>
        </a:defRPr>
      </a:lvl2pPr>
      <a:lvl3pPr algn="ctr" defTabSz="4702175" rtl="0" eaLnBrk="0" fontAlgn="base" hangingPunct="0">
        <a:spcBef>
          <a:spcPct val="0"/>
        </a:spcBef>
        <a:spcAft>
          <a:spcPct val="0"/>
        </a:spcAft>
        <a:defRPr sz="22600">
          <a:solidFill>
            <a:schemeClr val="tx2"/>
          </a:solidFill>
          <a:latin typeface="Arial" pitchFamily="34" charset="0"/>
        </a:defRPr>
      </a:lvl3pPr>
      <a:lvl4pPr algn="ctr" defTabSz="4702175" rtl="0" eaLnBrk="0" fontAlgn="base" hangingPunct="0">
        <a:spcBef>
          <a:spcPct val="0"/>
        </a:spcBef>
        <a:spcAft>
          <a:spcPct val="0"/>
        </a:spcAft>
        <a:defRPr sz="22600">
          <a:solidFill>
            <a:schemeClr val="tx2"/>
          </a:solidFill>
          <a:latin typeface="Arial" pitchFamily="34" charset="0"/>
        </a:defRPr>
      </a:lvl4pPr>
      <a:lvl5pPr algn="ctr" defTabSz="4702175" rtl="0" eaLnBrk="0" fontAlgn="base" hangingPunct="0">
        <a:spcBef>
          <a:spcPct val="0"/>
        </a:spcBef>
        <a:spcAft>
          <a:spcPct val="0"/>
        </a:spcAft>
        <a:defRPr sz="22600">
          <a:solidFill>
            <a:schemeClr val="tx2"/>
          </a:solidFill>
          <a:latin typeface="Arial" pitchFamily="34" charset="0"/>
        </a:defRPr>
      </a:lvl5pPr>
      <a:lvl6pPr marL="457200" algn="ctr" defTabSz="4702175" rtl="0" fontAlgn="base">
        <a:spcBef>
          <a:spcPct val="0"/>
        </a:spcBef>
        <a:spcAft>
          <a:spcPct val="0"/>
        </a:spcAft>
        <a:defRPr sz="22600">
          <a:solidFill>
            <a:schemeClr val="tx2"/>
          </a:solidFill>
          <a:latin typeface="Arial" pitchFamily="34" charset="0"/>
        </a:defRPr>
      </a:lvl6pPr>
      <a:lvl7pPr marL="914400" algn="ctr" defTabSz="4702175" rtl="0" fontAlgn="base">
        <a:spcBef>
          <a:spcPct val="0"/>
        </a:spcBef>
        <a:spcAft>
          <a:spcPct val="0"/>
        </a:spcAft>
        <a:defRPr sz="22600">
          <a:solidFill>
            <a:schemeClr val="tx2"/>
          </a:solidFill>
          <a:latin typeface="Arial" pitchFamily="34" charset="0"/>
        </a:defRPr>
      </a:lvl7pPr>
      <a:lvl8pPr marL="1371600" algn="ctr" defTabSz="4702175" rtl="0" fontAlgn="base">
        <a:spcBef>
          <a:spcPct val="0"/>
        </a:spcBef>
        <a:spcAft>
          <a:spcPct val="0"/>
        </a:spcAft>
        <a:defRPr sz="22600">
          <a:solidFill>
            <a:schemeClr val="tx2"/>
          </a:solidFill>
          <a:latin typeface="Arial" pitchFamily="34" charset="0"/>
        </a:defRPr>
      </a:lvl8pPr>
      <a:lvl9pPr marL="1828800" algn="ctr" defTabSz="4702175" rtl="0" fontAlgn="base">
        <a:spcBef>
          <a:spcPct val="0"/>
        </a:spcBef>
        <a:spcAft>
          <a:spcPct val="0"/>
        </a:spcAft>
        <a:defRPr sz="22600">
          <a:solidFill>
            <a:schemeClr val="tx2"/>
          </a:solidFill>
          <a:latin typeface="Arial" pitchFamily="34" charset="0"/>
        </a:defRPr>
      </a:lvl9pPr>
    </p:titleStyle>
    <p:bodyStyle>
      <a:defPPr>
        <a:defRPr kern="1200"/>
      </a:defPPr>
      <a:lvl1pPr marL="1763713" indent="-1763713" algn="l" defTabSz="4702175" rtl="0" eaLnBrk="0" fontAlgn="base" hangingPunct="0">
        <a:spcBef>
          <a:spcPct val="20000"/>
        </a:spcBef>
        <a:spcAft>
          <a:spcPct val="0"/>
        </a:spcAft>
        <a:buChar char="•"/>
        <a:defRPr sz="16500">
          <a:solidFill>
            <a:schemeClr val="tx1"/>
          </a:solidFill>
          <a:latin typeface="+mn-lt"/>
          <a:ea typeface="+mn-ea"/>
          <a:cs typeface="+mn-cs"/>
        </a:defRPr>
      </a:lvl1pPr>
      <a:lvl2pPr marL="3821113" indent="-1470025" algn="l" defTabSz="4702175" rtl="0" eaLnBrk="0" fontAlgn="base" hangingPunct="0">
        <a:spcBef>
          <a:spcPct val="20000"/>
        </a:spcBef>
        <a:spcAft>
          <a:spcPct val="0"/>
        </a:spcAft>
        <a:buChar char="–"/>
        <a:defRPr sz="14400">
          <a:solidFill>
            <a:schemeClr val="tx1"/>
          </a:solidFill>
          <a:latin typeface="+mn-lt"/>
        </a:defRPr>
      </a:lvl2pPr>
      <a:lvl3pPr marL="5878513" indent="-1176338" algn="l" defTabSz="4702175" rtl="0" eaLnBrk="0" fontAlgn="base" hangingPunct="0">
        <a:spcBef>
          <a:spcPct val="20000"/>
        </a:spcBef>
        <a:spcAft>
          <a:spcPct val="0"/>
        </a:spcAft>
        <a:buChar char="•"/>
        <a:defRPr sz="12300">
          <a:solidFill>
            <a:schemeClr val="tx1"/>
          </a:solidFill>
          <a:latin typeface="+mn-lt"/>
        </a:defRPr>
      </a:lvl3pPr>
      <a:lvl4pPr marL="8229600" indent="-1176338" algn="l" defTabSz="4702175" rtl="0" eaLnBrk="0" fontAlgn="base" hangingPunct="0">
        <a:spcBef>
          <a:spcPct val="20000"/>
        </a:spcBef>
        <a:spcAft>
          <a:spcPct val="0"/>
        </a:spcAft>
        <a:buChar char="–"/>
        <a:defRPr sz="10300">
          <a:solidFill>
            <a:schemeClr val="tx1"/>
          </a:solidFill>
          <a:latin typeface="+mn-lt"/>
        </a:defRPr>
      </a:lvl4pPr>
      <a:lvl5pPr marL="10580688" indent="-1174750" algn="l" defTabSz="4702175" rtl="0" eaLnBrk="0" fontAlgn="base" hangingPunct="0">
        <a:spcBef>
          <a:spcPct val="20000"/>
        </a:spcBef>
        <a:spcAft>
          <a:spcPct val="0"/>
        </a:spcAft>
        <a:buChar char="»"/>
        <a:defRPr sz="10300">
          <a:solidFill>
            <a:schemeClr val="tx1"/>
          </a:solidFill>
          <a:latin typeface="+mn-lt"/>
        </a:defRPr>
      </a:lvl5pPr>
      <a:lvl6pPr marL="11037888" indent="-1174750" algn="l" defTabSz="4702175" rtl="0" fontAlgn="base">
        <a:spcBef>
          <a:spcPct val="20000"/>
        </a:spcBef>
        <a:spcAft>
          <a:spcPct val="0"/>
        </a:spcAft>
        <a:buChar char="»"/>
        <a:defRPr sz="10300">
          <a:solidFill>
            <a:schemeClr val="tx1"/>
          </a:solidFill>
          <a:latin typeface="+mn-lt"/>
        </a:defRPr>
      </a:lvl6pPr>
      <a:lvl7pPr marL="11495088" indent="-1174750" algn="l" defTabSz="4702175" rtl="0" fontAlgn="base">
        <a:spcBef>
          <a:spcPct val="20000"/>
        </a:spcBef>
        <a:spcAft>
          <a:spcPct val="0"/>
        </a:spcAft>
        <a:buChar char="»"/>
        <a:defRPr sz="10300">
          <a:solidFill>
            <a:schemeClr val="tx1"/>
          </a:solidFill>
          <a:latin typeface="+mn-lt"/>
        </a:defRPr>
      </a:lvl7pPr>
      <a:lvl8pPr marL="11952288" indent="-1174750" algn="l" defTabSz="4702175" rtl="0" fontAlgn="base">
        <a:spcBef>
          <a:spcPct val="20000"/>
        </a:spcBef>
        <a:spcAft>
          <a:spcPct val="0"/>
        </a:spcAft>
        <a:buChar char="»"/>
        <a:defRPr sz="10300">
          <a:solidFill>
            <a:schemeClr val="tx1"/>
          </a:solidFill>
          <a:latin typeface="+mn-lt"/>
        </a:defRPr>
      </a:lvl8pPr>
      <a:lvl9pPr marL="12409488" indent="-1174750" algn="l" defTabSz="4702175" rtl="0" fontAlgn="base">
        <a:spcBef>
          <a:spcPct val="20000"/>
        </a:spcBef>
        <a:spcAft>
          <a:spcPct val="0"/>
        </a:spcAft>
        <a:buChar char="»"/>
        <a:defRPr sz="103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7.png"/><Relationship Id="rId3" Type="http://schemas.openxmlformats.org/officeDocument/2006/relationships/image" Target="../media/image4.png"/><Relationship Id="rId7" Type="http://schemas.openxmlformats.org/officeDocument/2006/relationships/image" Target="../media/image6.png"/><Relationship Id="rId12" Type="http://schemas.openxmlformats.org/officeDocument/2006/relationships/image" Target="../media/image11.png"/><Relationship Id="rId17" Type="http://schemas.openxmlformats.org/officeDocument/2006/relationships/image" Target="../media/image16.png"/><Relationship Id="rId2" Type="http://schemas.openxmlformats.org/officeDocument/2006/relationships/image" Target="../media/image3.png"/><Relationship Id="rId16" Type="http://schemas.openxmlformats.org/officeDocument/2006/relationships/image" Target="../media/image15.png"/><Relationship Id="rId1" Type="http://schemas.openxmlformats.org/officeDocument/2006/relationships/slideLayout" Target="../slideLayouts/slideLayout1.xml"/><Relationship Id="rId6" Type="http://schemas.microsoft.com/office/2007/relationships/hdphoto" Target="../media/hdphoto2.wdp"/><Relationship Id="rId11" Type="http://schemas.openxmlformats.org/officeDocument/2006/relationships/image" Target="../media/image10.png"/><Relationship Id="rId5" Type="http://schemas.openxmlformats.org/officeDocument/2006/relationships/image" Target="../media/image5.png"/><Relationship Id="rId15" Type="http://schemas.openxmlformats.org/officeDocument/2006/relationships/image" Target="../media/image14.png"/><Relationship Id="rId10" Type="http://schemas.openxmlformats.org/officeDocument/2006/relationships/image" Target="../media/image9.png"/><Relationship Id="rId4" Type="http://schemas.microsoft.com/office/2007/relationships/hdphoto" Target="../media/hdphoto1.wdp"/><Relationship Id="rId9" Type="http://schemas.openxmlformats.org/officeDocument/2006/relationships/image" Target="../media/image8.png"/><Relationship Id="rId1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D1E0E5"/>
            </a:gs>
          </a:gsLst>
          <a:lin ang="5400000" scaled="1"/>
        </a:gradFill>
        <a:effectLst/>
      </p:bgPr>
    </p:bg>
    <p:spTree>
      <p:nvGrpSpPr>
        <p:cNvPr id="1" name=""/>
        <p:cNvGrpSpPr/>
        <p:nvPr/>
      </p:nvGrpSpPr>
      <p:grpSpPr>
        <a:xfrm>
          <a:off x="0" y="0"/>
          <a:ext cx="0" cy="0"/>
          <a:chOff x="0" y="0"/>
          <a:chExt cx="0" cy="0"/>
        </a:xfrm>
      </p:grpSpPr>
      <p:sp>
        <p:nvSpPr>
          <p:cNvPr id="32" name="Rectangle 27"/>
          <p:cNvSpPr>
            <a:spLocks noChangeArrowheads="1"/>
          </p:cNvSpPr>
          <p:nvPr/>
        </p:nvSpPr>
        <p:spPr bwMode="auto">
          <a:xfrm>
            <a:off x="-48494" y="0"/>
            <a:ext cx="43939693" cy="6533048"/>
          </a:xfrm>
          <a:prstGeom prst="rect">
            <a:avLst/>
          </a:prstGeom>
          <a:gradFill>
            <a:gsLst>
              <a:gs pos="5000">
                <a:srgbClr val="235078"/>
              </a:gs>
              <a:gs pos="100000">
                <a:srgbClr val="1482A5"/>
              </a:gs>
            </a:gsLst>
            <a:lin ang="0" scaled="1"/>
          </a:gradFill>
          <a:ln>
            <a:noFill/>
          </a:ln>
        </p:spPr>
        <p:txBody>
          <a:bodyPr wrap="none" anchor="ctr"/>
          <a:lstStyle>
            <a:defPPr>
              <a:defRPr kern="1200"/>
            </a:defPPr>
          </a:lstStyle>
          <a:p>
            <a:endParaRPr lang="en-US"/>
          </a:p>
        </p:txBody>
      </p:sp>
      <p:sp>
        <p:nvSpPr>
          <p:cNvPr id="33" name="Rectangle 29"/>
          <p:cNvSpPr>
            <a:spLocks noChangeArrowheads="1"/>
          </p:cNvSpPr>
          <p:nvPr/>
        </p:nvSpPr>
        <p:spPr bwMode="auto">
          <a:xfrm>
            <a:off x="-48492" y="31447268"/>
            <a:ext cx="43939693" cy="1471130"/>
          </a:xfrm>
          <a:prstGeom prst="rect">
            <a:avLst/>
          </a:prstGeom>
          <a:gradFill>
            <a:gsLst>
              <a:gs pos="5000">
                <a:srgbClr val="235078"/>
              </a:gs>
              <a:gs pos="100000">
                <a:srgbClr val="1482A5"/>
              </a:gs>
            </a:gsLst>
            <a:lin ang="0" scaled="1"/>
          </a:gradFill>
          <a:ln>
            <a:noFill/>
          </a:ln>
        </p:spPr>
        <p:txBody>
          <a:bodyPr lIns="137160" tIns="68580" rIns="137160" bIns="68580" anchor="ctr"/>
          <a:lstStyle>
            <a:defPPr>
              <a:defRPr kern="1200"/>
            </a:defPPr>
          </a:lstStyle>
          <a:p>
            <a:pPr defTabSz="4703763"/>
            <a:endParaRPr lang="en-US">
              <a:solidFill>
                <a:schemeClr val="bg1"/>
              </a:solidFill>
              <a:sym typeface="Symbol" pitchFamily="18" charset="2"/>
            </a:endParaRPr>
          </a:p>
        </p:txBody>
      </p:sp>
      <p:sp>
        <p:nvSpPr>
          <p:cNvPr id="31" name="Title 11">
            <a:extLst>
              <a:ext uri="{FF2B5EF4-FFF2-40B4-BE49-F238E27FC236}">
                <a16:creationId xmlns:a16="http://schemas.microsoft.com/office/drawing/2014/main" id="{A3F6428D-1FA6-42BA-BAEA-3577E1620F6B}"/>
              </a:ext>
            </a:extLst>
          </p:cNvPr>
          <p:cNvSpPr txBox="1"/>
          <p:nvPr/>
        </p:nvSpPr>
        <p:spPr>
          <a:xfrm>
            <a:off x="1005840" y="792385"/>
            <a:ext cx="41148000" cy="2746935"/>
          </a:xfrm>
          <a:prstGeom prst="rect">
            <a:avLst/>
          </a:prstGeom>
        </p:spPr>
        <p:txBody>
          <a:bodyPr lIns="128016" tIns="64008" rIns="128016" bIns="64008"/>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pPr algn="l"/>
            <a:r>
              <a:rPr lang="en-US" sz="8800" dirty="0">
                <a:solidFill>
                  <a:schemeClr val="bg1"/>
                </a:solidFill>
                <a:latin typeface="Amaranth" panose="02000503050000020004" pitchFamily="2" charset="0"/>
              </a:rPr>
              <a:t>Knowledge Graphs for Solar Energy News Analysis</a:t>
            </a:r>
          </a:p>
        </p:txBody>
      </p:sp>
      <p:sp>
        <p:nvSpPr>
          <p:cNvPr id="35" name="Text Placeholder 16">
            <a:extLst>
              <a:ext uri="{FF2B5EF4-FFF2-40B4-BE49-F238E27FC236}">
                <a16:creationId xmlns:a16="http://schemas.microsoft.com/office/drawing/2014/main" id="{30C08963-BE29-4B96-B122-F15F02A3F7E3}"/>
              </a:ext>
            </a:extLst>
          </p:cNvPr>
          <p:cNvSpPr txBox="1"/>
          <p:nvPr/>
        </p:nvSpPr>
        <p:spPr>
          <a:xfrm>
            <a:off x="1005840" y="3778048"/>
            <a:ext cx="41148000" cy="2025170"/>
          </a:xfrm>
          <a:prstGeom prst="rect">
            <a:avLst/>
          </a:prstGeom>
        </p:spPr>
        <p:txBody>
          <a:bodyPr lIns="128016" tIns="64008" rIns="128016" bIns="64008">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r>
              <a:rPr lang="en-US" sz="5600" dirty="0">
                <a:solidFill>
                  <a:schemeClr val="bg1"/>
                </a:solidFill>
                <a:latin typeface="Titillium Web" panose="00000500000000000000" pitchFamily="2" charset="0"/>
              </a:rPr>
              <a:t>Rachel Kan, Chris Dunham</a:t>
            </a:r>
          </a:p>
          <a:p>
            <a:r>
              <a:rPr lang="en-US" sz="5600" dirty="0">
                <a:solidFill>
                  <a:schemeClr val="bg1"/>
                </a:solidFill>
                <a:latin typeface="Titillium Web" panose="00000500000000000000" pitchFamily="2" charset="0"/>
              </a:rPr>
              <a:t>Cornell University, Syracuse University</a:t>
            </a:r>
          </a:p>
        </p:txBody>
      </p:sp>
      <p:sp>
        <p:nvSpPr>
          <p:cNvPr id="42" name="Rectangle 5">
            <a:extLst>
              <a:ext uri="{FF2B5EF4-FFF2-40B4-BE49-F238E27FC236}">
                <a16:creationId xmlns:a16="http://schemas.microsoft.com/office/drawing/2014/main" id="{C08CCD14-6632-49E3-A19B-81E98D465D46}"/>
              </a:ext>
            </a:extLst>
          </p:cNvPr>
          <p:cNvSpPr>
            <a:spLocks noChangeArrowheads="1"/>
          </p:cNvSpPr>
          <p:nvPr/>
        </p:nvSpPr>
        <p:spPr bwMode="auto">
          <a:xfrm>
            <a:off x="33101279" y="7125252"/>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Limitations</a:t>
            </a:r>
          </a:p>
        </p:txBody>
      </p:sp>
      <p:sp>
        <p:nvSpPr>
          <p:cNvPr id="46" name="Rectangle 5">
            <a:extLst>
              <a:ext uri="{FF2B5EF4-FFF2-40B4-BE49-F238E27FC236}">
                <a16:creationId xmlns:a16="http://schemas.microsoft.com/office/drawing/2014/main" id="{88D57C6D-9B7C-4799-9EEF-AD493DF30EC4}"/>
              </a:ext>
            </a:extLst>
          </p:cNvPr>
          <p:cNvSpPr>
            <a:spLocks noChangeArrowheads="1"/>
          </p:cNvSpPr>
          <p:nvPr/>
        </p:nvSpPr>
        <p:spPr bwMode="auto">
          <a:xfrm>
            <a:off x="33093959" y="26135146"/>
            <a:ext cx="10102333"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a:solidFill>
                  <a:schemeClr val="bg1"/>
                </a:solidFill>
                <a:latin typeface="Amaranth" panose="02000503050000020004" pitchFamily="2" charset="0"/>
              </a:rPr>
              <a:t>Acknowledgements</a:t>
            </a:r>
          </a:p>
        </p:txBody>
      </p:sp>
      <p:sp>
        <p:nvSpPr>
          <p:cNvPr id="16" name="Rectangle 5">
            <a:extLst>
              <a:ext uri="{FF2B5EF4-FFF2-40B4-BE49-F238E27FC236}">
                <a16:creationId xmlns:a16="http://schemas.microsoft.com/office/drawing/2014/main" id="{620C51D2-3423-4C6C-A077-34B27F321D2D}"/>
              </a:ext>
            </a:extLst>
          </p:cNvPr>
          <p:cNvSpPr>
            <a:spLocks noChangeArrowheads="1"/>
          </p:cNvSpPr>
          <p:nvPr/>
        </p:nvSpPr>
        <p:spPr bwMode="auto">
          <a:xfrm>
            <a:off x="731521" y="7125059"/>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Introduction</a:t>
            </a:r>
          </a:p>
        </p:txBody>
      </p:sp>
      <p:sp>
        <p:nvSpPr>
          <p:cNvPr id="287" name="TextBox 286">
            <a:extLst>
              <a:ext uri="{FF2B5EF4-FFF2-40B4-BE49-F238E27FC236}">
                <a16:creationId xmlns:a16="http://schemas.microsoft.com/office/drawing/2014/main" id="{2C6E9F3E-3183-4639-8BD4-4D30DDD1A58D}"/>
              </a:ext>
            </a:extLst>
          </p:cNvPr>
          <p:cNvSpPr txBox="1"/>
          <p:nvPr/>
        </p:nvSpPr>
        <p:spPr>
          <a:xfrm>
            <a:off x="33086641" y="27130596"/>
            <a:ext cx="10073038" cy="2708434"/>
          </a:xfrm>
          <a:prstGeom prst="rect">
            <a:avLst/>
          </a:prstGeom>
          <a:solidFill>
            <a:srgbClr val="B4D3E2"/>
          </a:solidFill>
          <a:ln>
            <a:noFill/>
          </a:ln>
          <a:effectLst>
            <a:softEdge rad="0"/>
          </a:effectLst>
        </p:spPr>
        <p:txBody>
          <a:bodyPr wrap="square" lIns="274320" tIns="274320" rIns="274320" bIns="274320">
            <a:spAutoFit/>
          </a:bodyPr>
          <a:lstStyle>
            <a:defPPr>
              <a:defRPr lang="en-US" kern="1200"/>
            </a:defPPr>
            <a:lvl1pPr marL="342900" indent="-342900" algn="just" defTabSz="4703763" eaLnBrk="0" hangingPunct="0">
              <a:buFont typeface="Arial" panose="020B0604020202020204" pitchFamily="34" charset="0"/>
              <a:buChar char="•"/>
              <a:defRPr sz="28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0" indent="0">
              <a:buNone/>
            </a:pPr>
            <a:r>
              <a:rPr lang="en-US" dirty="0"/>
              <a:t>Special thanks to Prof. Chris Dunham for his guidance and support throughout this project, and to the Cornell Newsroom project for providing access to the underlying dataset. This work was conducted as part of the Syracuse University REU in Text Analytics for Social Scientists, funded by NSF ASSURE.</a:t>
            </a:r>
          </a:p>
        </p:txBody>
      </p:sp>
      <p:sp>
        <p:nvSpPr>
          <p:cNvPr id="12" name="Rectangle 5">
            <a:extLst>
              <a:ext uri="{FF2B5EF4-FFF2-40B4-BE49-F238E27FC236}">
                <a16:creationId xmlns:a16="http://schemas.microsoft.com/office/drawing/2014/main" id="{114A7476-6864-8128-A04C-407D201C8BD4}"/>
              </a:ext>
            </a:extLst>
          </p:cNvPr>
          <p:cNvSpPr>
            <a:spLocks noChangeArrowheads="1"/>
          </p:cNvSpPr>
          <p:nvPr/>
        </p:nvSpPr>
        <p:spPr bwMode="auto">
          <a:xfrm>
            <a:off x="33115927" y="16180146"/>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References</a:t>
            </a:r>
          </a:p>
        </p:txBody>
      </p:sp>
      <p:pic>
        <p:nvPicPr>
          <p:cNvPr id="15" name="Picture 14">
            <a:extLst>
              <a:ext uri="{FF2B5EF4-FFF2-40B4-BE49-F238E27FC236}">
                <a16:creationId xmlns:a16="http://schemas.microsoft.com/office/drawing/2014/main" id="{57FFC0EE-7EF3-426C-241E-F3889769AA8C}"/>
              </a:ext>
            </a:extLst>
          </p:cNvPr>
          <p:cNvPicPr>
            <a:picLocks noChangeAspect="1"/>
          </p:cNvPicPr>
          <p:nvPr/>
        </p:nvPicPr>
        <p:blipFill>
          <a:blip r:embed="rId2" cstate="print">
            <a:biLevel thresh="25000"/>
            <a:extLst>
              <a:ext uri="{28A0092B-C50C-407E-A947-70E740481C1C}">
                <a14:useLocalDpi xmlns:a14="http://schemas.microsoft.com/office/drawing/2010/main" val="0"/>
              </a:ext>
            </a:extLst>
          </a:blip>
          <a:stretch>
            <a:fillRect/>
          </a:stretch>
        </p:blipFill>
        <p:spPr>
          <a:xfrm>
            <a:off x="38537188" y="864109"/>
            <a:ext cx="4114808" cy="4133096"/>
          </a:xfrm>
          <a:prstGeom prst="rect">
            <a:avLst/>
          </a:prstGeom>
        </p:spPr>
      </p:pic>
      <p:pic>
        <p:nvPicPr>
          <p:cNvPr id="231" name="Picture 230">
            <a:extLst>
              <a:ext uri="{FF2B5EF4-FFF2-40B4-BE49-F238E27FC236}">
                <a16:creationId xmlns:a16="http://schemas.microsoft.com/office/drawing/2014/main" id="{8BAE6E6E-6724-4726-D4E8-7B1051042D0D}"/>
              </a:ext>
            </a:extLst>
          </p:cNvPr>
          <p:cNvPicPr>
            <a:picLocks noChangeAspect="1"/>
          </p:cNvPicPr>
          <p:nvPr/>
        </p:nvPicPr>
        <p:blipFill>
          <a:blip r:embed="rId3" cstate="print">
            <a:clrChange>
              <a:clrFrom>
                <a:srgbClr val="FFFFFF"/>
              </a:clrFrom>
              <a:clrTo>
                <a:srgbClr val="FFFFFF">
                  <a:alpha val="0"/>
                </a:srgbClr>
              </a:clrTo>
            </a:clrChange>
            <a:biLevel thresh="25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a:off x="33164889" y="864109"/>
            <a:ext cx="4133096" cy="4133096"/>
          </a:xfrm>
          <a:prstGeom prst="rect">
            <a:avLst/>
          </a:prstGeom>
        </p:spPr>
      </p:pic>
      <p:sp>
        <p:nvSpPr>
          <p:cNvPr id="244" name="Rectangle 5">
            <a:extLst>
              <a:ext uri="{FF2B5EF4-FFF2-40B4-BE49-F238E27FC236}">
                <a16:creationId xmlns:a16="http://schemas.microsoft.com/office/drawing/2014/main" id="{3287EB6F-AA5C-E342-30B0-E54767021E00}"/>
              </a:ext>
            </a:extLst>
          </p:cNvPr>
          <p:cNvSpPr>
            <a:spLocks noChangeArrowheads="1"/>
          </p:cNvSpPr>
          <p:nvPr/>
        </p:nvSpPr>
        <p:spPr bwMode="auto">
          <a:xfrm>
            <a:off x="709550" y="17507311"/>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Methodology</a:t>
            </a:r>
          </a:p>
        </p:txBody>
      </p:sp>
      <p:sp>
        <p:nvSpPr>
          <p:cNvPr id="246" name="Text Box 6">
            <a:extLst>
              <a:ext uri="{FF2B5EF4-FFF2-40B4-BE49-F238E27FC236}">
                <a16:creationId xmlns:a16="http://schemas.microsoft.com/office/drawing/2014/main" id="{2576A97F-56DB-4BBD-B2A5-6AF36265324E}"/>
              </a:ext>
            </a:extLst>
          </p:cNvPr>
          <p:cNvSpPr txBox="1">
            <a:spLocks noChangeArrowheads="1"/>
          </p:cNvSpPr>
          <p:nvPr/>
        </p:nvSpPr>
        <p:spPr bwMode="auto">
          <a:xfrm>
            <a:off x="33115927" y="8154671"/>
            <a:ext cx="10058400" cy="2708434"/>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342900" indent="-342900" algn="just">
              <a:buFont typeface="Arial" panose="020B0604020202020204" pitchFamily="34" charset="0"/>
              <a:buChar char="•"/>
            </a:pPr>
            <a:r>
              <a:rPr lang="en-US" sz="2800" dirty="0">
                <a:latin typeface="Titillium Web" panose="00000500000000000000" pitchFamily="2" charset="0"/>
              </a:rPr>
              <a:t>Articles are limited to 1998–2017, preventing analysis of recent trends (e.g., artificial intelligence).</a:t>
            </a:r>
          </a:p>
          <a:p>
            <a:pPr marL="342900" indent="-342900" algn="just">
              <a:buFont typeface="Arial" panose="020B0604020202020204" pitchFamily="34" charset="0"/>
              <a:buChar char="•"/>
            </a:pPr>
            <a:r>
              <a:rPr lang="en-US" sz="2800" dirty="0">
                <a:latin typeface="Titillium Web" panose="00000500000000000000" pitchFamily="2" charset="0"/>
              </a:rPr>
              <a:t>The dataset also includes only 38 major publications and excludes non-English sources, limiting coverage and diversity.</a:t>
            </a:r>
            <a:endParaRPr lang="en-US" sz="2800" dirty="0">
              <a:latin typeface="Titillium Web" panose="00000500000000000000" pitchFamily="2" charset="0"/>
              <a:ea typeface="Open Sans" panose="020B0606030504020204" pitchFamily="34" charset="0"/>
              <a:cs typeface="Open Sans" panose="020B0606030504020204" pitchFamily="34" charset="0"/>
            </a:endParaRPr>
          </a:p>
        </p:txBody>
      </p:sp>
      <p:sp>
        <p:nvSpPr>
          <p:cNvPr id="248" name="Rectangle 5">
            <a:extLst>
              <a:ext uri="{FF2B5EF4-FFF2-40B4-BE49-F238E27FC236}">
                <a16:creationId xmlns:a16="http://schemas.microsoft.com/office/drawing/2014/main" id="{8EB9A9AE-9CE2-CF79-0BF2-28093D349CFA}"/>
              </a:ext>
            </a:extLst>
          </p:cNvPr>
          <p:cNvSpPr>
            <a:spLocks noChangeArrowheads="1"/>
          </p:cNvSpPr>
          <p:nvPr/>
        </p:nvSpPr>
        <p:spPr bwMode="auto">
          <a:xfrm>
            <a:off x="33093959" y="11214056"/>
            <a:ext cx="10080367"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Future Work</a:t>
            </a:r>
          </a:p>
        </p:txBody>
      </p:sp>
      <p:sp>
        <p:nvSpPr>
          <p:cNvPr id="250" name="Text Box 6">
            <a:extLst>
              <a:ext uri="{FF2B5EF4-FFF2-40B4-BE49-F238E27FC236}">
                <a16:creationId xmlns:a16="http://schemas.microsoft.com/office/drawing/2014/main" id="{B54F5422-44CD-FE3F-1DF0-906EFB78BC57}"/>
              </a:ext>
            </a:extLst>
          </p:cNvPr>
          <p:cNvSpPr txBox="1">
            <a:spLocks noChangeArrowheads="1"/>
          </p:cNvSpPr>
          <p:nvPr/>
        </p:nvSpPr>
        <p:spPr bwMode="auto">
          <a:xfrm>
            <a:off x="33093960" y="12244318"/>
            <a:ext cx="10080366" cy="3570208"/>
          </a:xfrm>
          <a:prstGeom prst="rect">
            <a:avLst/>
          </a:prstGeom>
          <a:solidFill>
            <a:srgbClr val="B4D3E2"/>
          </a:solidFill>
          <a:ln>
            <a:noFill/>
          </a:ln>
          <a:effectLst>
            <a:softEdge rad="0"/>
          </a:effectLst>
        </p:spPr>
        <p:txBody>
          <a:bodyPr wrap="square"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Future work includes analyzing reporting patterns across news organizations (e.g., topics, geographic focus, and coverage).</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The same pipeline can also be applied to other topics using topic-specific filtering and network analysis.</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The solar energy knowledge graph may be used to ground LLM outputs in a compound AI system [3].</a:t>
            </a:r>
          </a:p>
        </p:txBody>
      </p:sp>
      <p:sp>
        <p:nvSpPr>
          <p:cNvPr id="2050" name="Text Box 6">
            <a:extLst>
              <a:ext uri="{FF2B5EF4-FFF2-40B4-BE49-F238E27FC236}">
                <a16:creationId xmlns:a16="http://schemas.microsoft.com/office/drawing/2014/main" id="{158581E5-9480-CD9F-29FE-7A61A2EDFD34}"/>
              </a:ext>
            </a:extLst>
          </p:cNvPr>
          <p:cNvSpPr txBox="1">
            <a:spLocks noChangeArrowheads="1"/>
          </p:cNvSpPr>
          <p:nvPr/>
        </p:nvSpPr>
        <p:spPr bwMode="auto">
          <a:xfrm>
            <a:off x="731517" y="8154671"/>
            <a:ext cx="10058400" cy="4431983"/>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global solar energy industry consists of interconnected organizations, technologies, policies, and markets that are difficult to analyze from unstructured information sources. This project uses OpenAI’s GPT-4o to extract entities and relationships from Cornell Newsroom articles [1] and construct a solar energy knowledge graph. Graph analysis and community detection are then applied to identify major themes, influential entities, and connections within the international solar energy ecosystem. </a:t>
            </a:r>
          </a:p>
        </p:txBody>
      </p:sp>
      <p:sp>
        <p:nvSpPr>
          <p:cNvPr id="2082" name="Rectangle 5">
            <a:extLst>
              <a:ext uri="{FF2B5EF4-FFF2-40B4-BE49-F238E27FC236}">
                <a16:creationId xmlns:a16="http://schemas.microsoft.com/office/drawing/2014/main" id="{8CB48CCE-3CAE-DC20-2BFF-ECDCC2D300F0}"/>
              </a:ext>
            </a:extLst>
          </p:cNvPr>
          <p:cNvSpPr>
            <a:spLocks noChangeArrowheads="1"/>
          </p:cNvSpPr>
          <p:nvPr/>
        </p:nvSpPr>
        <p:spPr bwMode="auto">
          <a:xfrm>
            <a:off x="727857" y="12948566"/>
            <a:ext cx="10058400" cy="784225"/>
          </a:xfrm>
          <a:prstGeom prst="rect">
            <a:avLst/>
          </a:prstGeom>
          <a:solidFill>
            <a:srgbClr val="1482A5"/>
          </a:solidFill>
          <a:ln>
            <a:noFill/>
          </a:ln>
          <a:effectLst/>
        </p:spPr>
        <p:txBody>
          <a:bodyPr wrap="none" lIns="274320" tIns="68580" rIns="274320" bIns="68580" anchor="ctr"/>
          <a:lstStyle>
            <a:defPPr>
              <a:defRPr kern="1200"/>
            </a:defPPr>
          </a:lstStyle>
          <a:p>
            <a:pPr defTabSz="4703763"/>
            <a:r>
              <a:rPr lang="en-US" sz="3600" dirty="0">
                <a:solidFill>
                  <a:schemeClr val="bg1"/>
                </a:solidFill>
                <a:latin typeface="Amaranth" panose="02000503050000020004" pitchFamily="2" charset="0"/>
              </a:rPr>
              <a:t>Questions</a:t>
            </a:r>
          </a:p>
        </p:txBody>
      </p:sp>
      <p:sp>
        <p:nvSpPr>
          <p:cNvPr id="2084" name="Text Box 6">
            <a:extLst>
              <a:ext uri="{FF2B5EF4-FFF2-40B4-BE49-F238E27FC236}">
                <a16:creationId xmlns:a16="http://schemas.microsoft.com/office/drawing/2014/main" id="{108CF4A8-4083-B251-ACBD-59B05429E293}"/>
              </a:ext>
            </a:extLst>
          </p:cNvPr>
          <p:cNvSpPr txBox="1">
            <a:spLocks noChangeArrowheads="1"/>
          </p:cNvSpPr>
          <p:nvPr/>
        </p:nvSpPr>
        <p:spPr bwMode="auto">
          <a:xfrm>
            <a:off x="727853" y="13978178"/>
            <a:ext cx="10058400" cy="3139321"/>
          </a:xfrm>
          <a:prstGeom prst="rect">
            <a:avLst/>
          </a:prstGeom>
          <a:solidFill>
            <a:srgbClr val="B4D3E2"/>
          </a:solidFill>
          <a:ln>
            <a:noFill/>
          </a:ln>
          <a:effectLst>
            <a:softEdge rad="0"/>
          </a:effectLst>
        </p:spPr>
        <p:txBody>
          <a:bodyPr lIns="274320" tIns="274320" rIns="274320" bIns="274320">
            <a:spAutoFit/>
          </a:bodyPr>
          <a:lstStyle>
            <a:defPPr>
              <a:defRPr kern="1200"/>
            </a:defPPr>
            <a:lvl1pPr defTabSz="4703763" eaLnBrk="0" hangingPunct="0">
              <a:defRPr sz="9300">
                <a:solidFill>
                  <a:schemeClr val="tx1"/>
                </a:solidFill>
                <a:latin typeface="Arial"/>
              </a:defRPr>
            </a:lvl1pPr>
            <a:lvl2pPr marL="742950" indent="-285750" defTabSz="4703763" eaLnBrk="0" hangingPunct="0">
              <a:defRPr sz="9300">
                <a:solidFill>
                  <a:schemeClr val="tx1"/>
                </a:solidFill>
                <a:latin typeface="Arial"/>
              </a:defRPr>
            </a:lvl2pPr>
            <a:lvl3pPr marL="1143000" indent="-228600" defTabSz="4703763" eaLnBrk="0" hangingPunct="0">
              <a:defRPr sz="9300">
                <a:solidFill>
                  <a:schemeClr val="tx1"/>
                </a:solidFill>
                <a:latin typeface="Arial"/>
              </a:defRPr>
            </a:lvl3pPr>
            <a:lvl4pPr marL="1600200" indent="-228600" defTabSz="4703763" eaLnBrk="0" hangingPunct="0">
              <a:defRPr sz="9300">
                <a:solidFill>
                  <a:schemeClr val="tx1"/>
                </a:solidFill>
                <a:latin typeface="Arial"/>
              </a:defRPr>
            </a:lvl4pPr>
            <a:lvl5pPr marL="2057400" indent="-228600" defTabSz="4703763" eaLnBrk="0" hangingPunct="0">
              <a:defRPr sz="9300">
                <a:solidFill>
                  <a:schemeClr val="tx1"/>
                </a:solidFill>
                <a:latin typeface="Arial"/>
              </a:defRPr>
            </a:lvl5pPr>
            <a:lvl6pPr marL="2514600" indent="-228600" defTabSz="4703763" eaLnBrk="0" fontAlgn="base" hangingPunct="0">
              <a:spcBef>
                <a:spcPct val="0"/>
              </a:spcBef>
              <a:spcAft>
                <a:spcPct val="0"/>
              </a:spcAft>
              <a:defRPr sz="9300">
                <a:solidFill>
                  <a:schemeClr val="tx1"/>
                </a:solidFill>
                <a:latin typeface="Arial"/>
              </a:defRPr>
            </a:lvl6pPr>
            <a:lvl7pPr marL="2971800" indent="-228600" defTabSz="4703763" eaLnBrk="0" fontAlgn="base" hangingPunct="0">
              <a:spcBef>
                <a:spcPct val="0"/>
              </a:spcBef>
              <a:spcAft>
                <a:spcPct val="0"/>
              </a:spcAft>
              <a:defRPr sz="9300">
                <a:solidFill>
                  <a:schemeClr val="tx1"/>
                </a:solidFill>
                <a:latin typeface="Arial"/>
              </a:defRPr>
            </a:lvl7pPr>
            <a:lvl8pPr marL="3429000" indent="-228600" defTabSz="4703763" eaLnBrk="0" fontAlgn="base" hangingPunct="0">
              <a:spcBef>
                <a:spcPct val="0"/>
              </a:spcBef>
              <a:spcAft>
                <a:spcPct val="0"/>
              </a:spcAft>
              <a:defRPr sz="9300">
                <a:solidFill>
                  <a:schemeClr val="tx1"/>
                </a:solidFill>
                <a:latin typeface="Arial"/>
              </a:defRPr>
            </a:lvl8pPr>
            <a:lvl9pPr marL="3886200" indent="-228600" defTabSz="4703763" eaLnBrk="0" fontAlgn="base" hangingPunct="0">
              <a:spcBef>
                <a:spcPct val="0"/>
              </a:spcBef>
              <a:spcAft>
                <a:spcPct val="0"/>
              </a:spcAft>
              <a:defRPr sz="9300">
                <a:solidFill>
                  <a:schemeClr val="tx1"/>
                </a:solidFill>
                <a:latin typeface="Arial"/>
              </a:defRPr>
            </a:lvl9pPr>
          </a:lstStyle>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How do solar energy industries interact across world borders? In particular, what types of entities connect these communities directly and indirectly?</a:t>
            </a:r>
          </a:p>
          <a:p>
            <a:pPr marL="457200" indent="-457200" algn="just">
              <a:buFont typeface="Arial" panose="020B0604020202020204" pitchFamily="34" charset="0"/>
              <a:buChar char="•"/>
            </a:pPr>
            <a:r>
              <a:rPr lang="en-US" sz="2800" dirty="0">
                <a:latin typeface="Titillium Web" panose="00000500000000000000" pitchFamily="2" charset="0"/>
                <a:ea typeface="Open Sans" panose="020B0606030504020204" pitchFamily="34" charset="0"/>
                <a:cs typeface="Open Sans" panose="020B0606030504020204" pitchFamily="34" charset="0"/>
              </a:rPr>
              <a:t>How can information be extracted from a large corpus of articles to analyze communities and relationships in the solar energy industry?</a:t>
            </a:r>
          </a:p>
        </p:txBody>
      </p:sp>
      <p:grpSp>
        <p:nvGrpSpPr>
          <p:cNvPr id="2110" name="Group 2109">
            <a:extLst>
              <a:ext uri="{FF2B5EF4-FFF2-40B4-BE49-F238E27FC236}">
                <a16:creationId xmlns:a16="http://schemas.microsoft.com/office/drawing/2014/main" id="{BD8C874A-8BB3-D0E9-5A84-B873AA0B41C8}"/>
              </a:ext>
            </a:extLst>
          </p:cNvPr>
          <p:cNvGrpSpPr/>
          <p:nvPr/>
        </p:nvGrpSpPr>
        <p:grpSpPr>
          <a:xfrm>
            <a:off x="812992" y="18990980"/>
            <a:ext cx="2835600" cy="3237742"/>
            <a:chOff x="11268654" y="17903864"/>
            <a:chExt cx="2835600" cy="3237742"/>
          </a:xfrm>
        </p:grpSpPr>
        <p:pic>
          <p:nvPicPr>
            <p:cNvPr id="2097" name="Picture 2096">
              <a:extLst>
                <a:ext uri="{FF2B5EF4-FFF2-40B4-BE49-F238E27FC236}">
                  <a16:creationId xmlns:a16="http://schemas.microsoft.com/office/drawing/2014/main" id="{0EF28273-BCDE-65EB-502C-9AD3EB1E718F}"/>
                </a:ext>
              </a:extLst>
            </p:cNvPr>
            <p:cNvPicPr>
              <a:picLocks noChangeAspect="1"/>
            </p:cNvPicPr>
            <p:nvPr/>
          </p:nvPicPr>
          <p:blipFill>
            <a:blip r:embed="rId5">
              <a:clrChange>
                <a:clrFrom>
                  <a:srgbClr val="FFFFFF"/>
                </a:clrFrom>
                <a:clrTo>
                  <a:srgbClr val="FFFFFF">
                    <a:alpha val="0"/>
                  </a:srgbClr>
                </a:clrTo>
              </a:clrChange>
              <a:duotone>
                <a:prstClr val="black"/>
                <a:schemeClr val="tx1">
                  <a:tint val="45000"/>
                  <a:satMod val="400000"/>
                </a:schemeClr>
              </a:duotone>
              <a:extLst>
                <a:ext uri="{BEBA8EAE-BF5A-486C-A8C5-ECC9F3942E4B}">
                  <a14:imgProps xmlns:a14="http://schemas.microsoft.com/office/drawing/2010/main">
                    <a14:imgLayer r:embed="rId6">
                      <a14:imgEffect>
                        <a14:saturation sat="0"/>
                      </a14:imgEffect>
                    </a14:imgLayer>
                  </a14:imgProps>
                </a:ext>
              </a:extLst>
            </a:blip>
            <a:srcRect l="7605" t="11537" r="6054" b="3460"/>
            <a:stretch>
              <a:fillRect/>
            </a:stretch>
          </p:blipFill>
          <p:spPr>
            <a:xfrm>
              <a:off x="11771387" y="17903864"/>
              <a:ext cx="1830133" cy="1297904"/>
            </a:xfrm>
            <a:prstGeom prst="rect">
              <a:avLst/>
            </a:prstGeom>
          </p:spPr>
        </p:pic>
        <p:sp>
          <p:nvSpPr>
            <p:cNvPr id="2100" name="TextBox 2099">
              <a:extLst>
                <a:ext uri="{FF2B5EF4-FFF2-40B4-BE49-F238E27FC236}">
                  <a16:creationId xmlns:a16="http://schemas.microsoft.com/office/drawing/2014/main" id="{E38D05A2-59A1-0A50-9247-E56AA9DFC299}"/>
                </a:ext>
              </a:extLst>
            </p:cNvPr>
            <p:cNvSpPr txBox="1"/>
            <p:nvPr/>
          </p:nvSpPr>
          <p:spPr>
            <a:xfrm>
              <a:off x="11268654" y="19571946"/>
              <a:ext cx="2835600" cy="1569660"/>
            </a:xfrm>
            <a:prstGeom prst="rect">
              <a:avLst/>
            </a:prstGeom>
            <a:noFill/>
          </p:spPr>
          <p:txBody>
            <a:bodyPr wrap="square" rtlCol="0">
              <a:spAutoFit/>
            </a:bodyPr>
            <a:lstStyle/>
            <a:p>
              <a:pPr algn="ctr"/>
              <a:r>
                <a:rPr lang="en-US" sz="2400" dirty="0">
                  <a:latin typeface="Titillium Web" panose="00000500000000000000" pitchFamily="2" charset="0"/>
                </a:rPr>
                <a:t>Newsroom dataset for shortened summaries and article links</a:t>
              </a:r>
            </a:p>
          </p:txBody>
        </p:sp>
      </p:grpSp>
      <p:grpSp>
        <p:nvGrpSpPr>
          <p:cNvPr id="258" name="Group 257">
            <a:extLst>
              <a:ext uri="{FF2B5EF4-FFF2-40B4-BE49-F238E27FC236}">
                <a16:creationId xmlns:a16="http://schemas.microsoft.com/office/drawing/2014/main" id="{812BCE9D-A7B5-0A6F-9B57-50AD6B541BE7}"/>
              </a:ext>
            </a:extLst>
          </p:cNvPr>
          <p:cNvGrpSpPr/>
          <p:nvPr/>
        </p:nvGrpSpPr>
        <p:grpSpPr>
          <a:xfrm>
            <a:off x="3975886" y="18777776"/>
            <a:ext cx="2897708" cy="2954550"/>
            <a:chOff x="14320811" y="16455917"/>
            <a:chExt cx="2897708" cy="2954550"/>
          </a:xfrm>
        </p:grpSpPr>
        <p:pic>
          <p:nvPicPr>
            <p:cNvPr id="2106" name="Picture 2105" descr="Paper stack - Free industry icons">
              <a:extLst>
                <a:ext uri="{FF2B5EF4-FFF2-40B4-BE49-F238E27FC236}">
                  <a16:creationId xmlns:a16="http://schemas.microsoft.com/office/drawing/2014/main" id="{27FABE1E-F52C-AFFA-F49B-1D8DD948AD42}"/>
                </a:ext>
              </a:extLst>
            </p:cNvPr>
            <p:cNvPicPr>
              <a:picLocks noChangeAspect="1"/>
            </p:cNvPicPr>
            <p:nvPr/>
          </p:nvPicPr>
          <p:blipFill>
            <a:blip r:embed="rId7"/>
            <a:stretch>
              <a:fillRect/>
            </a:stretch>
          </p:blipFill>
          <p:spPr>
            <a:xfrm>
              <a:off x="14921545" y="16455917"/>
              <a:ext cx="1734434" cy="1734434"/>
            </a:xfrm>
            <a:prstGeom prst="rect">
              <a:avLst/>
            </a:prstGeom>
          </p:spPr>
        </p:pic>
        <p:sp>
          <p:nvSpPr>
            <p:cNvPr id="2108" name="TextBox 2107">
              <a:extLst>
                <a:ext uri="{FF2B5EF4-FFF2-40B4-BE49-F238E27FC236}">
                  <a16:creationId xmlns:a16="http://schemas.microsoft.com/office/drawing/2014/main" id="{9DB26A26-6092-2340-3D1A-B6086E6B5D28}"/>
                </a:ext>
              </a:extLst>
            </p:cNvPr>
            <p:cNvSpPr txBox="1"/>
            <p:nvPr/>
          </p:nvSpPr>
          <p:spPr>
            <a:xfrm>
              <a:off x="14320811" y="18210138"/>
              <a:ext cx="2897708" cy="1200329"/>
            </a:xfrm>
            <a:prstGeom prst="rect">
              <a:avLst/>
            </a:prstGeom>
            <a:noFill/>
          </p:spPr>
          <p:txBody>
            <a:bodyPr wrap="square" rtlCol="0">
              <a:spAutoFit/>
            </a:bodyPr>
            <a:lstStyle/>
            <a:p>
              <a:pPr algn="ctr"/>
              <a:r>
                <a:rPr lang="en-US" sz="2400" dirty="0">
                  <a:latin typeface="Titillium Web" panose="00000500000000000000" pitchFamily="2" charset="0"/>
                </a:rPr>
                <a:t>Articles containing solar energy bigrams are extracted</a:t>
              </a:r>
            </a:p>
          </p:txBody>
        </p:sp>
      </p:grpSp>
      <p:grpSp>
        <p:nvGrpSpPr>
          <p:cNvPr id="257" name="Group 256">
            <a:extLst>
              <a:ext uri="{FF2B5EF4-FFF2-40B4-BE49-F238E27FC236}">
                <a16:creationId xmlns:a16="http://schemas.microsoft.com/office/drawing/2014/main" id="{06F85A82-1435-258F-B881-2721190A1B08}"/>
              </a:ext>
            </a:extLst>
          </p:cNvPr>
          <p:cNvGrpSpPr/>
          <p:nvPr/>
        </p:nvGrpSpPr>
        <p:grpSpPr>
          <a:xfrm>
            <a:off x="620639" y="23413236"/>
            <a:ext cx="2835600" cy="3227613"/>
            <a:chOff x="14172654" y="20844008"/>
            <a:chExt cx="2835600" cy="3227613"/>
          </a:xfrm>
        </p:grpSpPr>
        <p:pic>
          <p:nvPicPr>
            <p:cNvPr id="2109" name="Picture 2108" descr="Speech bubble - Free communications icons">
              <a:extLst>
                <a:ext uri="{FF2B5EF4-FFF2-40B4-BE49-F238E27FC236}">
                  <a16:creationId xmlns:a16="http://schemas.microsoft.com/office/drawing/2014/main" id="{E3DB4E16-F913-D331-060F-3243A3F6A9E8}"/>
                </a:ext>
              </a:extLst>
            </p:cNvPr>
            <p:cNvPicPr>
              <a:picLocks noChangeAspect="1"/>
            </p:cNvPicPr>
            <p:nvPr/>
          </p:nvPicPr>
          <p:blipFill>
            <a:blip r:embed="rId8"/>
            <a:stretch>
              <a:fillRect/>
            </a:stretch>
          </p:blipFill>
          <p:spPr>
            <a:xfrm>
              <a:off x="14972710" y="20844008"/>
              <a:ext cx="1620194" cy="1620194"/>
            </a:xfrm>
            <a:prstGeom prst="rect">
              <a:avLst/>
            </a:prstGeom>
          </p:spPr>
        </p:pic>
        <p:sp>
          <p:nvSpPr>
            <p:cNvPr id="256" name="TextBox 255">
              <a:extLst>
                <a:ext uri="{FF2B5EF4-FFF2-40B4-BE49-F238E27FC236}">
                  <a16:creationId xmlns:a16="http://schemas.microsoft.com/office/drawing/2014/main" id="{9C135B69-FC67-5297-FB9A-CA7D7E65FA94}"/>
                </a:ext>
              </a:extLst>
            </p:cNvPr>
            <p:cNvSpPr txBox="1"/>
            <p:nvPr/>
          </p:nvSpPr>
          <p:spPr>
            <a:xfrm>
              <a:off x="14172654" y="22501961"/>
              <a:ext cx="2835600" cy="1569660"/>
            </a:xfrm>
            <a:prstGeom prst="rect">
              <a:avLst/>
            </a:prstGeom>
            <a:noFill/>
          </p:spPr>
          <p:txBody>
            <a:bodyPr wrap="square" rtlCol="0">
              <a:spAutoFit/>
            </a:bodyPr>
            <a:lstStyle/>
            <a:p>
              <a:pPr algn="ctr"/>
              <a:r>
                <a:rPr lang="en-US" sz="2400" dirty="0">
                  <a:latin typeface="Titillium Web" panose="00000500000000000000" pitchFamily="2" charset="0"/>
                </a:rPr>
                <a:t>Bigrams containing the word “solar” are extracted from article summaries</a:t>
              </a:r>
            </a:p>
          </p:txBody>
        </p:sp>
      </p:grpSp>
      <p:cxnSp>
        <p:nvCxnSpPr>
          <p:cNvPr id="260" name="Straight Arrow Connector 259">
            <a:extLst>
              <a:ext uri="{FF2B5EF4-FFF2-40B4-BE49-F238E27FC236}">
                <a16:creationId xmlns:a16="http://schemas.microsoft.com/office/drawing/2014/main" id="{2B235113-9EA3-9818-9627-9289279F78F5}"/>
              </a:ext>
            </a:extLst>
          </p:cNvPr>
          <p:cNvCxnSpPr>
            <a:cxnSpLocks/>
            <a:stCxn id="2100" idx="2"/>
            <a:endCxn id="2109" idx="0"/>
          </p:cNvCxnSpPr>
          <p:nvPr/>
        </p:nvCxnSpPr>
        <p:spPr bwMode="auto">
          <a:xfrm>
            <a:off x="2230792" y="22228722"/>
            <a:ext cx="0" cy="1184514"/>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3" name="Straight Arrow Connector 262">
            <a:extLst>
              <a:ext uri="{FF2B5EF4-FFF2-40B4-BE49-F238E27FC236}">
                <a16:creationId xmlns:a16="http://schemas.microsoft.com/office/drawing/2014/main" id="{B28FDD5C-FD63-0FD7-8CF4-934854B3D552}"/>
              </a:ext>
            </a:extLst>
          </p:cNvPr>
          <p:cNvCxnSpPr>
            <a:cxnSpLocks/>
            <a:stCxn id="2109" idx="0"/>
            <a:endCxn id="2106" idx="1"/>
          </p:cNvCxnSpPr>
          <p:nvPr/>
        </p:nvCxnSpPr>
        <p:spPr bwMode="auto">
          <a:xfrm flipV="1">
            <a:off x="2230792" y="19644993"/>
            <a:ext cx="2345828" cy="3768243"/>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4" name="Group 273">
            <a:extLst>
              <a:ext uri="{FF2B5EF4-FFF2-40B4-BE49-F238E27FC236}">
                <a16:creationId xmlns:a16="http://schemas.microsoft.com/office/drawing/2014/main" id="{A4566E2F-C6DE-A4F4-233E-659F50EBAF37}"/>
              </a:ext>
            </a:extLst>
          </p:cNvPr>
          <p:cNvGrpSpPr/>
          <p:nvPr/>
        </p:nvGrpSpPr>
        <p:grpSpPr>
          <a:xfrm>
            <a:off x="7768834" y="18813122"/>
            <a:ext cx="2450893" cy="3467354"/>
            <a:chOff x="22927343" y="18842102"/>
            <a:chExt cx="2450893" cy="3467354"/>
          </a:xfrm>
        </p:grpSpPr>
        <p:pic>
          <p:nvPicPr>
            <p:cNvPr id="2105" name="Picture 2104" descr="Documents symbol - Free interface icons">
              <a:extLst>
                <a:ext uri="{FF2B5EF4-FFF2-40B4-BE49-F238E27FC236}">
                  <a16:creationId xmlns:a16="http://schemas.microsoft.com/office/drawing/2014/main" id="{A5B51A1F-98F9-2176-627A-3E3D14C157E2}"/>
                </a:ext>
              </a:extLst>
            </p:cNvPr>
            <p:cNvPicPr>
              <a:picLocks noChangeAspect="1"/>
            </p:cNvPicPr>
            <p:nvPr/>
          </p:nvPicPr>
          <p:blipFill>
            <a:blip r:embed="rId9"/>
            <a:stretch>
              <a:fillRect/>
            </a:stretch>
          </p:blipFill>
          <p:spPr>
            <a:xfrm>
              <a:off x="23151517" y="18842102"/>
              <a:ext cx="1669948" cy="1669948"/>
            </a:xfrm>
            <a:prstGeom prst="rect">
              <a:avLst/>
            </a:prstGeom>
          </p:spPr>
        </p:pic>
        <p:sp>
          <p:nvSpPr>
            <p:cNvPr id="273" name="TextBox 272">
              <a:extLst>
                <a:ext uri="{FF2B5EF4-FFF2-40B4-BE49-F238E27FC236}">
                  <a16:creationId xmlns:a16="http://schemas.microsoft.com/office/drawing/2014/main" id="{BAB6EF2E-E6B5-C552-DC4F-D087AD8CD3B1}"/>
                </a:ext>
              </a:extLst>
            </p:cNvPr>
            <p:cNvSpPr txBox="1"/>
            <p:nvPr/>
          </p:nvSpPr>
          <p:spPr>
            <a:xfrm>
              <a:off x="22927343" y="20739796"/>
              <a:ext cx="2450893" cy="1569660"/>
            </a:xfrm>
            <a:prstGeom prst="rect">
              <a:avLst/>
            </a:prstGeom>
            <a:noFill/>
          </p:spPr>
          <p:txBody>
            <a:bodyPr wrap="square" rtlCol="0">
              <a:spAutoFit/>
            </a:bodyPr>
            <a:lstStyle/>
            <a:p>
              <a:pPr algn="ctr"/>
              <a:r>
                <a:rPr lang="en-US" sz="2400" dirty="0">
                  <a:latin typeface="Titillium Web" panose="00000500000000000000" pitchFamily="2" charset="0"/>
                </a:rPr>
                <a:t>Articles with &lt;2 solar keyword mentions are removed</a:t>
              </a:r>
            </a:p>
          </p:txBody>
        </p:sp>
      </p:grpSp>
      <p:cxnSp>
        <p:nvCxnSpPr>
          <p:cNvPr id="283" name="Straight Arrow Connector 282">
            <a:extLst>
              <a:ext uri="{FF2B5EF4-FFF2-40B4-BE49-F238E27FC236}">
                <a16:creationId xmlns:a16="http://schemas.microsoft.com/office/drawing/2014/main" id="{A3996057-803F-B803-B727-6AB667E44114}"/>
              </a:ext>
            </a:extLst>
          </p:cNvPr>
          <p:cNvCxnSpPr>
            <a:cxnSpLocks/>
            <a:stCxn id="2106" idx="3"/>
            <a:endCxn id="2105" idx="1"/>
          </p:cNvCxnSpPr>
          <p:nvPr/>
        </p:nvCxnSpPr>
        <p:spPr bwMode="auto">
          <a:xfrm>
            <a:off x="6311054" y="19644993"/>
            <a:ext cx="1681954" cy="3103"/>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04" name="Group 303">
            <a:extLst>
              <a:ext uri="{FF2B5EF4-FFF2-40B4-BE49-F238E27FC236}">
                <a16:creationId xmlns:a16="http://schemas.microsoft.com/office/drawing/2014/main" id="{E13527E2-6FD1-D660-0653-10F05B23A89B}"/>
              </a:ext>
            </a:extLst>
          </p:cNvPr>
          <p:cNvGrpSpPr/>
          <p:nvPr/>
        </p:nvGrpSpPr>
        <p:grpSpPr>
          <a:xfrm>
            <a:off x="7001145" y="23284031"/>
            <a:ext cx="3634902" cy="3175218"/>
            <a:chOff x="20254643" y="16730905"/>
            <a:chExt cx="3634902" cy="3175218"/>
          </a:xfrm>
        </p:grpSpPr>
        <p:pic>
          <p:nvPicPr>
            <p:cNvPr id="288" name="Picture 287" descr="Ai Prompt Icons - Free SVG &amp; PNG Ai Prompt Images - Noun Project">
              <a:extLst>
                <a:ext uri="{FF2B5EF4-FFF2-40B4-BE49-F238E27FC236}">
                  <a16:creationId xmlns:a16="http://schemas.microsoft.com/office/drawing/2014/main" id="{40CCA662-27ED-015A-66DA-7B4286F69895}"/>
                </a:ext>
              </a:extLst>
            </p:cNvPr>
            <p:cNvPicPr>
              <a:picLocks noChangeAspect="1"/>
            </p:cNvPicPr>
            <p:nvPr/>
          </p:nvPicPr>
          <p:blipFill>
            <a:blip r:embed="rId10"/>
            <a:srcRect l="23039" t="23415" r="17332" b="26510"/>
            <a:stretch>
              <a:fillRect/>
            </a:stretch>
          </p:blipFill>
          <p:spPr>
            <a:xfrm>
              <a:off x="20832681" y="16730905"/>
              <a:ext cx="2217111" cy="1861816"/>
            </a:xfrm>
            <a:prstGeom prst="rect">
              <a:avLst/>
            </a:prstGeom>
          </p:spPr>
        </p:pic>
        <p:sp>
          <p:nvSpPr>
            <p:cNvPr id="290" name="TextBox 289">
              <a:extLst>
                <a:ext uri="{FF2B5EF4-FFF2-40B4-BE49-F238E27FC236}">
                  <a16:creationId xmlns:a16="http://schemas.microsoft.com/office/drawing/2014/main" id="{72124155-A261-8E21-4C4F-E9B51A56936A}"/>
                </a:ext>
              </a:extLst>
            </p:cNvPr>
            <p:cNvSpPr txBox="1"/>
            <p:nvPr/>
          </p:nvSpPr>
          <p:spPr>
            <a:xfrm>
              <a:off x="20254643" y="18705794"/>
              <a:ext cx="3634902" cy="1200329"/>
            </a:xfrm>
            <a:prstGeom prst="rect">
              <a:avLst/>
            </a:prstGeom>
            <a:noFill/>
          </p:spPr>
          <p:txBody>
            <a:bodyPr wrap="square" rtlCol="0">
              <a:spAutoFit/>
            </a:bodyPr>
            <a:lstStyle/>
            <a:p>
              <a:pPr algn="ctr"/>
              <a:r>
                <a:rPr lang="en-US" sz="2400" dirty="0">
                  <a:latin typeface="Titillium Web" panose="00000500000000000000" pitchFamily="2" charset="0"/>
                </a:rPr>
                <a:t>System prompt, user prompt, and JSON structured output schema</a:t>
              </a:r>
            </a:p>
          </p:txBody>
        </p:sp>
      </p:grpSp>
      <p:cxnSp>
        <p:nvCxnSpPr>
          <p:cNvPr id="306" name="Straight Arrow Connector 305">
            <a:extLst>
              <a:ext uri="{FF2B5EF4-FFF2-40B4-BE49-F238E27FC236}">
                <a16:creationId xmlns:a16="http://schemas.microsoft.com/office/drawing/2014/main" id="{5B28372D-E891-FEB2-E6A5-60EAC7C1C64F}"/>
              </a:ext>
            </a:extLst>
          </p:cNvPr>
          <p:cNvCxnSpPr>
            <a:cxnSpLocks/>
            <a:stCxn id="288" idx="1"/>
            <a:endCxn id="309" idx="3"/>
          </p:cNvCxnSpPr>
          <p:nvPr/>
        </p:nvCxnSpPr>
        <p:spPr bwMode="auto">
          <a:xfrm flipH="1">
            <a:off x="6295006" y="24214939"/>
            <a:ext cx="1284177" cy="4837"/>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13" name="Group 312">
            <a:extLst>
              <a:ext uri="{FF2B5EF4-FFF2-40B4-BE49-F238E27FC236}">
                <a16:creationId xmlns:a16="http://schemas.microsoft.com/office/drawing/2014/main" id="{8497C125-7D05-7140-0B37-FC745D9F0452}"/>
              </a:ext>
            </a:extLst>
          </p:cNvPr>
          <p:cNvGrpSpPr/>
          <p:nvPr/>
        </p:nvGrpSpPr>
        <p:grpSpPr>
          <a:xfrm>
            <a:off x="4136097" y="23294689"/>
            <a:ext cx="2895195" cy="3597027"/>
            <a:chOff x="28463317" y="16916737"/>
            <a:chExt cx="2895195" cy="3597027"/>
          </a:xfrm>
        </p:grpSpPr>
        <p:sp>
          <p:nvSpPr>
            <p:cNvPr id="296" name="TextBox 295">
              <a:extLst>
                <a:ext uri="{FF2B5EF4-FFF2-40B4-BE49-F238E27FC236}">
                  <a16:creationId xmlns:a16="http://schemas.microsoft.com/office/drawing/2014/main" id="{A930C0AB-DE67-14B3-9418-7A0DF987F7FD}"/>
                </a:ext>
              </a:extLst>
            </p:cNvPr>
            <p:cNvSpPr txBox="1"/>
            <p:nvPr/>
          </p:nvSpPr>
          <p:spPr>
            <a:xfrm>
              <a:off x="28463317" y="18944104"/>
              <a:ext cx="2895195" cy="1569660"/>
            </a:xfrm>
            <a:prstGeom prst="rect">
              <a:avLst/>
            </a:prstGeom>
            <a:noFill/>
          </p:spPr>
          <p:txBody>
            <a:bodyPr wrap="square" rtlCol="0">
              <a:spAutoFit/>
            </a:bodyPr>
            <a:lstStyle/>
            <a:p>
              <a:pPr algn="ctr"/>
              <a:r>
                <a:rPr lang="en-US" sz="2400" dirty="0">
                  <a:latin typeface="Titillium Web" panose="00000500000000000000" pitchFamily="2" charset="0"/>
                </a:rPr>
                <a:t>GPT-4o ingests prompts and articles to generate entities and relations</a:t>
              </a:r>
            </a:p>
          </p:txBody>
        </p:sp>
        <p:pic>
          <p:nvPicPr>
            <p:cNvPr id="309" name="Picture 308" descr="OpenAI Icon SVG Vector &amp; PNG Free Download | UXWing">
              <a:extLst>
                <a:ext uri="{FF2B5EF4-FFF2-40B4-BE49-F238E27FC236}">
                  <a16:creationId xmlns:a16="http://schemas.microsoft.com/office/drawing/2014/main" id="{1626FF61-59F5-E6EB-6B4B-E012DEEF0E7C}"/>
                </a:ext>
              </a:extLst>
            </p:cNvPr>
            <p:cNvPicPr>
              <a:picLocks noChangeAspect="1"/>
            </p:cNvPicPr>
            <p:nvPr/>
          </p:nvPicPr>
          <p:blipFill>
            <a:blip r:embed="rId11">
              <a:clrChange>
                <a:clrFrom>
                  <a:srgbClr val="FFFFFF"/>
                </a:clrFrom>
                <a:clrTo>
                  <a:srgbClr val="FFFFFF">
                    <a:alpha val="0"/>
                  </a:srgbClr>
                </a:clrTo>
              </a:clrChange>
            </a:blip>
            <a:stretch>
              <a:fillRect/>
            </a:stretch>
          </p:blipFill>
          <p:spPr>
            <a:xfrm>
              <a:off x="28772052" y="16916737"/>
              <a:ext cx="1850174" cy="1850174"/>
            </a:xfrm>
            <a:prstGeom prst="rect">
              <a:avLst/>
            </a:prstGeom>
          </p:spPr>
        </p:pic>
      </p:grpSp>
      <p:grpSp>
        <p:nvGrpSpPr>
          <p:cNvPr id="2117" name="Group 2116">
            <a:extLst>
              <a:ext uri="{FF2B5EF4-FFF2-40B4-BE49-F238E27FC236}">
                <a16:creationId xmlns:a16="http://schemas.microsoft.com/office/drawing/2014/main" id="{F75861A4-F34B-DA14-92D8-B47DF721B73F}"/>
              </a:ext>
            </a:extLst>
          </p:cNvPr>
          <p:cNvGrpSpPr/>
          <p:nvPr/>
        </p:nvGrpSpPr>
        <p:grpSpPr>
          <a:xfrm>
            <a:off x="5890583" y="27355948"/>
            <a:ext cx="4348599" cy="3203805"/>
            <a:chOff x="26603918" y="20295085"/>
            <a:chExt cx="4348599" cy="3203805"/>
          </a:xfrm>
        </p:grpSpPr>
        <p:pic>
          <p:nvPicPr>
            <p:cNvPr id="318" name="Picture 317" descr="Network - Free social icons">
              <a:extLst>
                <a:ext uri="{FF2B5EF4-FFF2-40B4-BE49-F238E27FC236}">
                  <a16:creationId xmlns:a16="http://schemas.microsoft.com/office/drawing/2014/main" id="{2B1944B9-83C2-FE5A-5122-51FA2D00C24C}"/>
                </a:ext>
              </a:extLst>
            </p:cNvPr>
            <p:cNvPicPr>
              <a:picLocks noChangeAspect="1"/>
            </p:cNvPicPr>
            <p:nvPr/>
          </p:nvPicPr>
          <p:blipFill>
            <a:blip r:embed="rId12"/>
            <a:stretch>
              <a:fillRect/>
            </a:stretch>
          </p:blipFill>
          <p:spPr>
            <a:xfrm>
              <a:off x="27966143" y="20295085"/>
              <a:ext cx="1911290" cy="1911290"/>
            </a:xfrm>
            <a:prstGeom prst="rect">
              <a:avLst/>
            </a:prstGeom>
          </p:spPr>
        </p:pic>
        <p:sp>
          <p:nvSpPr>
            <p:cNvPr id="2116" name="TextBox 2115">
              <a:extLst>
                <a:ext uri="{FF2B5EF4-FFF2-40B4-BE49-F238E27FC236}">
                  <a16:creationId xmlns:a16="http://schemas.microsoft.com/office/drawing/2014/main" id="{1236B173-6038-3219-8415-286584860D82}"/>
                </a:ext>
              </a:extLst>
            </p:cNvPr>
            <p:cNvSpPr txBox="1"/>
            <p:nvPr/>
          </p:nvSpPr>
          <p:spPr>
            <a:xfrm>
              <a:off x="26603918" y="22298561"/>
              <a:ext cx="4348599" cy="1200329"/>
            </a:xfrm>
            <a:prstGeom prst="rect">
              <a:avLst/>
            </a:prstGeom>
            <a:noFill/>
          </p:spPr>
          <p:txBody>
            <a:bodyPr wrap="square" rtlCol="0">
              <a:spAutoFit/>
            </a:bodyPr>
            <a:lstStyle/>
            <a:p>
              <a:pPr algn="ctr"/>
              <a:r>
                <a:rPr lang="en-US" sz="2400" dirty="0">
                  <a:latin typeface="Titillium Web" panose="00000500000000000000" pitchFamily="2" charset="0"/>
                </a:rPr>
                <a:t>Graphs generated using node and edge lists analyzed with CNM and connectivity</a:t>
              </a:r>
            </a:p>
          </p:txBody>
        </p:sp>
      </p:grpSp>
      <p:cxnSp>
        <p:nvCxnSpPr>
          <p:cNvPr id="2134" name="Straight Arrow Connector 2133">
            <a:extLst>
              <a:ext uri="{FF2B5EF4-FFF2-40B4-BE49-F238E27FC236}">
                <a16:creationId xmlns:a16="http://schemas.microsoft.com/office/drawing/2014/main" id="{F27642C4-57C4-4FF8-F9CA-E2BD3EE75537}"/>
              </a:ext>
            </a:extLst>
          </p:cNvPr>
          <p:cNvCxnSpPr>
            <a:cxnSpLocks/>
            <a:stCxn id="2097" idx="3"/>
            <a:endCxn id="2106" idx="1"/>
          </p:cNvCxnSpPr>
          <p:nvPr/>
        </p:nvCxnSpPr>
        <p:spPr bwMode="auto">
          <a:xfrm>
            <a:off x="3145858" y="19639932"/>
            <a:ext cx="1430762" cy="5061"/>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37" name="Straight Arrow Connector 2136">
            <a:extLst>
              <a:ext uri="{FF2B5EF4-FFF2-40B4-BE49-F238E27FC236}">
                <a16:creationId xmlns:a16="http://schemas.microsoft.com/office/drawing/2014/main" id="{5D995445-8DA6-7AAB-F459-FF943F036564}"/>
              </a:ext>
            </a:extLst>
          </p:cNvPr>
          <p:cNvCxnSpPr>
            <a:cxnSpLocks/>
            <a:stCxn id="309" idx="1"/>
            <a:endCxn id="2177" idx="0"/>
          </p:cNvCxnSpPr>
          <p:nvPr/>
        </p:nvCxnSpPr>
        <p:spPr bwMode="auto">
          <a:xfrm flipH="1">
            <a:off x="3206120" y="24219776"/>
            <a:ext cx="1238712" cy="3397138"/>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141" name="Straight Arrow Connector 2140">
            <a:extLst>
              <a:ext uri="{FF2B5EF4-FFF2-40B4-BE49-F238E27FC236}">
                <a16:creationId xmlns:a16="http://schemas.microsoft.com/office/drawing/2014/main" id="{B9FCB9C7-3483-7227-35E3-B3511C0AEA3C}"/>
              </a:ext>
            </a:extLst>
          </p:cNvPr>
          <p:cNvCxnSpPr>
            <a:cxnSpLocks/>
            <a:stCxn id="2177" idx="3"/>
            <a:endCxn id="318" idx="1"/>
          </p:cNvCxnSpPr>
          <p:nvPr/>
        </p:nvCxnSpPr>
        <p:spPr bwMode="auto">
          <a:xfrm>
            <a:off x="3900799" y="28311593"/>
            <a:ext cx="3352009" cy="0"/>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220" name="Group 2219">
            <a:extLst>
              <a:ext uri="{FF2B5EF4-FFF2-40B4-BE49-F238E27FC236}">
                <a16:creationId xmlns:a16="http://schemas.microsoft.com/office/drawing/2014/main" id="{1A378372-C31A-723F-7A66-E8622FBEF791}"/>
              </a:ext>
            </a:extLst>
          </p:cNvPr>
          <p:cNvGrpSpPr/>
          <p:nvPr/>
        </p:nvGrpSpPr>
        <p:grpSpPr>
          <a:xfrm>
            <a:off x="1404724" y="27616914"/>
            <a:ext cx="3629096" cy="2762037"/>
            <a:chOff x="1404724" y="27616914"/>
            <a:chExt cx="3629096" cy="2762037"/>
          </a:xfrm>
        </p:grpSpPr>
        <p:sp>
          <p:nvSpPr>
            <p:cNvPr id="294" name="TextBox 293">
              <a:extLst>
                <a:ext uri="{FF2B5EF4-FFF2-40B4-BE49-F238E27FC236}">
                  <a16:creationId xmlns:a16="http://schemas.microsoft.com/office/drawing/2014/main" id="{BD4CD622-3C1C-39A9-90A7-A39AE50DECD6}"/>
                </a:ext>
              </a:extLst>
            </p:cNvPr>
            <p:cNvSpPr txBox="1"/>
            <p:nvPr/>
          </p:nvSpPr>
          <p:spPr>
            <a:xfrm>
              <a:off x="1404724" y="29178622"/>
              <a:ext cx="3629096" cy="1200329"/>
            </a:xfrm>
            <a:prstGeom prst="rect">
              <a:avLst/>
            </a:prstGeom>
            <a:noFill/>
          </p:spPr>
          <p:txBody>
            <a:bodyPr wrap="square" rtlCol="0">
              <a:spAutoFit/>
            </a:bodyPr>
            <a:lstStyle/>
            <a:p>
              <a:pPr algn="ctr"/>
              <a:r>
                <a:rPr lang="en-US" sz="2400" dirty="0">
                  <a:latin typeface="Titillium Web" panose="00000500000000000000" pitchFamily="2" charset="0"/>
                </a:rPr>
                <a:t>Extracted JSON outputs are converted into node and edge tables</a:t>
              </a:r>
            </a:p>
          </p:txBody>
        </p:sp>
        <p:pic>
          <p:nvPicPr>
            <p:cNvPr id="2177" name="Picture 2176" descr="Json file - Free interface icons">
              <a:extLst>
                <a:ext uri="{FF2B5EF4-FFF2-40B4-BE49-F238E27FC236}">
                  <a16:creationId xmlns:a16="http://schemas.microsoft.com/office/drawing/2014/main" id="{1F1B718D-66CD-EE7D-B289-DBD9C033C0C6}"/>
                </a:ext>
              </a:extLst>
            </p:cNvPr>
            <p:cNvPicPr>
              <a:picLocks noChangeAspect="1"/>
            </p:cNvPicPr>
            <p:nvPr/>
          </p:nvPicPr>
          <p:blipFill>
            <a:blip r:embed="rId13"/>
            <a:stretch>
              <a:fillRect/>
            </a:stretch>
          </p:blipFill>
          <p:spPr>
            <a:xfrm>
              <a:off x="2511441" y="27616914"/>
              <a:ext cx="1389358" cy="1389358"/>
            </a:xfrm>
            <a:prstGeom prst="rect">
              <a:avLst/>
            </a:prstGeom>
          </p:spPr>
        </p:pic>
      </p:grpSp>
      <p:sp>
        <p:nvSpPr>
          <p:cNvPr id="2180" name="Rectangle 2179">
            <a:extLst>
              <a:ext uri="{FF2B5EF4-FFF2-40B4-BE49-F238E27FC236}">
                <a16:creationId xmlns:a16="http://schemas.microsoft.com/office/drawing/2014/main" id="{98FCC399-CA5D-4873-B45E-22BAE0F51D2E}"/>
              </a:ext>
            </a:extLst>
          </p:cNvPr>
          <p:cNvSpPr>
            <a:spLocks noChangeArrowheads="1"/>
          </p:cNvSpPr>
          <p:nvPr/>
        </p:nvSpPr>
        <p:spPr bwMode="auto">
          <a:xfrm>
            <a:off x="11512286" y="7125059"/>
            <a:ext cx="10058400" cy="784225"/>
          </a:xfrm>
          <a:prstGeom prst="rect">
            <a:avLst/>
          </a:prstGeom>
          <a:solidFill>
            <a:srgbClr val="1482A5"/>
          </a:solidFill>
          <a:ln>
            <a:noFill/>
          </a:ln>
          <a:effectLst/>
        </p:spPr>
        <p:txBody>
          <a:bodyPr wrap="none" lIns="274320" tIns="68580" rIns="274320" bIns="68580" anchor="ctr"/>
          <a:lstStyle>
            <a:defPPr>
              <a:defRPr lang="en-US" kern="1200"/>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a:lstStyle>
          <a:p>
            <a:pPr defTabSz="4703763"/>
            <a:r>
              <a:rPr lang="en-US" sz="3600" dirty="0">
                <a:solidFill>
                  <a:schemeClr val="bg1"/>
                </a:solidFill>
                <a:latin typeface="Amaranth" panose="02000503050000020004" pitchFamily="2" charset="0"/>
              </a:rPr>
              <a:t>Methodology</a:t>
            </a:r>
          </a:p>
        </p:txBody>
      </p:sp>
      <p:sp>
        <p:nvSpPr>
          <p:cNvPr id="2181" name="Text Box 6">
            <a:extLst>
              <a:ext uri="{FF2B5EF4-FFF2-40B4-BE49-F238E27FC236}">
                <a16:creationId xmlns:a16="http://schemas.microsoft.com/office/drawing/2014/main" id="{BAB40251-2E35-4623-A6BE-28130F737F03}"/>
              </a:ext>
            </a:extLst>
          </p:cNvPr>
          <p:cNvSpPr txBox="1">
            <a:spLocks noChangeArrowheads="1"/>
          </p:cNvSpPr>
          <p:nvPr/>
        </p:nvSpPr>
        <p:spPr bwMode="auto">
          <a:xfrm>
            <a:off x="11496595" y="8152153"/>
            <a:ext cx="10058400" cy="2708434"/>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algn="l" defTabSz="4703763" rtl="0" eaLnBrk="0" fontAlgn="base" hangingPunct="0">
              <a:spcBef>
                <a:spcPct val="0"/>
              </a:spcBef>
              <a:spcAft>
                <a:spcPct val="0"/>
              </a:spcAft>
              <a:defRPr sz="9300" kern="1200">
                <a:solidFill>
                  <a:schemeClr val="tx1"/>
                </a:solidFill>
                <a:latin typeface="Arial"/>
                <a:ea typeface="+mn-ea"/>
                <a:cs typeface="+mn-cs"/>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Data Collection/Filtering</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Cornell Newsroom articles were screened using domain-specific solar energy keywords and scraped for full-text analysis. Articles with fewer than two solar keyword mentions were excluded, reducing GPT-4o token costs (Figure 1).</a:t>
            </a:r>
          </a:p>
        </p:txBody>
      </p:sp>
      <p:sp>
        <p:nvSpPr>
          <p:cNvPr id="2182" name="Rectangle 2181">
            <a:extLst>
              <a:ext uri="{FF2B5EF4-FFF2-40B4-BE49-F238E27FC236}">
                <a16:creationId xmlns:a16="http://schemas.microsoft.com/office/drawing/2014/main" id="{991B9DF0-7DD4-4C17-94B6-6C493D1C390D}"/>
              </a:ext>
            </a:extLst>
          </p:cNvPr>
          <p:cNvSpPr>
            <a:spLocks noChangeArrowheads="1"/>
          </p:cNvSpPr>
          <p:nvPr/>
        </p:nvSpPr>
        <p:spPr bwMode="auto">
          <a:xfrm>
            <a:off x="22302207" y="7125059"/>
            <a:ext cx="10058400" cy="784225"/>
          </a:xfrm>
          <a:prstGeom prst="rect">
            <a:avLst/>
          </a:prstGeom>
          <a:solidFill>
            <a:srgbClr val="1482A5"/>
          </a:solidFill>
          <a:ln>
            <a:noFill/>
          </a:ln>
          <a:effectLst/>
        </p:spPr>
        <p:txBody>
          <a:bodyPr wrap="none" lIns="274320" tIns="68580" rIns="274320" bIns="68580" anchor="ctr"/>
          <a:lstStyle>
            <a:defPPr>
              <a:defRPr lang="en-US" kern="1200"/>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a:lstStyle>
          <a:p>
            <a:pPr defTabSz="4703763"/>
            <a:r>
              <a:rPr lang="en-US" sz="3600">
                <a:solidFill>
                  <a:schemeClr val="bg1"/>
                </a:solidFill>
                <a:latin typeface="Amaranth" panose="02000503050000020004" pitchFamily="2" charset="0"/>
              </a:rPr>
              <a:t>Results</a:t>
            </a:r>
          </a:p>
        </p:txBody>
      </p:sp>
      <p:sp>
        <p:nvSpPr>
          <p:cNvPr id="2183" name="Text Box 6">
            <a:extLst>
              <a:ext uri="{FF2B5EF4-FFF2-40B4-BE49-F238E27FC236}">
                <a16:creationId xmlns:a16="http://schemas.microsoft.com/office/drawing/2014/main" id="{62D65E41-7BC1-4B4D-9C1B-6ED3152D12D0}"/>
              </a:ext>
            </a:extLst>
          </p:cNvPr>
          <p:cNvSpPr txBox="1">
            <a:spLocks noChangeArrowheads="1"/>
          </p:cNvSpPr>
          <p:nvPr/>
        </p:nvSpPr>
        <p:spPr bwMode="auto">
          <a:xfrm>
            <a:off x="22298937" y="19940437"/>
            <a:ext cx="10058400" cy="1846659"/>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algn="l" defTabSz="4703763" rtl="0" eaLnBrk="0" fontAlgn="base" hangingPunct="0">
              <a:spcBef>
                <a:spcPct val="0"/>
              </a:spcBef>
              <a:spcAft>
                <a:spcPct val="0"/>
              </a:spcAft>
              <a:defRPr sz="2400" kern="1200">
                <a:solidFill>
                  <a:schemeClr val="tx1"/>
                </a:solidFill>
                <a:latin typeface="Titillium Web" panose="00000500000000000000" pitchFamily="2" charset="0"/>
                <a:ea typeface="Open Sans" panose="020B0606030504020204" pitchFamily="34" charset="0"/>
                <a:cs typeface="Open Sans" panose="020B0606030504020204" pitchFamily="34" charset="0"/>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just"/>
            <a:r>
              <a:rPr lang="en-US" sz="2800" dirty="0"/>
              <a:t>CNM revealed that clusters formed primarily around geographic regions and areas of focus (e.g. technology development, policy, manufacturing, and international collaborations).</a:t>
            </a:r>
          </a:p>
        </p:txBody>
      </p:sp>
      <p:sp>
        <p:nvSpPr>
          <p:cNvPr id="2186" name="Text Box 6">
            <a:extLst>
              <a:ext uri="{FF2B5EF4-FFF2-40B4-BE49-F238E27FC236}">
                <a16:creationId xmlns:a16="http://schemas.microsoft.com/office/drawing/2014/main" id="{F8EAF608-3616-200D-13DA-E3D715DE2FCA}"/>
              </a:ext>
            </a:extLst>
          </p:cNvPr>
          <p:cNvSpPr txBox="1">
            <a:spLocks noChangeArrowheads="1"/>
          </p:cNvSpPr>
          <p:nvPr/>
        </p:nvSpPr>
        <p:spPr bwMode="auto">
          <a:xfrm>
            <a:off x="11497640" y="19042325"/>
            <a:ext cx="10058400" cy="2708434"/>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algn="l" defTabSz="4703763" rtl="0" eaLnBrk="0" fontAlgn="base" hangingPunct="0">
              <a:spcBef>
                <a:spcPct val="0"/>
              </a:spcBef>
              <a:spcAft>
                <a:spcPct val="0"/>
              </a:spcAft>
              <a:defRPr sz="9300" kern="1200">
                <a:solidFill>
                  <a:schemeClr val="tx1"/>
                </a:solidFill>
                <a:latin typeface="Arial"/>
                <a:ea typeface="+mn-ea"/>
                <a:cs typeface="+mn-cs"/>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Knowledge Graph Construction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Extracted JSON outputs were converted into a knowledge graph with 4,002 nodes and 5,127 edges. Low-degree nodes were removed, similar entities merged with fuzzy matching and transformer-based similarity, and node size scaled by degree.</a:t>
            </a:r>
          </a:p>
        </p:txBody>
      </p:sp>
      <p:sp>
        <p:nvSpPr>
          <p:cNvPr id="2187" name="Text Box 6">
            <a:extLst>
              <a:ext uri="{FF2B5EF4-FFF2-40B4-BE49-F238E27FC236}">
                <a16:creationId xmlns:a16="http://schemas.microsoft.com/office/drawing/2014/main" id="{5DAD8F8A-EF61-4280-03BC-FDEB19449874}"/>
              </a:ext>
            </a:extLst>
          </p:cNvPr>
          <p:cNvSpPr txBox="1">
            <a:spLocks noChangeArrowheads="1"/>
          </p:cNvSpPr>
          <p:nvPr/>
        </p:nvSpPr>
        <p:spPr bwMode="auto">
          <a:xfrm>
            <a:off x="11515947" y="15137057"/>
            <a:ext cx="10058400" cy="3570208"/>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algn="l" defTabSz="4703763" rtl="0" eaLnBrk="0" fontAlgn="base" hangingPunct="0">
              <a:spcBef>
                <a:spcPct val="0"/>
              </a:spcBef>
              <a:spcAft>
                <a:spcPct val="0"/>
              </a:spcAft>
              <a:defRPr sz="9300" kern="1200">
                <a:solidFill>
                  <a:schemeClr val="tx1"/>
                </a:solidFill>
                <a:latin typeface="Arial"/>
                <a:ea typeface="+mn-ea"/>
                <a:cs typeface="+mn-cs"/>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LLM-Based Information Extraction</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GPT-4o was used to extract entities and semantic relationships from solar energy articles, as LLMs outperform traditional methods on network extraction tasks [2]. A structured prompting framework (system prompt, user prompt, and JSON schema) defined 8 node types and 19 edge types while optimizing token usage.</a:t>
            </a:r>
          </a:p>
        </p:txBody>
      </p:sp>
      <p:sp>
        <p:nvSpPr>
          <p:cNvPr id="2188" name="Text Box 6">
            <a:extLst>
              <a:ext uri="{FF2B5EF4-FFF2-40B4-BE49-F238E27FC236}">
                <a16:creationId xmlns:a16="http://schemas.microsoft.com/office/drawing/2014/main" id="{7FFDF291-C30B-7440-51D0-7CB74BA6F891}"/>
              </a:ext>
            </a:extLst>
          </p:cNvPr>
          <p:cNvSpPr txBox="1">
            <a:spLocks noChangeArrowheads="1"/>
          </p:cNvSpPr>
          <p:nvPr/>
        </p:nvSpPr>
        <p:spPr bwMode="auto">
          <a:xfrm>
            <a:off x="11497640" y="22106692"/>
            <a:ext cx="10058400" cy="2708434"/>
          </a:xfrm>
          <a:prstGeom prst="rect">
            <a:avLst/>
          </a:prstGeom>
          <a:solidFill>
            <a:srgbClr val="B4D3E2"/>
          </a:solidFill>
          <a:ln>
            <a:noFill/>
          </a:ln>
          <a:effectLst>
            <a:softEdge rad="0"/>
          </a:effectLst>
        </p:spPr>
        <p:txBody>
          <a:bodyPr lIns="274320" tIns="274320" rIns="274320" bIns="274320">
            <a:spAutoFit/>
          </a:bodyPr>
          <a:lstStyle>
            <a:defPPr>
              <a:defRPr lang="en-US" kern="1200"/>
            </a:defPPr>
            <a:lvl1pPr algn="l" defTabSz="4703763" rtl="0" eaLnBrk="0" fontAlgn="base" hangingPunct="0">
              <a:spcBef>
                <a:spcPct val="0"/>
              </a:spcBef>
              <a:spcAft>
                <a:spcPct val="0"/>
              </a:spcAft>
              <a:defRPr sz="9300" kern="1200">
                <a:solidFill>
                  <a:schemeClr val="tx1"/>
                </a:solidFill>
                <a:latin typeface="Arial"/>
                <a:ea typeface="+mn-ea"/>
                <a:cs typeface="+mn-cs"/>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ctr"/>
            <a:r>
              <a:rPr lang="en-US" sz="2800" dirty="0">
                <a:latin typeface="Titillium Web" panose="00000500000000000000" pitchFamily="2" charset="0"/>
                <a:ea typeface="Open Sans" panose="020B0606030504020204" pitchFamily="34" charset="0"/>
                <a:cs typeface="Open Sans" panose="020B0606030504020204" pitchFamily="34" charset="0"/>
              </a:rPr>
              <a:t>Network Analysis</a:t>
            </a:r>
          </a:p>
          <a:p>
            <a:pPr algn="just"/>
            <a:r>
              <a:rPr lang="en-US" sz="2800" dirty="0">
                <a:latin typeface="Titillium Web" panose="00000500000000000000" pitchFamily="2" charset="0"/>
                <a:ea typeface="Open Sans" panose="020B0606030504020204" pitchFamily="34" charset="0"/>
                <a:cs typeface="Open Sans" panose="020B0606030504020204" pitchFamily="34" charset="0"/>
              </a:rPr>
              <a:t>The greedy modularity maximization/</a:t>
            </a:r>
            <a:r>
              <a:rPr lang="en-US" sz="2800" dirty="0" err="1">
                <a:latin typeface="Titillium Web" panose="00000500000000000000" pitchFamily="2" charset="0"/>
                <a:ea typeface="Open Sans" panose="020B0606030504020204" pitchFamily="34" charset="0"/>
                <a:cs typeface="Open Sans" panose="020B0606030504020204" pitchFamily="34" charset="0"/>
              </a:rPr>
              <a:t>Clauset</a:t>
            </a:r>
            <a:r>
              <a:rPr lang="en-US" sz="2800" dirty="0">
                <a:latin typeface="Titillium Web" panose="00000500000000000000" pitchFamily="2" charset="0"/>
                <a:ea typeface="Open Sans" panose="020B0606030504020204" pitchFamily="34" charset="0"/>
                <a:cs typeface="Open Sans" panose="020B0606030504020204" pitchFamily="34" charset="0"/>
              </a:rPr>
              <a:t>-Newman-Moore (CNM) community detection algorithm was applied to identify groups of closely connected entities. 408 communities were found, of which 31 had over 10 member entities. </a:t>
            </a:r>
          </a:p>
        </p:txBody>
      </p:sp>
      <p:grpSp>
        <p:nvGrpSpPr>
          <p:cNvPr id="2203" name="Group 2202">
            <a:extLst>
              <a:ext uri="{FF2B5EF4-FFF2-40B4-BE49-F238E27FC236}">
                <a16:creationId xmlns:a16="http://schemas.microsoft.com/office/drawing/2014/main" id="{BCA4D9D1-070E-8208-23FE-31F9342648F3}"/>
              </a:ext>
            </a:extLst>
          </p:cNvPr>
          <p:cNvGrpSpPr/>
          <p:nvPr/>
        </p:nvGrpSpPr>
        <p:grpSpPr>
          <a:xfrm>
            <a:off x="22309382" y="8152149"/>
            <a:ext cx="10037510" cy="10549984"/>
            <a:chOff x="22227262" y="18466877"/>
            <a:chExt cx="9139468" cy="9958563"/>
          </a:xfrm>
        </p:grpSpPr>
        <p:pic>
          <p:nvPicPr>
            <p:cNvPr id="2205" name="Picture 2204">
              <a:extLst>
                <a:ext uri="{FF2B5EF4-FFF2-40B4-BE49-F238E27FC236}">
                  <a16:creationId xmlns:a16="http://schemas.microsoft.com/office/drawing/2014/main" id="{562B6D9C-DDD3-4929-5FDE-80BDB426CF81}"/>
                </a:ext>
              </a:extLst>
            </p:cNvPr>
            <p:cNvPicPr>
              <a:picLocks noChangeAspect="1"/>
            </p:cNvPicPr>
            <p:nvPr/>
          </p:nvPicPr>
          <p:blipFill>
            <a:blip r:embed="rId14">
              <a:clrChange>
                <a:clrFrom>
                  <a:srgbClr val="FFFFFF"/>
                </a:clrFrom>
                <a:clrTo>
                  <a:srgbClr val="FFFFFF">
                    <a:alpha val="0"/>
                  </a:srgbClr>
                </a:clrTo>
              </a:clrChange>
            </a:blip>
            <a:stretch>
              <a:fillRect/>
            </a:stretch>
          </p:blipFill>
          <p:spPr>
            <a:xfrm>
              <a:off x="22227262" y="18541398"/>
              <a:ext cx="9139468" cy="7068807"/>
            </a:xfrm>
            <a:prstGeom prst="rect">
              <a:avLst/>
            </a:prstGeom>
          </p:spPr>
        </p:pic>
        <p:sp>
          <p:nvSpPr>
            <p:cNvPr id="2206" name="Text Box 6">
              <a:extLst>
                <a:ext uri="{FF2B5EF4-FFF2-40B4-BE49-F238E27FC236}">
                  <a16:creationId xmlns:a16="http://schemas.microsoft.com/office/drawing/2014/main" id="{2E246390-2DE9-C1C7-AF64-40584FF81998}"/>
                </a:ext>
              </a:extLst>
            </p:cNvPr>
            <p:cNvSpPr txBox="1">
              <a:spLocks noChangeArrowheads="1"/>
            </p:cNvSpPr>
            <p:nvPr/>
          </p:nvSpPr>
          <p:spPr bwMode="auto">
            <a:xfrm>
              <a:off x="23551626" y="18466877"/>
              <a:ext cx="7258109" cy="900052"/>
            </a:xfrm>
            <a:prstGeom prst="rect">
              <a:avLst/>
            </a:prstGeom>
            <a:noFill/>
            <a:ln>
              <a:noFill/>
            </a:ln>
            <a:effectLst>
              <a:softEdge rad="0"/>
            </a:effectLst>
          </p:spPr>
          <p:txBody>
            <a:bodyPr wrap="square" lIns="274320" tIns="274320" rIns="274320" bIns="274320">
              <a:spAutoFit/>
            </a:bodyPr>
            <a:lstStyle>
              <a:defPPr>
                <a:defRPr lang="en-US" kern="1200"/>
              </a:defPPr>
              <a:lvl1pPr algn="l" defTabSz="4703763" rtl="0" eaLnBrk="0" fontAlgn="base" hangingPunct="0">
                <a:spcBef>
                  <a:spcPct val="0"/>
                </a:spcBef>
                <a:spcAft>
                  <a:spcPct val="0"/>
                </a:spcAft>
                <a:defRPr sz="2400" kern="1200">
                  <a:solidFill>
                    <a:schemeClr val="tx1"/>
                  </a:solidFill>
                  <a:latin typeface="Titillium Web" panose="00000500000000000000" pitchFamily="2" charset="0"/>
                  <a:ea typeface="Open Sans" panose="020B0606030504020204" pitchFamily="34" charset="0"/>
                  <a:cs typeface="Open Sans" panose="020B0606030504020204" pitchFamily="34" charset="0"/>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r>
                <a:rPr lang="en-US" sz="2800" dirty="0">
                  <a:latin typeface="Titillium Web" panose="00000500000000000000" pitchFamily="2" charset="0"/>
                  <a:ea typeface="Open Sans" panose="020B0606030504020204" pitchFamily="34" charset="0"/>
                  <a:cs typeface="Open Sans" panose="020B0606030504020204" pitchFamily="34" charset="0"/>
                </a:rPr>
                <a:t>Network Graph of Communities with &gt;10 entities</a:t>
              </a:r>
            </a:p>
          </p:txBody>
        </p:sp>
        <p:sp>
          <p:nvSpPr>
            <p:cNvPr id="2207" name="TextBox 2088">
              <a:extLst>
                <a:ext uri="{FF2B5EF4-FFF2-40B4-BE49-F238E27FC236}">
                  <a16:creationId xmlns:a16="http://schemas.microsoft.com/office/drawing/2014/main" id="{3C903F9B-E2B3-FD85-CBDB-6371C932DF3F}"/>
                </a:ext>
              </a:extLst>
            </p:cNvPr>
            <p:cNvSpPr txBox="1"/>
            <p:nvPr/>
          </p:nvSpPr>
          <p:spPr>
            <a:xfrm>
              <a:off x="27810303" y="26246519"/>
              <a:ext cx="3556427" cy="2178921"/>
            </a:xfrm>
            <a:prstGeom prst="rect">
              <a:avLst/>
            </a:prstGeom>
            <a:noFill/>
          </p:spPr>
          <p:txBody>
            <a:bodyPr wrap="square" rtlCol="0">
              <a:spAutoFit/>
            </a:bodyPr>
            <a:lstStyle>
              <a:defPPr>
                <a:defRPr lang="en-US"/>
              </a:defPPr>
              <a:lvl1pPr algn="l" rtl="0" fontAlgn="base">
                <a:spcBef>
                  <a:spcPct val="0"/>
                </a:spcBef>
                <a:spcAft>
                  <a:spcPct val="0"/>
                </a:spcAft>
                <a:defRPr sz="9300" kern="1200">
                  <a:solidFill>
                    <a:schemeClr val="tx1"/>
                  </a:solidFill>
                  <a:latin typeface="Arial"/>
                  <a:ea typeface="+mn-ea"/>
                  <a:cs typeface="+mn-cs"/>
                </a:defRPr>
              </a:lvl1pPr>
              <a:lvl2pPr marL="457200" algn="l" rtl="0" fontAlgn="base">
                <a:spcBef>
                  <a:spcPct val="0"/>
                </a:spcBef>
                <a:spcAft>
                  <a:spcPct val="0"/>
                </a:spcAft>
                <a:defRPr sz="9300" kern="1200">
                  <a:solidFill>
                    <a:schemeClr val="tx1"/>
                  </a:solidFill>
                  <a:latin typeface="Arial"/>
                  <a:ea typeface="+mn-ea"/>
                  <a:cs typeface="+mn-cs"/>
                </a:defRPr>
              </a:lvl2pPr>
              <a:lvl3pPr marL="914400" algn="l" rtl="0" fontAlgn="base">
                <a:spcBef>
                  <a:spcPct val="0"/>
                </a:spcBef>
                <a:spcAft>
                  <a:spcPct val="0"/>
                </a:spcAft>
                <a:defRPr sz="9300" kern="1200">
                  <a:solidFill>
                    <a:schemeClr val="tx1"/>
                  </a:solidFill>
                  <a:latin typeface="Arial"/>
                  <a:ea typeface="+mn-ea"/>
                  <a:cs typeface="+mn-cs"/>
                </a:defRPr>
              </a:lvl3pPr>
              <a:lvl4pPr marL="1371600" algn="l" rtl="0" fontAlgn="base">
                <a:spcBef>
                  <a:spcPct val="0"/>
                </a:spcBef>
                <a:spcAft>
                  <a:spcPct val="0"/>
                </a:spcAft>
                <a:defRPr sz="9300" kern="1200">
                  <a:solidFill>
                    <a:schemeClr val="tx1"/>
                  </a:solidFill>
                  <a:latin typeface="Arial"/>
                  <a:ea typeface="+mn-ea"/>
                  <a:cs typeface="+mn-cs"/>
                </a:defRPr>
              </a:lvl4pPr>
              <a:lvl5pPr marL="1828800" algn="l" rtl="0" fontAlgn="base">
                <a:spcBef>
                  <a:spcPct val="0"/>
                </a:spcBef>
                <a:spcAft>
                  <a:spcPct val="0"/>
                </a:spcAft>
                <a:defRPr sz="9300" kern="1200">
                  <a:solidFill>
                    <a:schemeClr val="tx1"/>
                  </a:solidFill>
                  <a:latin typeface="Arial"/>
                  <a:ea typeface="+mn-ea"/>
                  <a:cs typeface="+mn-cs"/>
                </a:defRPr>
              </a:lvl5pPr>
              <a:lvl6pPr marL="2286000" algn="l" defTabSz="914400" rtl="0" eaLnBrk="1" latinLnBrk="0" hangingPunct="1">
                <a:defRPr sz="9300" kern="1200">
                  <a:solidFill>
                    <a:schemeClr val="tx1"/>
                  </a:solidFill>
                  <a:latin typeface="Arial"/>
                  <a:ea typeface="+mn-ea"/>
                  <a:cs typeface="+mn-cs"/>
                </a:defRPr>
              </a:lvl6pPr>
              <a:lvl7pPr marL="2743200" algn="l" defTabSz="914400" rtl="0" eaLnBrk="1" latinLnBrk="0" hangingPunct="1">
                <a:defRPr sz="9300" kern="1200">
                  <a:solidFill>
                    <a:schemeClr val="tx1"/>
                  </a:solidFill>
                  <a:latin typeface="Arial"/>
                  <a:ea typeface="+mn-ea"/>
                  <a:cs typeface="+mn-cs"/>
                </a:defRPr>
              </a:lvl7pPr>
              <a:lvl8pPr marL="3200400" algn="l" defTabSz="914400" rtl="0" eaLnBrk="1" latinLnBrk="0" hangingPunct="1">
                <a:defRPr sz="9300" kern="1200">
                  <a:solidFill>
                    <a:schemeClr val="tx1"/>
                  </a:solidFill>
                  <a:latin typeface="Arial"/>
                  <a:ea typeface="+mn-ea"/>
                  <a:cs typeface="+mn-cs"/>
                </a:defRPr>
              </a:lvl8pPr>
              <a:lvl9pPr marL="3657600" algn="l" defTabSz="914400" rtl="0" eaLnBrk="1" latinLnBrk="0" hangingPunct="1">
                <a:defRPr sz="9300" kern="1200">
                  <a:solidFill>
                    <a:schemeClr val="tx1"/>
                  </a:solidFill>
                  <a:latin typeface="Arial"/>
                  <a:ea typeface="+mn-ea"/>
                  <a:cs typeface="+mn-cs"/>
                </a:defRPr>
              </a:lvl9pPr>
            </a:lstStyle>
            <a:p>
              <a:pPr marL="342900" indent="-342900">
                <a:buFont typeface="Arial" panose="020B0604020202020204" pitchFamily="34" charset="0"/>
                <a:buChar char="•"/>
              </a:pPr>
              <a:r>
                <a:rPr lang="en-US" sz="2400" dirty="0">
                  <a:latin typeface="Titillium Web" panose="00000500000000000000" pitchFamily="2" charset="0"/>
                </a:rPr>
                <a:t>most communities not directly connected</a:t>
              </a:r>
            </a:p>
            <a:p>
              <a:pPr marL="342900" indent="-342900">
                <a:buFont typeface="Arial" panose="020B0604020202020204" pitchFamily="34" charset="0"/>
                <a:buChar char="•"/>
              </a:pPr>
              <a:r>
                <a:rPr lang="en-US" sz="2400" dirty="0">
                  <a:latin typeface="Titillium Web" panose="00000500000000000000" pitchFamily="2" charset="0"/>
                </a:rPr>
                <a:t>small number of highly central communities linked separate regions of the network</a:t>
              </a:r>
            </a:p>
          </p:txBody>
        </p:sp>
      </p:grpSp>
      <p:sp>
        <p:nvSpPr>
          <p:cNvPr id="2222" name="TextBox 2221">
            <a:extLst>
              <a:ext uri="{FF2B5EF4-FFF2-40B4-BE49-F238E27FC236}">
                <a16:creationId xmlns:a16="http://schemas.microsoft.com/office/drawing/2014/main" id="{9D0B35AE-75E4-B1D0-5B78-7FE50ABE0CB4}"/>
              </a:ext>
            </a:extLst>
          </p:cNvPr>
          <p:cNvSpPr txBox="1"/>
          <p:nvPr/>
        </p:nvSpPr>
        <p:spPr>
          <a:xfrm>
            <a:off x="33101279" y="17193661"/>
            <a:ext cx="10080366" cy="7017306"/>
          </a:xfrm>
          <a:prstGeom prst="rect">
            <a:avLst/>
          </a:prstGeom>
          <a:solidFill>
            <a:srgbClr val="B4D3E2"/>
          </a:solidFill>
          <a:ln>
            <a:noFill/>
          </a:ln>
          <a:effectLst>
            <a:softEdge rad="0"/>
          </a:effectLst>
        </p:spPr>
        <p:txBody>
          <a:bodyPr wrap="square" lIns="274320" tIns="274320" rIns="274320" bIns="274320">
            <a:spAutoFit/>
          </a:bodyPr>
          <a:lstStyle>
            <a:defPPr>
              <a:defRPr lang="en-US" kern="1200"/>
            </a:defPPr>
            <a:lvl1pPr marL="342900" indent="-342900" algn="just" defTabSz="4703763" eaLnBrk="0" hangingPunct="0">
              <a:buFont typeface="Arial" panose="020B0604020202020204" pitchFamily="34" charset="0"/>
              <a:buChar char="•"/>
              <a:defRPr sz="28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0" indent="0">
              <a:buNone/>
            </a:pPr>
            <a:r>
              <a:rPr lang="en-US" dirty="0"/>
              <a:t>[1] M. </a:t>
            </a:r>
            <a:r>
              <a:rPr lang="en-US" dirty="0" err="1"/>
              <a:t>Grusky</a:t>
            </a:r>
            <a:r>
              <a:rPr lang="en-US" dirty="0"/>
              <a:t>, M. Naaman, and Y. Artzi, “NEWSROOM: A Dataset of 1.3 Million Summaries with Diverse Extractive Strategies,” 2018. Accessed: Aug. 04, 2026. [Online]. Available: </a:t>
            </a:r>
            <a:r>
              <a:rPr lang="en-US" u="sng" dirty="0"/>
              <a:t>https://aclanthology.org/N18-1065.pdf</a:t>
            </a:r>
          </a:p>
          <a:p>
            <a:pPr marL="0" indent="0">
              <a:buNone/>
            </a:pPr>
            <a:r>
              <a:rPr lang="en-US" dirty="0"/>
              <a:t>[2] J. Hoppa, “How to Convert Unstructured Text to Knowledge Graphs Using LLMs,” Neo4j Graph Intelligence Platform. Accessed: Aug. 04, 2026. [Online]. Available: </a:t>
            </a:r>
            <a:r>
              <a:rPr lang="en-US" u="sng" dirty="0"/>
              <a:t>https://neo4j.com/blog/developer/unstructured-text-to-knowledge-graph/</a:t>
            </a:r>
          </a:p>
          <a:p>
            <a:pPr marL="0" indent="0">
              <a:buNone/>
            </a:pPr>
            <a:r>
              <a:rPr lang="en-US" dirty="0"/>
              <a:t>[3] T. Ma, B. Liu, and S. Yang, “Constructing New Power System Stock Indices via a Compound AI System: A Hierarchical RAG and Knowledge Graph Approach,” </a:t>
            </a:r>
            <a:r>
              <a:rPr lang="en-US" i="1" dirty="0"/>
              <a:t>Proceedings of the 2025 6th International Conference on Computer Science and Management Technology</a:t>
            </a:r>
            <a:r>
              <a:rPr lang="en-US" dirty="0"/>
              <a:t>, pp. 1007–1012, Dec. 2025, </a:t>
            </a:r>
            <a:r>
              <a:rPr lang="en-US" dirty="0" err="1"/>
              <a:t>doi</a:t>
            </a:r>
            <a:r>
              <a:rPr lang="en-US" dirty="0"/>
              <a:t>: </a:t>
            </a:r>
            <a:r>
              <a:rPr lang="en-US" u="sng" dirty="0"/>
              <a:t>10.1145/3795154.3795318</a:t>
            </a:r>
            <a:r>
              <a:rPr lang="en-US" dirty="0"/>
              <a:t>.</a:t>
            </a:r>
          </a:p>
        </p:txBody>
      </p:sp>
      <p:sp>
        <p:nvSpPr>
          <p:cNvPr id="2226" name="TextBox 2225">
            <a:extLst>
              <a:ext uri="{FF2B5EF4-FFF2-40B4-BE49-F238E27FC236}">
                <a16:creationId xmlns:a16="http://schemas.microsoft.com/office/drawing/2014/main" id="{D8154DD2-9A0D-04E2-E831-02BD4B65A178}"/>
              </a:ext>
            </a:extLst>
          </p:cNvPr>
          <p:cNvSpPr txBox="1"/>
          <p:nvPr/>
        </p:nvSpPr>
        <p:spPr>
          <a:xfrm>
            <a:off x="33115927" y="24392840"/>
            <a:ext cx="10080366" cy="1415772"/>
          </a:xfrm>
          <a:prstGeom prst="rect">
            <a:avLst/>
          </a:prstGeom>
          <a:solidFill>
            <a:srgbClr val="B4D3E2"/>
          </a:solidFill>
          <a:ln>
            <a:noFill/>
          </a:ln>
          <a:effectLst>
            <a:softEdge rad="0"/>
          </a:effectLst>
        </p:spPr>
        <p:txBody>
          <a:bodyPr wrap="square" lIns="274320" tIns="274320" rIns="274320" bIns="274320">
            <a:spAutoFit/>
          </a:bodyPr>
          <a:lstStyle>
            <a:defPPr>
              <a:defRPr lang="en-US" kern="1200"/>
            </a:defPPr>
            <a:lvl1pPr marL="342900" indent="-342900" algn="just" defTabSz="4703763" eaLnBrk="0" hangingPunct="0">
              <a:buFont typeface="Arial" panose="020B0604020202020204" pitchFamily="34" charset="0"/>
              <a:buChar char="•"/>
              <a:defRPr sz="2800">
                <a:latin typeface="Titillium Web" panose="00000500000000000000" pitchFamily="2" charset="0"/>
                <a:ea typeface="Open Sans" panose="020B0606030504020204" pitchFamily="34" charset="0"/>
                <a:cs typeface="Open Sans" panose="020B0606030504020204" pitchFamily="34" charset="0"/>
              </a:defRPr>
            </a:lvl1pPr>
            <a:lvl2pPr marL="742950" indent="-285750" defTabSz="4703763" eaLnBrk="0" hangingPunct="0"/>
            <a:lvl3pPr marL="1143000" indent="-228600" defTabSz="4703763" eaLnBrk="0" hangingPunct="0"/>
            <a:lvl4pPr marL="1600200" indent="-228600" defTabSz="4703763" eaLnBrk="0" hangingPunct="0"/>
            <a:lvl5pPr marL="2057400" indent="-228600" defTabSz="4703763" eaLnBrk="0" hangingPunct="0"/>
            <a:lvl6pPr marL="2514600" indent="-228600" defTabSz="4703763" eaLnBrk="0" fontAlgn="base" hangingPunct="0">
              <a:spcBef>
                <a:spcPct val="0"/>
              </a:spcBef>
              <a:spcAft>
                <a:spcPct val="0"/>
              </a:spcAft>
            </a:lvl6pPr>
            <a:lvl7pPr marL="2971800" indent="-228600" defTabSz="4703763" eaLnBrk="0" fontAlgn="base" hangingPunct="0">
              <a:spcBef>
                <a:spcPct val="0"/>
              </a:spcBef>
              <a:spcAft>
                <a:spcPct val="0"/>
              </a:spcAft>
            </a:lvl7pPr>
            <a:lvl8pPr marL="3429000" indent="-228600" defTabSz="4703763" eaLnBrk="0" fontAlgn="base" hangingPunct="0">
              <a:spcBef>
                <a:spcPct val="0"/>
              </a:spcBef>
              <a:spcAft>
                <a:spcPct val="0"/>
              </a:spcAft>
            </a:lvl8pPr>
            <a:lvl9pPr marL="3886200" indent="-228600" defTabSz="4703763" eaLnBrk="0" fontAlgn="base" hangingPunct="0">
              <a:spcBef>
                <a:spcPct val="0"/>
              </a:spcBef>
              <a:spcAft>
                <a:spcPct val="0"/>
              </a:spcAft>
            </a:lvl9pPr>
          </a:lstStyle>
          <a:p>
            <a:pPr marL="0" indent="0">
              <a:buNone/>
            </a:pPr>
            <a:r>
              <a:rPr lang="en-US" dirty="0"/>
              <a:t>For more technical details, please see the project’s </a:t>
            </a:r>
            <a:r>
              <a:rPr lang="en-US" dirty="0" err="1"/>
              <a:t>Github</a:t>
            </a:r>
            <a:r>
              <a:rPr lang="en-US" dirty="0"/>
              <a:t>: </a:t>
            </a:r>
            <a:r>
              <a:rPr lang="en-US" u="sng" dirty="0"/>
              <a:t>https://github.com/rckan/syracuse-su26-project</a:t>
            </a:r>
          </a:p>
        </p:txBody>
      </p:sp>
      <p:graphicFrame>
        <p:nvGraphicFramePr>
          <p:cNvPr id="2228" name="Table 2227">
            <a:extLst>
              <a:ext uri="{FF2B5EF4-FFF2-40B4-BE49-F238E27FC236}">
                <a16:creationId xmlns:a16="http://schemas.microsoft.com/office/drawing/2014/main" id="{7B73A042-7C27-1A15-5776-B2F6A80B5857}"/>
              </a:ext>
            </a:extLst>
          </p:cNvPr>
          <p:cNvGraphicFramePr>
            <a:graphicFrameLocks noGrp="1"/>
          </p:cNvGraphicFramePr>
          <p:nvPr>
            <p:extLst>
              <p:ext uri="{D42A27DB-BD31-4B8C-83A1-F6EECF244321}">
                <p14:modId xmlns:p14="http://schemas.microsoft.com/office/powerpoint/2010/main" val="1715240491"/>
              </p:ext>
            </p:extLst>
          </p:nvPr>
        </p:nvGraphicFramePr>
        <p:xfrm>
          <a:off x="22776510" y="15706279"/>
          <a:ext cx="5384561" cy="3749040"/>
        </p:xfrm>
        <a:graphic>
          <a:graphicData uri="http://schemas.openxmlformats.org/drawingml/2006/table">
            <a:tbl>
              <a:tblPr firstRow="1" firstCol="1">
                <a:tableStyleId>{2D5ABB26-0587-4C30-8999-92F81FD0307C}</a:tableStyleId>
              </a:tblPr>
              <a:tblGrid>
                <a:gridCol w="533830">
                  <a:extLst>
                    <a:ext uri="{9D8B030D-6E8A-4147-A177-3AD203B41FA5}">
                      <a16:colId xmlns:a16="http://schemas.microsoft.com/office/drawing/2014/main" val="1902017129"/>
                    </a:ext>
                  </a:extLst>
                </a:gridCol>
                <a:gridCol w="4850731">
                  <a:extLst>
                    <a:ext uri="{9D8B030D-6E8A-4147-A177-3AD203B41FA5}">
                      <a16:colId xmlns:a16="http://schemas.microsoft.com/office/drawing/2014/main" val="2938504809"/>
                    </a:ext>
                  </a:extLst>
                </a:gridCol>
              </a:tblGrid>
              <a:tr h="0">
                <a:tc>
                  <a:txBody>
                    <a:bodyPr/>
                    <a:lstStyle/>
                    <a:p>
                      <a:pPr algn="r">
                        <a:buNone/>
                      </a:pPr>
                      <a:r>
                        <a:rPr lang="en-US" sz="2400" dirty="0">
                          <a:latin typeface="Titillium Web" panose="00000500000000000000" pitchFamily="2" charset="0"/>
                        </a:rPr>
                        <a:t>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9E04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Titillium Web" panose="00000500000000000000" pitchFamily="2" charset="0"/>
                          <a:ea typeface="Open Sans" panose="020B0606030504020204" pitchFamily="34" charset="0"/>
                          <a:cs typeface="Open Sans" panose="020B0606030504020204" pitchFamily="34" charset="0"/>
                        </a:rPr>
                        <a:t>American residential markets (495 nodes)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092680"/>
                  </a:ext>
                </a:extLst>
              </a:tr>
              <a:tr h="0">
                <a:tc>
                  <a:txBody>
                    <a:bodyPr/>
                    <a:lstStyle/>
                    <a:p>
                      <a:pPr algn="r">
                        <a:buNone/>
                      </a:pPr>
                      <a:r>
                        <a:rPr lang="en-US" sz="2400" dirty="0">
                          <a:latin typeface="Titillium Web" panose="000005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9E04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Titillium Web" panose="00000500000000000000" pitchFamily="2" charset="0"/>
                          <a:ea typeface="Open Sans" panose="020B0606030504020204" pitchFamily="34" charset="0"/>
                          <a:cs typeface="Open Sans" panose="020B0606030504020204" pitchFamily="34" charset="0"/>
                        </a:rPr>
                        <a:t>U.S.–China manufacturing and trade (437 nodes)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55593464"/>
                  </a:ext>
                </a:extLst>
              </a:tr>
              <a:tr h="0">
                <a:tc>
                  <a:txBody>
                    <a:bodyPr/>
                    <a:lstStyle/>
                    <a:p>
                      <a:pPr algn="r">
                        <a:buNone/>
                      </a:pPr>
                      <a:r>
                        <a:rPr lang="en-US" sz="2400" dirty="0">
                          <a:latin typeface="Titillium Web" panose="000005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DE93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Titillium Web" panose="00000500000000000000" pitchFamily="2" charset="0"/>
                          <a:ea typeface="Open Sans" panose="020B0606030504020204" pitchFamily="34" charset="0"/>
                          <a:cs typeface="Open Sans" panose="020B0606030504020204" pitchFamily="34" charset="0"/>
                        </a:rPr>
                        <a:t>U.S. solar policy (403)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7487150"/>
                  </a:ext>
                </a:extLst>
              </a:tr>
              <a:tr h="0">
                <a:tc>
                  <a:txBody>
                    <a:bodyPr/>
                    <a:lstStyle/>
                    <a:p>
                      <a:pPr algn="r">
                        <a:buNone/>
                      </a:pPr>
                      <a:r>
                        <a:rPr lang="en-US" sz="2400" dirty="0">
                          <a:latin typeface="Titillium Web" panose="000005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2DB5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Titillium Web" panose="00000500000000000000" pitchFamily="2" charset="0"/>
                          <a:ea typeface="Open Sans" panose="020B0606030504020204" pitchFamily="34" charset="0"/>
                          <a:cs typeface="Open Sans" panose="020B0606030504020204" pitchFamily="34" charset="0"/>
                        </a:rPr>
                        <a:t>International solar tech/projects (345 nodes)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1956399"/>
                  </a:ext>
                </a:extLst>
              </a:tr>
              <a:tr h="0">
                <a:tc>
                  <a:txBody>
                    <a:bodyPr/>
                    <a:lstStyle/>
                    <a:p>
                      <a:pPr algn="r">
                        <a:buNone/>
                      </a:pPr>
                      <a:r>
                        <a:rPr lang="en-US" sz="2400" dirty="0">
                          <a:latin typeface="Titillium Web" panose="00000500000000000000" pitchFamily="2" charset="0"/>
                        </a:rPr>
                        <a:t>4</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45BC88"/>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400" dirty="0">
                          <a:latin typeface="Titillium Web" panose="00000500000000000000" pitchFamily="2" charset="0"/>
                          <a:ea typeface="Open Sans" panose="020B0606030504020204" pitchFamily="34" charset="0"/>
                          <a:cs typeface="Open Sans" panose="020B0606030504020204" pitchFamily="34" charset="0"/>
                        </a:rPr>
                        <a:t>International pro-solar orgs (201 nodes)</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5067963"/>
                  </a:ext>
                </a:extLst>
              </a:tr>
            </a:tbl>
          </a:graphicData>
        </a:graphic>
      </p:graphicFrame>
      <p:sp>
        <p:nvSpPr>
          <p:cNvPr id="2232" name="TextBox 2231">
            <a:extLst>
              <a:ext uri="{FF2B5EF4-FFF2-40B4-BE49-F238E27FC236}">
                <a16:creationId xmlns:a16="http://schemas.microsoft.com/office/drawing/2014/main" id="{ED053E2C-0720-E04C-6041-5CA2BBE9BBE6}"/>
              </a:ext>
            </a:extLst>
          </p:cNvPr>
          <p:cNvSpPr txBox="1"/>
          <p:nvPr/>
        </p:nvSpPr>
        <p:spPr>
          <a:xfrm>
            <a:off x="12153444" y="14409251"/>
            <a:ext cx="8744702" cy="461665"/>
          </a:xfrm>
          <a:prstGeom prst="rect">
            <a:avLst/>
          </a:prstGeom>
          <a:noFill/>
        </p:spPr>
        <p:txBody>
          <a:bodyPr wrap="none" rtlCol="0">
            <a:spAutoFit/>
          </a:bodyPr>
          <a:lstStyle/>
          <a:p>
            <a:pPr algn="ctr"/>
            <a:r>
              <a:rPr lang="en-US" sz="2400" dirty="0"/>
              <a:t>Fig. 1: Reductions in dataset size and cost with filtering pipeline</a:t>
            </a:r>
          </a:p>
        </p:txBody>
      </p:sp>
      <p:sp>
        <p:nvSpPr>
          <p:cNvPr id="2234" name="TextBox 2233">
            <a:extLst>
              <a:ext uri="{FF2B5EF4-FFF2-40B4-BE49-F238E27FC236}">
                <a16:creationId xmlns:a16="http://schemas.microsoft.com/office/drawing/2014/main" id="{CA34C90F-BFC4-C884-B2FF-C74E9D1BCAFE}"/>
              </a:ext>
            </a:extLst>
          </p:cNvPr>
          <p:cNvSpPr txBox="1"/>
          <p:nvPr/>
        </p:nvSpPr>
        <p:spPr>
          <a:xfrm>
            <a:off x="12815415" y="30559416"/>
            <a:ext cx="7167347" cy="461665"/>
          </a:xfrm>
          <a:prstGeom prst="rect">
            <a:avLst/>
          </a:prstGeom>
          <a:noFill/>
        </p:spPr>
        <p:txBody>
          <a:bodyPr wrap="none" rtlCol="0">
            <a:spAutoFit/>
          </a:bodyPr>
          <a:lstStyle/>
          <a:p>
            <a:pPr algn="ctr"/>
            <a:r>
              <a:rPr lang="en-US" sz="2400" dirty="0">
                <a:latin typeface="Titillium Web" panose="00000500000000000000" pitchFamily="2" charset="0"/>
              </a:rPr>
              <a:t>Fig. 2: Counts of most common edge connection types</a:t>
            </a:r>
          </a:p>
        </p:txBody>
      </p:sp>
      <p:sp>
        <p:nvSpPr>
          <p:cNvPr id="2236" name="Text Box 6">
            <a:extLst>
              <a:ext uri="{FF2B5EF4-FFF2-40B4-BE49-F238E27FC236}">
                <a16:creationId xmlns:a16="http://schemas.microsoft.com/office/drawing/2014/main" id="{989AE5B1-F8A2-9FCC-7897-BB445887765D}"/>
              </a:ext>
            </a:extLst>
          </p:cNvPr>
          <p:cNvSpPr txBox="1">
            <a:spLocks noChangeArrowheads="1"/>
          </p:cNvSpPr>
          <p:nvPr/>
        </p:nvSpPr>
        <p:spPr bwMode="auto">
          <a:xfrm>
            <a:off x="17542528" y="25327246"/>
            <a:ext cx="3892168" cy="4985980"/>
          </a:xfrm>
          <a:prstGeom prst="rect">
            <a:avLst/>
          </a:prstGeom>
          <a:noFill/>
          <a:ln>
            <a:noFill/>
          </a:ln>
          <a:effectLst>
            <a:softEdge rad="0"/>
          </a:effectLst>
        </p:spPr>
        <p:txBody>
          <a:bodyPr wrap="square" lIns="274320" tIns="274320" rIns="274320" bIns="274320">
            <a:spAutoFit/>
          </a:bodyPr>
          <a:lstStyle>
            <a:defPPr>
              <a:defRPr lang="en-US" kern="1200"/>
            </a:defPPr>
            <a:lvl1pPr algn="l" defTabSz="4703763" rtl="0" eaLnBrk="0" fontAlgn="base" hangingPunct="0">
              <a:spcBef>
                <a:spcPct val="0"/>
              </a:spcBef>
              <a:spcAft>
                <a:spcPct val="0"/>
              </a:spcAft>
              <a:defRPr sz="2400" kern="1200">
                <a:solidFill>
                  <a:schemeClr val="tx1"/>
                </a:solidFill>
                <a:latin typeface="Titillium Web" panose="00000500000000000000" pitchFamily="2" charset="0"/>
                <a:ea typeface="Open Sans" panose="020B0606030504020204" pitchFamily="34" charset="0"/>
                <a:cs typeface="Open Sans" panose="020B0606030504020204" pitchFamily="34" charset="0"/>
              </a:defRPr>
            </a:lvl1pPr>
            <a:lvl2pPr marL="742950" indent="-285750" algn="l" defTabSz="4703763" rtl="0" eaLnBrk="0" fontAlgn="base" hangingPunct="0">
              <a:spcBef>
                <a:spcPct val="0"/>
              </a:spcBef>
              <a:spcAft>
                <a:spcPct val="0"/>
              </a:spcAft>
              <a:defRPr sz="9300" kern="1200">
                <a:solidFill>
                  <a:schemeClr val="tx1"/>
                </a:solidFill>
                <a:latin typeface="Arial"/>
                <a:ea typeface="+mn-ea"/>
                <a:cs typeface="+mn-cs"/>
              </a:defRPr>
            </a:lvl2pPr>
            <a:lvl3pPr marL="1143000" indent="-228600" algn="l" defTabSz="4703763" rtl="0" eaLnBrk="0" fontAlgn="base" hangingPunct="0">
              <a:spcBef>
                <a:spcPct val="0"/>
              </a:spcBef>
              <a:spcAft>
                <a:spcPct val="0"/>
              </a:spcAft>
              <a:defRPr sz="9300" kern="1200">
                <a:solidFill>
                  <a:schemeClr val="tx1"/>
                </a:solidFill>
                <a:latin typeface="Arial"/>
                <a:ea typeface="+mn-ea"/>
                <a:cs typeface="+mn-cs"/>
              </a:defRPr>
            </a:lvl3pPr>
            <a:lvl4pPr marL="1600200" indent="-228600" algn="l" defTabSz="4703763" rtl="0" eaLnBrk="0" fontAlgn="base" hangingPunct="0">
              <a:spcBef>
                <a:spcPct val="0"/>
              </a:spcBef>
              <a:spcAft>
                <a:spcPct val="0"/>
              </a:spcAft>
              <a:defRPr sz="9300" kern="1200">
                <a:solidFill>
                  <a:schemeClr val="tx1"/>
                </a:solidFill>
                <a:latin typeface="Arial"/>
                <a:ea typeface="+mn-ea"/>
                <a:cs typeface="+mn-cs"/>
              </a:defRPr>
            </a:lvl4pPr>
            <a:lvl5pPr marL="2057400" indent="-228600" algn="l" defTabSz="4703763" rtl="0" eaLnBrk="0" fontAlgn="base" hangingPunct="0">
              <a:spcBef>
                <a:spcPct val="0"/>
              </a:spcBef>
              <a:spcAft>
                <a:spcPct val="0"/>
              </a:spcAft>
              <a:defRPr sz="9300" kern="1200">
                <a:solidFill>
                  <a:schemeClr val="tx1"/>
                </a:solidFill>
                <a:latin typeface="Arial"/>
                <a:ea typeface="+mn-ea"/>
                <a:cs typeface="+mn-cs"/>
              </a:defRPr>
            </a:lvl5pPr>
            <a:lvl6pPr marL="25146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6pPr>
            <a:lvl7pPr marL="29718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7pPr>
            <a:lvl8pPr marL="34290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8pPr>
            <a:lvl9pPr marL="3886200" indent="-228600" algn="l" defTabSz="4703763" rtl="0" eaLnBrk="0" fontAlgn="base" latinLnBrk="0" hangingPunct="0">
              <a:spcBef>
                <a:spcPct val="0"/>
              </a:spcBef>
              <a:spcAft>
                <a:spcPct val="0"/>
              </a:spcAft>
              <a:defRPr sz="9300" kern="1200">
                <a:solidFill>
                  <a:schemeClr val="tx1"/>
                </a:solidFill>
                <a:latin typeface="Arial"/>
                <a:ea typeface="+mn-ea"/>
                <a:cs typeface="+mn-cs"/>
              </a:defRPr>
            </a:lvl9pPr>
          </a:lstStyle>
          <a:p>
            <a:pPr algn="just"/>
            <a:r>
              <a:rPr lang="en-US" dirty="0"/>
              <a:t>Company, technology, and project nodes appear most frequently in common edges, while government, policy, people, and article nodes are less common, suggesting news coverage emphasizes technological and economic developments over politics.</a:t>
            </a:r>
          </a:p>
        </p:txBody>
      </p:sp>
      <p:sp>
        <p:nvSpPr>
          <p:cNvPr id="2242" name="TextBox 2241">
            <a:extLst>
              <a:ext uri="{FF2B5EF4-FFF2-40B4-BE49-F238E27FC236}">
                <a16:creationId xmlns:a16="http://schemas.microsoft.com/office/drawing/2014/main" id="{B1E022EC-E448-09A1-CFAD-60440471449F}"/>
              </a:ext>
            </a:extLst>
          </p:cNvPr>
          <p:cNvSpPr txBox="1"/>
          <p:nvPr/>
        </p:nvSpPr>
        <p:spPr>
          <a:xfrm>
            <a:off x="23153588" y="29097253"/>
            <a:ext cx="8722396" cy="1938992"/>
          </a:xfrm>
          <a:prstGeom prst="rect">
            <a:avLst/>
          </a:prstGeom>
          <a:noFill/>
        </p:spPr>
        <p:txBody>
          <a:bodyPr wrap="square" rtlCol="0">
            <a:spAutoFit/>
          </a:bodyPr>
          <a:lstStyle/>
          <a:p>
            <a:pPr algn="ctr"/>
            <a:r>
              <a:rPr lang="en-US" sz="2400" dirty="0">
                <a:latin typeface="Titillium Web" panose="00000500000000000000" pitchFamily="2" charset="0"/>
              </a:rPr>
              <a:t>Fig. 3: Nodes with highest connectivity to other communities</a:t>
            </a:r>
          </a:p>
          <a:p>
            <a:pPr algn="ctr"/>
            <a:endParaRPr lang="en-US" sz="2400" dirty="0">
              <a:latin typeface="Titillium Web" panose="00000500000000000000" pitchFamily="2" charset="0"/>
            </a:endParaRPr>
          </a:p>
          <a:p>
            <a:pPr algn="ctr"/>
            <a:r>
              <a:rPr lang="en-US" sz="2400" dirty="0">
                <a:latin typeface="Titillium Web" panose="00000500000000000000" pitchFamily="2" charset="0"/>
              </a:rPr>
              <a:t>Though company, technology, and project nodes are most often found in common edges, location nodes play a large role in the connections between communities.</a:t>
            </a:r>
          </a:p>
        </p:txBody>
      </p:sp>
      <p:pic>
        <p:nvPicPr>
          <p:cNvPr id="2255" name="Picture 2254">
            <a:extLst>
              <a:ext uri="{FF2B5EF4-FFF2-40B4-BE49-F238E27FC236}">
                <a16:creationId xmlns:a16="http://schemas.microsoft.com/office/drawing/2014/main" id="{F1CF9E9E-8057-94AD-A813-F22F7E06B79A}"/>
              </a:ext>
            </a:extLst>
          </p:cNvPr>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33101279" y="30203305"/>
            <a:ext cx="4760986" cy="771146"/>
          </a:xfrm>
          <a:prstGeom prst="rect">
            <a:avLst/>
          </a:prstGeom>
        </p:spPr>
      </p:pic>
      <p:cxnSp>
        <p:nvCxnSpPr>
          <p:cNvPr id="2257" name="Straight Arrow Connector 2256">
            <a:extLst>
              <a:ext uri="{FF2B5EF4-FFF2-40B4-BE49-F238E27FC236}">
                <a16:creationId xmlns:a16="http://schemas.microsoft.com/office/drawing/2014/main" id="{B6CAE498-55F9-AEA2-C9B3-15B86FC2CE6C}"/>
              </a:ext>
            </a:extLst>
          </p:cNvPr>
          <p:cNvCxnSpPr>
            <a:cxnSpLocks/>
            <a:stCxn id="2105" idx="1"/>
            <a:endCxn id="309" idx="0"/>
          </p:cNvCxnSpPr>
          <p:nvPr/>
        </p:nvCxnSpPr>
        <p:spPr bwMode="auto">
          <a:xfrm flipH="1">
            <a:off x="5369919" y="19648096"/>
            <a:ext cx="2623089" cy="3646593"/>
          </a:xfrm>
          <a:prstGeom prst="straightConnector1">
            <a:avLst/>
          </a:prstGeom>
          <a:solidFill>
            <a:schemeClr val="accent1"/>
          </a:solidFill>
          <a:ln w="254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264" name="Picture 2263">
            <a:extLst>
              <a:ext uri="{FF2B5EF4-FFF2-40B4-BE49-F238E27FC236}">
                <a16:creationId xmlns:a16="http://schemas.microsoft.com/office/drawing/2014/main" id="{58652777-100E-0529-E54B-67DD3E914CD0}"/>
              </a:ext>
            </a:extLst>
          </p:cNvPr>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1523359" y="25061316"/>
            <a:ext cx="6043411" cy="5414409"/>
          </a:xfrm>
          <a:prstGeom prst="rect">
            <a:avLst/>
          </a:prstGeom>
        </p:spPr>
      </p:pic>
      <p:pic>
        <p:nvPicPr>
          <p:cNvPr id="2266" name="Picture 2265">
            <a:extLst>
              <a:ext uri="{FF2B5EF4-FFF2-40B4-BE49-F238E27FC236}">
                <a16:creationId xmlns:a16="http://schemas.microsoft.com/office/drawing/2014/main" id="{81A495C9-67F0-F9DC-0725-BDE44FA24102}"/>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22435583" y="22209497"/>
            <a:ext cx="9800801" cy="6783251"/>
          </a:xfrm>
          <a:prstGeom prst="rect">
            <a:avLst/>
          </a:prstGeom>
        </p:spPr>
      </p:pic>
      <p:pic>
        <p:nvPicPr>
          <p:cNvPr id="2268" name="Picture 2267">
            <a:extLst>
              <a:ext uri="{FF2B5EF4-FFF2-40B4-BE49-F238E27FC236}">
                <a16:creationId xmlns:a16="http://schemas.microsoft.com/office/drawing/2014/main" id="{7CC73C80-6B31-9A9F-3234-2838D4F79A13}"/>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12267660" y="11162521"/>
            <a:ext cx="8556650" cy="3341749"/>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conceptualizingcobalt|08-2022"/>
</p:tagLst>
</file>

<file path=ppt/theme/theme1.xml><?xml version="1.0" encoding="utf-8"?>
<a:theme xmlns:a="http://schemas.openxmlformats.org/drawingml/2006/main" name="Default Desig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Default Design">
      <a:majorFont>
        <a:latin typeface="Arial"/>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4702175" rtl="0" eaLnBrk="1" fontAlgn="base" latinLnBrk="0" hangingPunct="1">
          <a:lnSpc>
            <a:spcPct val="100000"/>
          </a:lnSpc>
          <a:spcBef>
            <a:spcPct val="0"/>
          </a:spcBef>
          <a:spcAft>
            <a:spcPct val="0"/>
          </a:spcAft>
          <a:buClrTx/>
          <a:buSzTx/>
          <a:buFontTx/>
          <a:buNone/>
          <a:tabLst/>
          <a:defRPr kumimoji="0" lang="en-US" sz="9300" b="0" i="0" u="none" strike="noStrike" cap="none" normalizeH="0" baseline="0" smtClean="0">
            <a:ln>
              <a:noFill/>
            </a:ln>
            <a:solidFill>
              <a:schemeClr val="tx1"/>
            </a:solidFill>
            <a:effectLst/>
            <a:latin typeface="Arial" pitchFamily="34"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1889</TotalTime>
  <Words>943</Words>
  <Application>Microsoft Office PowerPoint</Application>
  <PresentationFormat>Custom</PresentationFormat>
  <Paragraphs>61</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Titillium Web</vt:lpstr>
      <vt:lpstr>Calibri</vt:lpstr>
      <vt:lpstr>Arial</vt:lpstr>
      <vt:lpstr>Symbol</vt:lpstr>
      <vt:lpstr>Amaranth</vt:lpstr>
      <vt:lpstr>Default Design</vt:lpstr>
      <vt:lpstr>PowerPoint Presentation</vt:lpstr>
    </vt:vector>
  </TitlesOfParts>
  <Company>Graphicsland/MAKESIGNS.COM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Graphs for Solar Energy News Analysis</dc:title>
  <dc:subject>Example Of A Sample Research Poster</dc:subject>
  <dc:creator>Rachel Kan</dc:creator>
  <cp:keywords>scientific, research, template, custom, poster, presentation, symposium, printing, PowerPoint, create, design, example, sample, download</cp:keywords>
  <dc:description>Download our scientific poster templates at no cost to you and get one step closer to making a great research poster.</dc:description>
  <cp:lastModifiedBy>Rachel Kan</cp:lastModifiedBy>
  <cp:revision>112</cp:revision>
  <cp:lastPrinted>2026-08-04T02:35:43Z</cp:lastPrinted>
  <dcterms:modified xsi:type="dcterms:W3CDTF">2026-08-04T02:36:58Z</dcterms:modified>
  <cp:category>scientific poster PowerPoint</cp:category>
</cp:coreProperties>
</file>