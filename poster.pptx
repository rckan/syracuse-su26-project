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Lst>
  <p:sldSz cx="43891200" cy="32918400"/>
  <p:notesSz cx="5800725" cy="9094788"/>
  <p:embeddedFontLst>
    <p:embeddedFont>
      <p:font typeface="Amaranth" panose="020B0604020202020204" charset="0"/>
      <p:regular r:id="rId3"/>
    </p:embeddedFont>
    <p:embeddedFont>
      <p:font typeface="Titillium Web" panose="00000500000000000000" pitchFamily="2" charset="0"/>
      <p:regular r:id="rId4"/>
      <p:bold r:id="rId5"/>
      <p:italic r:id="rId6"/>
      <p:boldItalic r:id="rId7"/>
    </p:embeddedFont>
  </p:embeddedFontLst>
  <p:custDataLst>
    <p:tags r:id="rId8"/>
  </p:custDataLst>
  <p:defaultTextStyle>
    <a:defPPr>
      <a:defRPr lang="en-US"/>
    </a:defPPr>
    <a:lvl1pPr algn="l" rtl="0" fontAlgn="base">
      <a:spcBef>
        <a:spcPct val="0"/>
      </a:spcBef>
      <a:spcAft>
        <a:spcPct val="0"/>
      </a:spcAft>
      <a:defRPr sz="9300" kern="1200">
        <a:solidFill>
          <a:schemeClr val="tx1"/>
        </a:solidFill>
        <a:latin typeface="Arial"/>
        <a:ea typeface="+mn-ea"/>
        <a:cs typeface="+mn-cs"/>
      </a:defRPr>
    </a:lvl1pPr>
    <a:lvl2pPr marL="457200" algn="l" rtl="0" fontAlgn="base">
      <a:spcBef>
        <a:spcPct val="0"/>
      </a:spcBef>
      <a:spcAft>
        <a:spcPct val="0"/>
      </a:spcAft>
      <a:defRPr sz="9300" kern="1200">
        <a:solidFill>
          <a:schemeClr val="tx1"/>
        </a:solidFill>
        <a:latin typeface="Arial"/>
        <a:ea typeface="+mn-ea"/>
        <a:cs typeface="+mn-cs"/>
      </a:defRPr>
    </a:lvl2pPr>
    <a:lvl3pPr marL="914400" algn="l" rtl="0" fontAlgn="base">
      <a:spcBef>
        <a:spcPct val="0"/>
      </a:spcBef>
      <a:spcAft>
        <a:spcPct val="0"/>
      </a:spcAft>
      <a:defRPr sz="9300" kern="1200">
        <a:solidFill>
          <a:schemeClr val="tx1"/>
        </a:solidFill>
        <a:latin typeface="Arial"/>
        <a:ea typeface="+mn-ea"/>
        <a:cs typeface="+mn-cs"/>
      </a:defRPr>
    </a:lvl3pPr>
    <a:lvl4pPr marL="1371600" algn="l" rtl="0" fontAlgn="base">
      <a:spcBef>
        <a:spcPct val="0"/>
      </a:spcBef>
      <a:spcAft>
        <a:spcPct val="0"/>
      </a:spcAft>
      <a:defRPr sz="9300" kern="1200">
        <a:solidFill>
          <a:schemeClr val="tx1"/>
        </a:solidFill>
        <a:latin typeface="Arial"/>
        <a:ea typeface="+mn-ea"/>
        <a:cs typeface="+mn-cs"/>
      </a:defRPr>
    </a:lvl4pPr>
    <a:lvl5pPr marL="1828800" algn="l" rtl="0" fontAlgn="base">
      <a:spcBef>
        <a:spcPct val="0"/>
      </a:spcBef>
      <a:spcAft>
        <a:spcPct val="0"/>
      </a:spcAft>
      <a:defRPr sz="9300" kern="1200">
        <a:solidFill>
          <a:schemeClr val="tx1"/>
        </a:solidFill>
        <a:latin typeface="Arial"/>
        <a:ea typeface="+mn-ea"/>
        <a:cs typeface="+mn-cs"/>
      </a:defRPr>
    </a:lvl5pPr>
    <a:lvl6pPr marL="2286000" algn="l" defTabSz="914400" rtl="0" eaLnBrk="1" latinLnBrk="0" hangingPunct="1">
      <a:defRPr sz="9300" kern="1200">
        <a:solidFill>
          <a:schemeClr val="tx1"/>
        </a:solidFill>
        <a:latin typeface="Arial"/>
        <a:ea typeface="+mn-ea"/>
        <a:cs typeface="+mn-cs"/>
      </a:defRPr>
    </a:lvl6pPr>
    <a:lvl7pPr marL="2743200" algn="l" defTabSz="914400" rtl="0" eaLnBrk="1" latinLnBrk="0" hangingPunct="1">
      <a:defRPr sz="9300" kern="1200">
        <a:solidFill>
          <a:schemeClr val="tx1"/>
        </a:solidFill>
        <a:latin typeface="Arial"/>
        <a:ea typeface="+mn-ea"/>
        <a:cs typeface="+mn-cs"/>
      </a:defRPr>
    </a:lvl7pPr>
    <a:lvl8pPr marL="3200400" algn="l" defTabSz="914400" rtl="0" eaLnBrk="1" latinLnBrk="0" hangingPunct="1">
      <a:defRPr sz="9300" kern="1200">
        <a:solidFill>
          <a:schemeClr val="tx1"/>
        </a:solidFill>
        <a:latin typeface="Arial"/>
        <a:ea typeface="+mn-ea"/>
        <a:cs typeface="+mn-cs"/>
      </a:defRPr>
    </a:lvl8pPr>
    <a:lvl9pPr marL="3657600" algn="l" defTabSz="914400" rtl="0" eaLnBrk="1" latinLnBrk="0" hangingPunct="1">
      <a:defRPr sz="9300" kern="1200">
        <a:solidFill>
          <a:schemeClr val="tx1"/>
        </a:solidFill>
        <a:latin typeface="Arial"/>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D3E2"/>
    <a:srgbClr val="569BBE"/>
    <a:srgbClr val="A40000"/>
    <a:srgbClr val="FF1111"/>
    <a:srgbClr val="DE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3615" autoAdjust="0"/>
    <p:restoredTop sz="94660"/>
  </p:normalViewPr>
  <p:slideViewPr>
    <p:cSldViewPr snapToGrid="0">
      <p:cViewPr>
        <p:scale>
          <a:sx n="24" d="100"/>
          <a:sy n="24" d="100"/>
        </p:scale>
        <p:origin x="892" y="12"/>
      </p:cViewPr>
      <p:guideLst>
        <p:guide orient="horz" pos="10368"/>
        <p:guide pos="13824"/>
      </p:guideLst>
    </p:cSldViewPr>
  </p:slideViewPr>
  <p:notesTextViewPr>
    <p:cViewPr>
      <p:scale>
        <a:sx n="100" d="100"/>
        <a:sy n="100" d="100"/>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theme" Target="theme/theme1.xml"/><Relationship Id="rId5" Type="http://schemas.openxmlformats.org/officeDocument/2006/relationships/font" Target="fonts/font3.fntdata"/><Relationship Id="rId10" Type="http://schemas.openxmlformats.org/officeDocument/2006/relationships/viewProps" Target="viewProps.xml"/><Relationship Id="rId4" Type="http://schemas.openxmlformats.org/officeDocument/2006/relationships/font" Target="fonts/font2.fntdata"/><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6583363" y="18653125"/>
            <a:ext cx="30724475" cy="8413750"/>
          </a:xfrm>
        </p:spPr>
        <p:txBody>
          <a:bodyPr/>
          <a:lstStyle>
            <a:defPPr>
              <a:defRPr kern="1200"/>
            </a:defPPr>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E9E44D62-E9B9-4A1F-9D60-78A1B8BD2136}" type="slidenum">
              <a:rPr lang="en-US"/>
              <a:pPr>
                <a:defRPr/>
              </a:pPr>
              <a:t>‹#›</a:t>
            </a:fld>
            <a:endParaRPr lang="en-US"/>
          </a:p>
        </p:txBody>
      </p:sp>
    </p:spTree>
    <p:extLst>
      <p:ext uri="{BB962C8B-B14F-4D97-AF65-F5344CB8AC3E}">
        <p14:creationId xmlns:p14="http://schemas.microsoft.com/office/powerpoint/2010/main" val="165212747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D772C493-C7EB-4BEF-9EB3-C72AA1A173D7}" type="slidenum">
              <a:rPr lang="en-US"/>
              <a:pPr>
                <a:defRPr/>
              </a:pPr>
              <a:t>‹#›</a:t>
            </a:fld>
            <a:endParaRPr lang="en-US"/>
          </a:p>
        </p:txBody>
      </p:sp>
    </p:spTree>
    <p:extLst>
      <p:ext uri="{BB962C8B-B14F-4D97-AF65-F5344CB8AC3E}">
        <p14:creationId xmlns:p14="http://schemas.microsoft.com/office/powerpoint/2010/main" val="242892216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p:spPr>
        <p:txBody>
          <a:bodyPr anchor="t"/>
          <a:lstStyle>
            <a:defPPr>
              <a:defRPr kern="1200"/>
            </a:defPPr>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defPPr>
              <a:defRPr kern="1200"/>
            </a:defPPr>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3239EF23-2AC5-4B50-8C9E-5F8D49668A77}" type="slidenum">
              <a:rPr lang="en-US"/>
              <a:pPr>
                <a:defRPr/>
              </a:pPr>
              <a:t>‹#›</a:t>
            </a:fld>
            <a:endParaRPr lang="en-US"/>
          </a:p>
        </p:txBody>
      </p:sp>
    </p:spTree>
    <p:extLst>
      <p:ext uri="{BB962C8B-B14F-4D97-AF65-F5344CB8AC3E}">
        <p14:creationId xmlns:p14="http://schemas.microsoft.com/office/powerpoint/2010/main" val="44862582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2193925" y="7680325"/>
            <a:ext cx="19675475" cy="21724938"/>
          </a:xfr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0" y="7680325"/>
            <a:ext cx="19675475" cy="21724938"/>
          </a:xfr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0BBD8762-0F6F-41F2-8E1E-C5EF6CE7FF3C}" type="slidenum">
              <a:rPr lang="en-US"/>
              <a:pPr>
                <a:defRPr/>
              </a:pPr>
              <a:t>‹#›</a:t>
            </a:fld>
            <a:endParaRPr lang="en-US"/>
          </a:p>
        </p:txBody>
      </p:sp>
    </p:spTree>
    <p:extLst>
      <p:ext uri="{BB962C8B-B14F-4D97-AF65-F5344CB8AC3E}">
        <p14:creationId xmlns:p14="http://schemas.microsoft.com/office/powerpoint/2010/main" val="330539722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p:spPr>
        <p:txBody>
          <a:bodyPr anchor="b"/>
          <a:lstStyle>
            <a:defPPr>
              <a:defRPr kern="1200"/>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2"/>
          </a:xfr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8" cy="3070225"/>
          </a:xfrm>
        </p:spPr>
        <p:txBody>
          <a:bodyPr anchor="b"/>
          <a:lstStyle>
            <a:defPPr>
              <a:defRPr kern="1200"/>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8" cy="18965862"/>
          </a:xfr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C245EB89-E1F0-4213-BFCF-D6A06A13C4EF}" type="slidenum">
              <a:rPr lang="en-US"/>
              <a:pPr>
                <a:defRPr/>
              </a:pPr>
              <a:t>‹#›</a:t>
            </a:fld>
            <a:endParaRPr lang="en-US"/>
          </a:p>
        </p:txBody>
      </p:sp>
    </p:spTree>
    <p:extLst>
      <p:ext uri="{BB962C8B-B14F-4D97-AF65-F5344CB8AC3E}">
        <p14:creationId xmlns:p14="http://schemas.microsoft.com/office/powerpoint/2010/main" val="403735668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F9249905-9305-4041-8B60-8DE0824E8129}" type="slidenum">
              <a:rPr lang="en-US"/>
              <a:pPr>
                <a:defRPr/>
              </a:pPr>
              <a:t>‹#›</a:t>
            </a:fld>
            <a:endParaRPr lang="en-US"/>
          </a:p>
        </p:txBody>
      </p:sp>
    </p:spTree>
    <p:extLst>
      <p:ext uri="{BB962C8B-B14F-4D97-AF65-F5344CB8AC3E}">
        <p14:creationId xmlns:p14="http://schemas.microsoft.com/office/powerpoint/2010/main" val="83281219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97C76933-D99D-4DC1-BD09-1072CC92B201}" type="slidenum">
              <a:rPr lang="en-US"/>
              <a:pPr>
                <a:defRPr/>
              </a:pPr>
              <a:t>‹#›</a:t>
            </a:fld>
            <a:endParaRPr lang="en-US"/>
          </a:p>
        </p:txBody>
      </p:sp>
    </p:spTree>
    <p:extLst>
      <p:ext uri="{BB962C8B-B14F-4D97-AF65-F5344CB8AC3E}">
        <p14:creationId xmlns:p14="http://schemas.microsoft.com/office/powerpoint/2010/main" val="75449367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p:spPr>
        <p:txBody>
          <a:bodyPr anchor="b"/>
          <a:lstStyle>
            <a:defPPr>
              <a:defRPr kern="1200"/>
            </a:defPPr>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p:spPr>
        <p:txBody>
          <a:bodyPr/>
          <a:lstStyle>
            <a:defPPr>
              <a:defRPr kern="1200"/>
            </a:defPPr>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p:spPr>
        <p:txBody>
          <a:bodyPr/>
          <a:lstStyle>
            <a:defPPr>
              <a:defRPr kern="1200"/>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EF6A5529-8465-4E7D-9DB8-D374C51CD792}" type="slidenum">
              <a:rPr lang="en-US"/>
              <a:pPr>
                <a:defRPr/>
              </a:pPr>
              <a:t>‹#›</a:t>
            </a:fld>
            <a:endParaRPr lang="en-US"/>
          </a:p>
        </p:txBody>
      </p:sp>
    </p:spTree>
    <p:extLst>
      <p:ext uri="{BB962C8B-B14F-4D97-AF65-F5344CB8AC3E}">
        <p14:creationId xmlns:p14="http://schemas.microsoft.com/office/powerpoint/2010/main" val="38291111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2"/>
            <a:ext cx="26335038" cy="2720975"/>
          </a:xfrm>
        </p:spPr>
        <p:txBody>
          <a:bodyPr anchor="b"/>
          <a:lstStyle>
            <a:defPPr>
              <a:defRPr kern="1200"/>
            </a:defPPr>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8" cy="19750088"/>
          </a:xfrm>
        </p:spPr>
        <p:txBody>
          <a:bodyPr/>
          <a:lstStyle>
            <a:defPPr>
              <a:defRPr kern="1200"/>
            </a:defPPr>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8"/>
            <a:ext cx="26335038" cy="3862387"/>
          </a:xfrm>
        </p:spPr>
        <p:txBody>
          <a:bodyPr/>
          <a:lstStyle>
            <a:defPPr>
              <a:defRPr kern="1200"/>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3C022C6C-C3BF-4CE1-8842-0AC597017372}" type="slidenum">
              <a:rPr lang="en-US"/>
              <a:pPr>
                <a:defRPr/>
              </a:pPr>
              <a:t>‹#›</a:t>
            </a:fld>
            <a:endParaRPr lang="en-US"/>
          </a:p>
        </p:txBody>
      </p:sp>
    </p:spTree>
    <p:extLst>
      <p:ext uri="{BB962C8B-B14F-4D97-AF65-F5344CB8AC3E}">
        <p14:creationId xmlns:p14="http://schemas.microsoft.com/office/powerpoint/2010/main" val="260181050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8A277C51-0625-40F0-8A02-D153CC2D7029}" type="slidenum">
              <a:rPr lang="en-US"/>
              <a:pPr>
                <a:defRPr/>
              </a:pPr>
              <a:t>‹#›</a:t>
            </a:fld>
            <a:endParaRPr lang="en-US"/>
          </a:p>
        </p:txBody>
      </p:sp>
    </p:spTree>
    <p:extLst>
      <p:ext uri="{BB962C8B-B14F-4D97-AF65-F5344CB8AC3E}">
        <p14:creationId xmlns:p14="http://schemas.microsoft.com/office/powerpoint/2010/main" val="424285903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438" y="1317625"/>
            <a:ext cx="9875837" cy="28087638"/>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2193925" y="1317625"/>
            <a:ext cx="29475112" cy="28087638"/>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C9A1A37-7051-412A-8F35-8483CD8F48E7}" type="slidenum">
              <a:rPr lang="en-US"/>
              <a:pPr>
                <a:defRPr/>
              </a:pPr>
              <a:t>‹#›</a:t>
            </a:fld>
            <a:endParaRPr lang="en-US"/>
          </a:p>
        </p:txBody>
      </p:sp>
    </p:spTree>
    <p:extLst>
      <p:ext uri="{BB962C8B-B14F-4D97-AF65-F5344CB8AC3E}">
        <p14:creationId xmlns:p14="http://schemas.microsoft.com/office/powerpoint/2010/main" val="3709170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193925" y="1317625"/>
            <a:ext cx="39503350" cy="548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8" tIns="235129" rIns="470258" bIns="235129"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2193925" y="7680325"/>
            <a:ext cx="39503350" cy="21724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8" tIns="235129" rIns="470258" bIns="235129"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193925" y="29976762"/>
            <a:ext cx="10242550"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8" tIns="235129" rIns="470258" bIns="235129" anchor="t" anchorCtr="0" compatLnSpc="1">
            <a:prstTxWarp prst="textNoShape">
              <a:avLst/>
            </a:prstTxWarp>
          </a:bodyPr>
          <a:lstStyle>
            <a:defPPr>
              <a:defRPr kern="1200"/>
            </a:defPPr>
            <a:lvl1pPr defTabSz="4702175">
              <a:defRPr sz="7200" smtClean="0">
                <a:latin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4995525" y="29976762"/>
            <a:ext cx="13900150"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8" tIns="235129" rIns="470258" bIns="235129" anchor="t" anchorCtr="0" compatLnSpc="1">
            <a:prstTxWarp prst="textNoShape">
              <a:avLst/>
            </a:prstTxWarp>
          </a:bodyPr>
          <a:lstStyle>
            <a:defPPr>
              <a:defRPr kern="1200"/>
            </a:defPPr>
            <a:lvl1pPr algn="ctr" defTabSz="4702175">
              <a:defRPr sz="7200" smtClean="0">
                <a:latin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31454725" y="29976762"/>
            <a:ext cx="10242550"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8" tIns="235129" rIns="470258" bIns="235129" anchor="t" anchorCtr="0" compatLnSpc="1">
            <a:prstTxWarp prst="textNoShape">
              <a:avLst/>
            </a:prstTxWarp>
          </a:bodyPr>
          <a:lstStyle>
            <a:defPPr>
              <a:defRPr kern="1200"/>
            </a:defPPr>
            <a:lvl1pPr algn="r" defTabSz="4702175">
              <a:defRPr sz="7200" smtClean="0">
                <a:latin typeface="Arial" pitchFamily="34" charset="0"/>
              </a:defRPr>
            </a:lvl1pPr>
          </a:lstStyle>
          <a:p>
            <a:pPr>
              <a:defRPr/>
            </a:pPr>
            <a:fld id="{25043CB6-A91D-4176-912B-555F54C38C99}" type="slidenum">
              <a:rPr lang="en-US"/>
              <a:pPr>
                <a:defRPr/>
              </a:pPr>
              <a:t>‹#›</a:t>
            </a:fld>
            <a:endParaRPr lang="en-US"/>
          </a:p>
        </p:txBody>
      </p:sp>
      <p:pic>
        <p:nvPicPr>
          <p:cNvPr id="1031" name="New picture"/>
          <p:cNvPicPr/>
          <p:nvPr/>
        </p:nvPicPr>
        <p:blipFill>
          <a:blip r:embed="rId13"/>
          <a:stretch>
            <a:fillRect/>
          </a:stretch>
        </p:blipFill>
        <p:spPr>
          <a:xfrm rot="16200000">
            <a:off x="-11074400" y="16459200"/>
            <a:ext cx="14274800" cy="3937000"/>
          </a:xfrm>
          <a:prstGeom prst="rect">
            <a:avLst/>
          </a:prstGeom>
        </p:spPr>
      </p:pic>
      <p:pic>
        <p:nvPicPr>
          <p:cNvPr id="1032" name="New picture"/>
          <p:cNvPicPr/>
          <p:nvPr/>
        </p:nvPicPr>
        <p:blipFill>
          <a:blip r:embed="rId13"/>
          <a:stretch>
            <a:fillRect/>
          </a:stretch>
        </p:blipFill>
        <p:spPr>
          <a:xfrm rot="5400000">
            <a:off x="40690800" y="16459200"/>
            <a:ext cx="14274800" cy="3937000"/>
          </a:xfrm>
          <a:prstGeom prst="rect">
            <a:avLst/>
          </a:prstGeom>
        </p:spPr>
      </p:pic>
      <p:pic>
        <p:nvPicPr>
          <p:cNvPr id="1033" name="New picture"/>
          <p:cNvPicPr/>
          <p:nvPr/>
        </p:nvPicPr>
        <p:blipFill>
          <a:blip r:embed="rId14"/>
          <a:stretch>
            <a:fillRect/>
          </a:stretch>
        </p:blipFill>
        <p:spPr>
          <a:xfrm>
            <a:off x="6946900" y="33426400"/>
            <a:ext cx="29997400" cy="1447800"/>
          </a:xfrm>
          <a:prstGeom prst="rect">
            <a:avLst/>
          </a:prstGeom>
        </p:spPr>
      </p:pic>
      <p:sp>
        <p:nvSpPr>
          <p:cNvPr id="1034" name="New shape"/>
          <p:cNvSpPr/>
          <p:nvPr/>
        </p:nvSpPr>
        <p:spPr>
          <a:xfrm>
            <a:off x="6946900" y="33997900"/>
            <a:ext cx="219456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conceptualizingcobalt  Size: 48x36</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4702175" rtl="0" eaLnBrk="0" fontAlgn="base" hangingPunct="0">
        <a:spcBef>
          <a:spcPct val="0"/>
        </a:spcBef>
        <a:spcAft>
          <a:spcPct val="0"/>
        </a:spcAft>
        <a:defRPr sz="22600">
          <a:solidFill>
            <a:schemeClr val="tx2"/>
          </a:solidFill>
          <a:latin typeface="+mj-lt"/>
          <a:ea typeface="+mj-ea"/>
          <a:cs typeface="+mj-cs"/>
        </a:defRPr>
      </a:lvl1pPr>
      <a:lvl2pPr algn="ctr" defTabSz="4702175" rtl="0" eaLnBrk="0" fontAlgn="base" hangingPunct="0">
        <a:spcBef>
          <a:spcPct val="0"/>
        </a:spcBef>
        <a:spcAft>
          <a:spcPct val="0"/>
        </a:spcAft>
        <a:defRPr sz="22600">
          <a:solidFill>
            <a:schemeClr val="tx2"/>
          </a:solidFill>
          <a:latin typeface="Arial" pitchFamily="34" charset="0"/>
        </a:defRPr>
      </a:lvl2pPr>
      <a:lvl3pPr algn="ctr" defTabSz="4702175" rtl="0" eaLnBrk="0" fontAlgn="base" hangingPunct="0">
        <a:spcBef>
          <a:spcPct val="0"/>
        </a:spcBef>
        <a:spcAft>
          <a:spcPct val="0"/>
        </a:spcAft>
        <a:defRPr sz="22600">
          <a:solidFill>
            <a:schemeClr val="tx2"/>
          </a:solidFill>
          <a:latin typeface="Arial" pitchFamily="34" charset="0"/>
        </a:defRPr>
      </a:lvl3pPr>
      <a:lvl4pPr algn="ctr" defTabSz="4702175" rtl="0" eaLnBrk="0" fontAlgn="base" hangingPunct="0">
        <a:spcBef>
          <a:spcPct val="0"/>
        </a:spcBef>
        <a:spcAft>
          <a:spcPct val="0"/>
        </a:spcAft>
        <a:defRPr sz="22600">
          <a:solidFill>
            <a:schemeClr val="tx2"/>
          </a:solidFill>
          <a:latin typeface="Arial" pitchFamily="34" charset="0"/>
        </a:defRPr>
      </a:lvl4pPr>
      <a:lvl5pPr algn="ctr" defTabSz="4702175" rtl="0" eaLnBrk="0" fontAlgn="base" hangingPunct="0">
        <a:spcBef>
          <a:spcPct val="0"/>
        </a:spcBef>
        <a:spcAft>
          <a:spcPct val="0"/>
        </a:spcAft>
        <a:defRPr sz="22600">
          <a:solidFill>
            <a:schemeClr val="tx2"/>
          </a:solidFill>
          <a:latin typeface="Arial" pitchFamily="34" charset="0"/>
        </a:defRPr>
      </a:lvl5pPr>
      <a:lvl6pPr marL="457200" algn="ctr" defTabSz="4702175" rtl="0" fontAlgn="base">
        <a:spcBef>
          <a:spcPct val="0"/>
        </a:spcBef>
        <a:spcAft>
          <a:spcPct val="0"/>
        </a:spcAft>
        <a:defRPr sz="22600">
          <a:solidFill>
            <a:schemeClr val="tx2"/>
          </a:solidFill>
          <a:latin typeface="Arial" pitchFamily="34" charset="0"/>
        </a:defRPr>
      </a:lvl6pPr>
      <a:lvl7pPr marL="914400" algn="ctr" defTabSz="4702175" rtl="0" fontAlgn="base">
        <a:spcBef>
          <a:spcPct val="0"/>
        </a:spcBef>
        <a:spcAft>
          <a:spcPct val="0"/>
        </a:spcAft>
        <a:defRPr sz="22600">
          <a:solidFill>
            <a:schemeClr val="tx2"/>
          </a:solidFill>
          <a:latin typeface="Arial" pitchFamily="34" charset="0"/>
        </a:defRPr>
      </a:lvl7pPr>
      <a:lvl8pPr marL="1371600" algn="ctr" defTabSz="4702175" rtl="0" fontAlgn="base">
        <a:spcBef>
          <a:spcPct val="0"/>
        </a:spcBef>
        <a:spcAft>
          <a:spcPct val="0"/>
        </a:spcAft>
        <a:defRPr sz="22600">
          <a:solidFill>
            <a:schemeClr val="tx2"/>
          </a:solidFill>
          <a:latin typeface="Arial" pitchFamily="34" charset="0"/>
        </a:defRPr>
      </a:lvl8pPr>
      <a:lvl9pPr marL="1828800" algn="ctr" defTabSz="4702175" rtl="0" fontAlgn="base">
        <a:spcBef>
          <a:spcPct val="0"/>
        </a:spcBef>
        <a:spcAft>
          <a:spcPct val="0"/>
        </a:spcAft>
        <a:defRPr sz="22600">
          <a:solidFill>
            <a:schemeClr val="tx2"/>
          </a:solidFill>
          <a:latin typeface="Arial" pitchFamily="34" charset="0"/>
        </a:defRPr>
      </a:lvl9pPr>
    </p:titleStyle>
    <p:bodyStyle>
      <a:defPPr>
        <a:defRPr kern="1200"/>
      </a:defPPr>
      <a:lvl1pPr marL="1763713" indent="-1763713" algn="l" defTabSz="4702175" rtl="0" eaLnBrk="0" fontAlgn="base" hangingPunct="0">
        <a:spcBef>
          <a:spcPct val="20000"/>
        </a:spcBef>
        <a:spcAft>
          <a:spcPct val="0"/>
        </a:spcAft>
        <a:buChar char="•"/>
        <a:defRPr sz="16500">
          <a:solidFill>
            <a:schemeClr val="tx1"/>
          </a:solidFill>
          <a:latin typeface="+mn-lt"/>
          <a:ea typeface="+mn-ea"/>
          <a:cs typeface="+mn-cs"/>
        </a:defRPr>
      </a:lvl1pPr>
      <a:lvl2pPr marL="3821113" indent="-1470025" algn="l" defTabSz="4702175" rtl="0" eaLnBrk="0" fontAlgn="base" hangingPunct="0">
        <a:spcBef>
          <a:spcPct val="20000"/>
        </a:spcBef>
        <a:spcAft>
          <a:spcPct val="0"/>
        </a:spcAft>
        <a:buChar char="–"/>
        <a:defRPr sz="14400">
          <a:solidFill>
            <a:schemeClr val="tx1"/>
          </a:solidFill>
          <a:latin typeface="+mn-lt"/>
        </a:defRPr>
      </a:lvl2pPr>
      <a:lvl3pPr marL="5878513" indent="-1176338" algn="l" defTabSz="4702175" rtl="0" eaLnBrk="0" fontAlgn="base" hangingPunct="0">
        <a:spcBef>
          <a:spcPct val="20000"/>
        </a:spcBef>
        <a:spcAft>
          <a:spcPct val="0"/>
        </a:spcAft>
        <a:buChar char="•"/>
        <a:defRPr sz="12300">
          <a:solidFill>
            <a:schemeClr val="tx1"/>
          </a:solidFill>
          <a:latin typeface="+mn-lt"/>
        </a:defRPr>
      </a:lvl3pPr>
      <a:lvl4pPr marL="8229600" indent="-1176338" algn="l" defTabSz="4702175" rtl="0" eaLnBrk="0" fontAlgn="base" hangingPunct="0">
        <a:spcBef>
          <a:spcPct val="20000"/>
        </a:spcBef>
        <a:spcAft>
          <a:spcPct val="0"/>
        </a:spcAft>
        <a:buChar char="–"/>
        <a:defRPr sz="10300">
          <a:solidFill>
            <a:schemeClr val="tx1"/>
          </a:solidFill>
          <a:latin typeface="+mn-lt"/>
        </a:defRPr>
      </a:lvl4pPr>
      <a:lvl5pPr marL="10580688" indent="-1174750" algn="l" defTabSz="4702175" rtl="0" eaLnBrk="0" fontAlgn="base" hangingPunct="0">
        <a:spcBef>
          <a:spcPct val="20000"/>
        </a:spcBef>
        <a:spcAft>
          <a:spcPct val="0"/>
        </a:spcAft>
        <a:buChar char="»"/>
        <a:defRPr sz="10300">
          <a:solidFill>
            <a:schemeClr val="tx1"/>
          </a:solidFill>
          <a:latin typeface="+mn-lt"/>
        </a:defRPr>
      </a:lvl5pPr>
      <a:lvl6pPr marL="11037888" indent="-1174750" algn="l" defTabSz="4702175" rtl="0" fontAlgn="base">
        <a:spcBef>
          <a:spcPct val="20000"/>
        </a:spcBef>
        <a:spcAft>
          <a:spcPct val="0"/>
        </a:spcAft>
        <a:buChar char="»"/>
        <a:defRPr sz="10300">
          <a:solidFill>
            <a:schemeClr val="tx1"/>
          </a:solidFill>
          <a:latin typeface="+mn-lt"/>
        </a:defRPr>
      </a:lvl6pPr>
      <a:lvl7pPr marL="11495088" indent="-1174750" algn="l" defTabSz="4702175" rtl="0" fontAlgn="base">
        <a:spcBef>
          <a:spcPct val="20000"/>
        </a:spcBef>
        <a:spcAft>
          <a:spcPct val="0"/>
        </a:spcAft>
        <a:buChar char="»"/>
        <a:defRPr sz="10300">
          <a:solidFill>
            <a:schemeClr val="tx1"/>
          </a:solidFill>
          <a:latin typeface="+mn-lt"/>
        </a:defRPr>
      </a:lvl7pPr>
      <a:lvl8pPr marL="11952288" indent="-1174750" algn="l" defTabSz="4702175" rtl="0" fontAlgn="base">
        <a:spcBef>
          <a:spcPct val="20000"/>
        </a:spcBef>
        <a:spcAft>
          <a:spcPct val="0"/>
        </a:spcAft>
        <a:buChar char="»"/>
        <a:defRPr sz="10300">
          <a:solidFill>
            <a:schemeClr val="tx1"/>
          </a:solidFill>
          <a:latin typeface="+mn-lt"/>
        </a:defRPr>
      </a:lvl8pPr>
      <a:lvl9pPr marL="12409488" indent="-1174750" algn="l" defTabSz="4702175" rtl="0" fontAlgn="base">
        <a:spcBef>
          <a:spcPct val="20000"/>
        </a:spcBef>
        <a:spcAft>
          <a:spcPct val="0"/>
        </a:spcAft>
        <a:buChar char="»"/>
        <a:defRPr sz="103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5.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1E0E5"/>
            </a:gs>
          </a:gsLst>
          <a:lin ang="5400000" scaled="1"/>
        </a:gradFill>
        <a:effectLst/>
      </p:bgPr>
    </p:bg>
    <p:spTree>
      <p:nvGrpSpPr>
        <p:cNvPr id="1" name=""/>
        <p:cNvGrpSpPr/>
        <p:nvPr/>
      </p:nvGrpSpPr>
      <p:grpSpPr>
        <a:xfrm>
          <a:off x="0" y="0"/>
          <a:ext cx="0" cy="0"/>
          <a:chOff x="0" y="0"/>
          <a:chExt cx="0" cy="0"/>
        </a:xfrm>
      </p:grpSpPr>
      <p:sp>
        <p:nvSpPr>
          <p:cNvPr id="32" name="Rectangle 27"/>
          <p:cNvSpPr>
            <a:spLocks noChangeArrowheads="1"/>
          </p:cNvSpPr>
          <p:nvPr/>
        </p:nvSpPr>
        <p:spPr bwMode="auto">
          <a:xfrm>
            <a:off x="-48494" y="0"/>
            <a:ext cx="43939693" cy="6533048"/>
          </a:xfrm>
          <a:prstGeom prst="rect">
            <a:avLst/>
          </a:prstGeom>
          <a:gradFill>
            <a:gsLst>
              <a:gs pos="5000">
                <a:srgbClr val="235078"/>
              </a:gs>
              <a:gs pos="100000">
                <a:srgbClr val="1482A5"/>
              </a:gs>
            </a:gsLst>
            <a:lin ang="0" scaled="1"/>
          </a:gradFill>
          <a:ln>
            <a:noFill/>
          </a:ln>
        </p:spPr>
        <p:txBody>
          <a:bodyPr wrap="none" anchor="ctr"/>
          <a:lstStyle>
            <a:defPPr>
              <a:defRPr kern="1200"/>
            </a:defPPr>
          </a:lstStyle>
          <a:p>
            <a:endParaRPr lang="en-US"/>
          </a:p>
        </p:txBody>
      </p:sp>
      <p:sp>
        <p:nvSpPr>
          <p:cNvPr id="33" name="Rectangle 29"/>
          <p:cNvSpPr>
            <a:spLocks noChangeArrowheads="1"/>
          </p:cNvSpPr>
          <p:nvPr/>
        </p:nvSpPr>
        <p:spPr bwMode="auto">
          <a:xfrm>
            <a:off x="-48492" y="31447268"/>
            <a:ext cx="43939693" cy="1471130"/>
          </a:xfrm>
          <a:prstGeom prst="rect">
            <a:avLst/>
          </a:prstGeom>
          <a:gradFill>
            <a:gsLst>
              <a:gs pos="5000">
                <a:srgbClr val="235078"/>
              </a:gs>
              <a:gs pos="100000">
                <a:srgbClr val="1482A5"/>
              </a:gs>
            </a:gsLst>
            <a:lin ang="0" scaled="1"/>
          </a:gradFill>
          <a:ln>
            <a:noFill/>
          </a:ln>
        </p:spPr>
        <p:txBody>
          <a:bodyPr lIns="137160" tIns="68580" rIns="137160" bIns="68580" anchor="ctr"/>
          <a:lstStyle>
            <a:defPPr>
              <a:defRPr kern="1200"/>
            </a:defPPr>
          </a:lstStyle>
          <a:p>
            <a:pPr defTabSz="4703763"/>
            <a:endParaRPr lang="en-US">
              <a:solidFill>
                <a:schemeClr val="bg1"/>
              </a:solidFill>
              <a:sym typeface="Symbol" pitchFamily="18" charset="2"/>
            </a:endParaRPr>
          </a:p>
        </p:txBody>
      </p:sp>
      <p:sp>
        <p:nvSpPr>
          <p:cNvPr id="31" name="Title 11">
            <a:extLst>
              <a:ext uri="{FF2B5EF4-FFF2-40B4-BE49-F238E27FC236}">
                <a16:creationId xmlns:a16="http://schemas.microsoft.com/office/drawing/2014/main" id="{A3F6428D-1FA6-42BA-BAEA-3577E1620F6B}"/>
              </a:ext>
            </a:extLst>
          </p:cNvPr>
          <p:cNvSpPr txBox="1"/>
          <p:nvPr/>
        </p:nvSpPr>
        <p:spPr>
          <a:xfrm>
            <a:off x="1005840" y="792385"/>
            <a:ext cx="41148000" cy="2746935"/>
          </a:xfrm>
          <a:prstGeom prst="rect">
            <a:avLst/>
          </a:prstGeom>
        </p:spPr>
        <p:txBody>
          <a:bodyPr lIns="128016" tIns="64008" rIns="128016" bIns="64008"/>
          <a:lstStyle>
            <a:defPPr>
              <a:defRPr kern="1200"/>
            </a:defPPr>
            <a:lvl1pPr algn="ctr" defTabSz="4389028" rtl="0" eaLnBrk="1" latinLnBrk="0" hangingPunct="1">
              <a:spcBef>
                <a:spcPct val="0"/>
              </a:spcBef>
              <a:buNone/>
              <a:defRPr sz="13400" kern="1200">
                <a:solidFill>
                  <a:schemeClr val="tx1"/>
                </a:solidFill>
                <a:latin typeface="+mj-lt"/>
                <a:ea typeface="+mj-ea"/>
                <a:cs typeface="+mj-cs"/>
              </a:defRPr>
            </a:lvl1pPr>
          </a:lstStyle>
          <a:p>
            <a:pPr algn="l"/>
            <a:r>
              <a:rPr lang="en-US" sz="8800" dirty="0">
                <a:solidFill>
                  <a:schemeClr val="bg1"/>
                </a:solidFill>
                <a:latin typeface="Amaranth" panose="02000503050000020004" pitchFamily="2" charset="0"/>
              </a:rPr>
              <a:t>Knowledge Graphs for Solar Energy News Analysis</a:t>
            </a:r>
          </a:p>
        </p:txBody>
      </p:sp>
      <p:sp>
        <p:nvSpPr>
          <p:cNvPr id="35" name="Text Placeholder 16">
            <a:extLst>
              <a:ext uri="{FF2B5EF4-FFF2-40B4-BE49-F238E27FC236}">
                <a16:creationId xmlns:a16="http://schemas.microsoft.com/office/drawing/2014/main" id="{30C08963-BE29-4B96-B122-F15F02A3F7E3}"/>
              </a:ext>
            </a:extLst>
          </p:cNvPr>
          <p:cNvSpPr txBox="1"/>
          <p:nvPr/>
        </p:nvSpPr>
        <p:spPr>
          <a:xfrm>
            <a:off x="1005840" y="3778048"/>
            <a:ext cx="41148000" cy="2025170"/>
          </a:xfrm>
          <a:prstGeom prst="rect">
            <a:avLst/>
          </a:prstGeom>
        </p:spPr>
        <p:txBody>
          <a:bodyPr lIns="128016" tIns="64008" rIns="128016" bIns="64008">
            <a:spAutoFit/>
          </a:bodyPr>
          <a:lstStyle>
            <a:defPPr>
              <a:defRPr kern="1200"/>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r>
              <a:rPr lang="en-US" sz="5600" dirty="0">
                <a:solidFill>
                  <a:schemeClr val="bg1"/>
                </a:solidFill>
                <a:latin typeface="Titillium Web" panose="00000500000000000000" pitchFamily="2" charset="0"/>
              </a:rPr>
              <a:t>Rachel Kan, Chris Dunham</a:t>
            </a:r>
          </a:p>
          <a:p>
            <a:r>
              <a:rPr lang="en-US" sz="5600" dirty="0">
                <a:solidFill>
                  <a:schemeClr val="bg1"/>
                </a:solidFill>
                <a:latin typeface="Titillium Web" panose="00000500000000000000" pitchFamily="2" charset="0"/>
              </a:rPr>
              <a:t>Cornell University, Syracuse University</a:t>
            </a:r>
          </a:p>
        </p:txBody>
      </p:sp>
      <p:sp>
        <p:nvSpPr>
          <p:cNvPr id="36" name="Rectangle 5">
            <a:extLst>
              <a:ext uri="{FF2B5EF4-FFF2-40B4-BE49-F238E27FC236}">
                <a16:creationId xmlns:a16="http://schemas.microsoft.com/office/drawing/2014/main" id="{98FCC399-CA5D-4873-B45E-22BAE0F51D2E}"/>
              </a:ext>
            </a:extLst>
          </p:cNvPr>
          <p:cNvSpPr>
            <a:spLocks noChangeArrowheads="1"/>
          </p:cNvSpPr>
          <p:nvPr/>
        </p:nvSpPr>
        <p:spPr bwMode="auto">
          <a:xfrm>
            <a:off x="11521440" y="7125252"/>
            <a:ext cx="10058400" cy="784225"/>
          </a:xfrm>
          <a:prstGeom prst="rect">
            <a:avLst/>
          </a:prstGeom>
          <a:solidFill>
            <a:srgbClr val="1482A5"/>
          </a:solidFill>
          <a:ln>
            <a:noFill/>
          </a:ln>
          <a:effectLst/>
        </p:spPr>
        <p:txBody>
          <a:bodyPr wrap="none" lIns="274320" tIns="68580" rIns="274320" bIns="68580" anchor="ctr"/>
          <a:lstStyle>
            <a:defPPr>
              <a:defRPr kern="1200"/>
            </a:defPPr>
          </a:lstStyle>
          <a:p>
            <a:pPr defTabSz="4703763"/>
            <a:r>
              <a:rPr lang="en-US" sz="3600" dirty="0">
                <a:solidFill>
                  <a:schemeClr val="bg1"/>
                </a:solidFill>
                <a:latin typeface="Amaranth" panose="02000503050000020004" pitchFamily="2" charset="0"/>
              </a:rPr>
              <a:t>Methodology</a:t>
            </a:r>
          </a:p>
        </p:txBody>
      </p:sp>
      <p:sp>
        <p:nvSpPr>
          <p:cNvPr id="37" name="Text Box 6">
            <a:extLst>
              <a:ext uri="{FF2B5EF4-FFF2-40B4-BE49-F238E27FC236}">
                <a16:creationId xmlns:a16="http://schemas.microsoft.com/office/drawing/2014/main" id="{BAB40251-2E35-4623-A6BE-28130F737F03}"/>
              </a:ext>
            </a:extLst>
          </p:cNvPr>
          <p:cNvSpPr txBox="1">
            <a:spLocks noChangeArrowheads="1"/>
          </p:cNvSpPr>
          <p:nvPr/>
        </p:nvSpPr>
        <p:spPr bwMode="auto">
          <a:xfrm>
            <a:off x="709550" y="22599664"/>
            <a:ext cx="10058400" cy="4001095"/>
          </a:xfrm>
          <a:prstGeom prst="rect">
            <a:avLst/>
          </a:prstGeom>
          <a:solidFill>
            <a:srgbClr val="B4D3E2"/>
          </a:solidFill>
          <a:ln>
            <a:noFill/>
          </a:ln>
          <a:effectLst>
            <a:softEdge rad="0"/>
          </a:effectLst>
        </p:spPr>
        <p:txBody>
          <a:bodyPr lIns="274320" tIns="274320" rIns="274320" bIns="27432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pPr algn="ctr"/>
            <a:r>
              <a:rPr lang="en-US" sz="2800" dirty="0">
                <a:latin typeface="Titillium Web" panose="00000500000000000000" pitchFamily="2" charset="0"/>
                <a:ea typeface="Open Sans" panose="020B0606030504020204" pitchFamily="34" charset="0"/>
                <a:cs typeface="Open Sans" panose="020B0606030504020204" pitchFamily="34" charset="0"/>
              </a:rPr>
              <a:t>Data Collection</a:t>
            </a:r>
          </a:p>
          <a:p>
            <a:pPr algn="just"/>
            <a:r>
              <a:rPr lang="en-US" sz="2800" dirty="0">
                <a:latin typeface="Titillium Web" panose="00000500000000000000" pitchFamily="2" charset="0"/>
                <a:ea typeface="Open Sans" panose="020B0606030504020204" pitchFamily="34" charset="0"/>
                <a:cs typeface="Open Sans" panose="020B0606030504020204" pitchFamily="34" charset="0"/>
              </a:rPr>
              <a:t>Cornell Newsroom articles were screened for solar energy content using domain-specific keywords. Candidate keywords were identified by extracting frequent bigrams containing solar from article summaries and supplementing them with additional terms from the solar energy literature (e.g., “photovoltaic cell”). Articles containing at least one keyword were scraped for full-text analysis.</a:t>
            </a:r>
          </a:p>
        </p:txBody>
      </p:sp>
      <p:sp>
        <p:nvSpPr>
          <p:cNvPr id="38" name="Rectangle 5">
            <a:extLst>
              <a:ext uri="{FF2B5EF4-FFF2-40B4-BE49-F238E27FC236}">
                <a16:creationId xmlns:a16="http://schemas.microsoft.com/office/drawing/2014/main" id="{991B9DF0-7DD4-4C17-94B6-6C493D1C390D}"/>
              </a:ext>
            </a:extLst>
          </p:cNvPr>
          <p:cNvSpPr>
            <a:spLocks noChangeArrowheads="1"/>
          </p:cNvSpPr>
          <p:nvPr/>
        </p:nvSpPr>
        <p:spPr bwMode="auto">
          <a:xfrm>
            <a:off x="22311361" y="7125252"/>
            <a:ext cx="10058400" cy="784225"/>
          </a:xfrm>
          <a:prstGeom prst="rect">
            <a:avLst/>
          </a:prstGeom>
          <a:solidFill>
            <a:srgbClr val="1482A5"/>
          </a:solidFill>
          <a:ln>
            <a:noFill/>
          </a:ln>
          <a:effectLst/>
        </p:spPr>
        <p:txBody>
          <a:bodyPr wrap="none" lIns="274320" tIns="68580" rIns="274320" bIns="68580" anchor="ctr"/>
          <a:lstStyle>
            <a:defPPr>
              <a:defRPr kern="1200"/>
            </a:defPPr>
          </a:lstStyle>
          <a:p>
            <a:pPr defTabSz="4703763"/>
            <a:r>
              <a:rPr lang="en-US" sz="3600">
                <a:solidFill>
                  <a:schemeClr val="bg1"/>
                </a:solidFill>
                <a:latin typeface="Amaranth" panose="02000503050000020004" pitchFamily="2" charset="0"/>
              </a:rPr>
              <a:t>Results</a:t>
            </a:r>
          </a:p>
        </p:txBody>
      </p:sp>
      <p:sp>
        <p:nvSpPr>
          <p:cNvPr id="39" name="Text Box 6">
            <a:extLst>
              <a:ext uri="{FF2B5EF4-FFF2-40B4-BE49-F238E27FC236}">
                <a16:creationId xmlns:a16="http://schemas.microsoft.com/office/drawing/2014/main" id="{62D65E41-7BC1-4B4D-9C1B-6ED3152D12D0}"/>
              </a:ext>
            </a:extLst>
          </p:cNvPr>
          <p:cNvSpPr txBox="1">
            <a:spLocks noChangeArrowheads="1"/>
          </p:cNvSpPr>
          <p:nvPr/>
        </p:nvSpPr>
        <p:spPr bwMode="auto">
          <a:xfrm>
            <a:off x="22318683" y="8154671"/>
            <a:ext cx="10058400" cy="10033516"/>
          </a:xfrm>
          <a:prstGeom prst="rect">
            <a:avLst/>
          </a:prstGeom>
          <a:solidFill>
            <a:srgbClr val="B4D3E2"/>
          </a:solidFill>
          <a:ln>
            <a:noFill/>
          </a:ln>
          <a:effectLst>
            <a:softEdge rad="0"/>
          </a:effectLst>
        </p:spPr>
        <p:txBody>
          <a:bodyPr lIns="274320" tIns="274320" rIns="274320" bIns="274320">
            <a:spAutoFit/>
          </a:bodyPr>
          <a:lstStyle>
            <a:defPPr>
              <a:defRPr lang="en-US" kern="1200"/>
            </a:defPPr>
            <a:lvl1pPr defTabSz="4703763" eaLnBrk="0" hangingPunct="0">
              <a:defRPr sz="2400">
                <a:latin typeface="Titillium Web" panose="00000500000000000000" pitchFamily="2" charset="0"/>
                <a:ea typeface="Open Sans" panose="020B0606030504020204" pitchFamily="34" charset="0"/>
                <a:cs typeface="Open Sans" panose="020B0606030504020204" pitchFamily="34" charset="0"/>
              </a:defRPr>
            </a:lvl1pPr>
            <a:lvl2pPr marL="742950" indent="-285750" defTabSz="4703763" eaLnBrk="0" hangingPunct="0"/>
            <a:lvl3pPr marL="1143000" indent="-228600" defTabSz="4703763" eaLnBrk="0" hangingPunct="0"/>
            <a:lvl4pPr marL="1600200" indent="-228600" defTabSz="4703763" eaLnBrk="0" hangingPunct="0"/>
            <a:lvl5pPr marL="2057400" indent="-228600" defTabSz="4703763" eaLnBrk="0" hangingPunct="0"/>
            <a:lvl6pPr marL="2514600" indent="-228600" defTabSz="4703763" eaLnBrk="0" fontAlgn="base" hangingPunct="0">
              <a:spcBef>
                <a:spcPct val="0"/>
              </a:spcBef>
              <a:spcAft>
                <a:spcPct val="0"/>
              </a:spcAft>
            </a:lvl6pPr>
            <a:lvl7pPr marL="2971800" indent="-228600" defTabSz="4703763" eaLnBrk="0" fontAlgn="base" hangingPunct="0">
              <a:spcBef>
                <a:spcPct val="0"/>
              </a:spcBef>
              <a:spcAft>
                <a:spcPct val="0"/>
              </a:spcAft>
            </a:lvl7pPr>
            <a:lvl8pPr marL="3429000" indent="-228600" defTabSz="4703763" eaLnBrk="0" fontAlgn="base" hangingPunct="0">
              <a:spcBef>
                <a:spcPct val="0"/>
              </a:spcBef>
              <a:spcAft>
                <a:spcPct val="0"/>
              </a:spcAft>
            </a:lvl8pPr>
            <a:lvl9pPr marL="3886200" indent="-228600" defTabSz="4703763" eaLnBrk="0" fontAlgn="base" hangingPunct="0">
              <a:spcBef>
                <a:spcPct val="0"/>
              </a:spcBef>
              <a:spcAft>
                <a:spcPct val="0"/>
              </a:spcAft>
            </a:lvl9pPr>
          </a:lstStyle>
          <a:p>
            <a:pPr marL="342900" indent="-342900" algn="just">
              <a:buFont typeface="Arial" panose="020B0604020202020204" pitchFamily="34" charset="0"/>
              <a:buChar char="•"/>
            </a:pPr>
            <a:r>
              <a:rPr lang="en-US" sz="2800" dirty="0"/>
              <a:t>The filtering pipeline reduced the original dataset from 5,374 to 1,985 highly relevant solar energy articles, improving extraction quality while reducing computational cost.</a:t>
            </a:r>
          </a:p>
          <a:p>
            <a:pPr marL="342900" indent="-342900" algn="just">
              <a:buFont typeface="Arial" panose="020B0604020202020204" pitchFamily="34" charset="0"/>
              <a:buChar char="•"/>
            </a:pPr>
            <a:r>
              <a:rPr lang="en-US" sz="2800" dirty="0"/>
              <a:t>GPT-4o successfully transformed unstructured news articles into a structured knowledge graph containing entities and their relationships across technologies, organizations, policies, countries, and research initiatives.</a:t>
            </a:r>
          </a:p>
          <a:p>
            <a:pPr marL="342900" indent="-342900" algn="just">
              <a:buFont typeface="Arial" panose="020B0604020202020204" pitchFamily="34" charset="0"/>
              <a:buChar char="•"/>
            </a:pPr>
            <a:r>
              <a:rPr lang="en-US" sz="2800" dirty="0"/>
              <a:t>CNM revealed that clusters formed primarily around geographic regions and areas of focus, including technology development, policy, manufacturing, and international collaborations.</a:t>
            </a:r>
          </a:p>
          <a:p>
            <a:pPr marL="342900" indent="-342900" algn="just">
              <a:buFont typeface="Arial" panose="020B0604020202020204" pitchFamily="34" charset="0"/>
              <a:buChar char="•"/>
            </a:pPr>
            <a:r>
              <a:rPr lang="en-US" sz="2800" dirty="0"/>
              <a:t>The community graph showed that most communities were not directly connected. Instead, information flowed through a small number of highly central communities that linked otherwise separate regions of the network.</a:t>
            </a:r>
          </a:p>
          <a:p>
            <a:pPr marL="342900" indent="-342900" algn="just">
              <a:buFont typeface="Arial" panose="020B0604020202020204" pitchFamily="34" charset="0"/>
              <a:buChar char="•"/>
            </a:pPr>
            <a:r>
              <a:rPr lang="en-US" sz="2800" dirty="0"/>
              <a:t>Prominent communities represented:</a:t>
            </a:r>
          </a:p>
          <a:p>
            <a:pPr marL="1085850" lvl="1" indent="-342900" algn="just">
              <a:buFont typeface="Arial" panose="020B0604020202020204" pitchFamily="34" charset="0"/>
              <a:buChar char="•"/>
            </a:pPr>
            <a:r>
              <a:rPr lang="en-US" sz="2800" dirty="0">
                <a:latin typeface="Titillium Web" panose="00000500000000000000" pitchFamily="2" charset="0"/>
                <a:ea typeface="Open Sans" panose="020B0606030504020204" pitchFamily="34" charset="0"/>
                <a:cs typeface="Open Sans" panose="020B0606030504020204" pitchFamily="34" charset="0"/>
              </a:rPr>
              <a:t>American residential solar markets</a:t>
            </a:r>
          </a:p>
          <a:p>
            <a:pPr marL="1085850" lvl="1" indent="-342900" algn="just">
              <a:buFont typeface="Arial" panose="020B0604020202020204" pitchFamily="34" charset="0"/>
              <a:buChar char="•"/>
            </a:pPr>
            <a:r>
              <a:rPr lang="en-US" sz="2800" dirty="0">
                <a:latin typeface="Titillium Web" panose="00000500000000000000" pitchFamily="2" charset="0"/>
                <a:ea typeface="Open Sans" panose="020B0606030504020204" pitchFamily="34" charset="0"/>
                <a:cs typeface="Open Sans" panose="020B0606030504020204" pitchFamily="34" charset="0"/>
              </a:rPr>
              <a:t>U.S.–China manufacturing and trade</a:t>
            </a:r>
          </a:p>
          <a:p>
            <a:pPr marL="1085850" lvl="1" indent="-342900" algn="just">
              <a:buFont typeface="Arial" panose="020B0604020202020204" pitchFamily="34" charset="0"/>
              <a:buChar char="•"/>
            </a:pPr>
            <a:r>
              <a:rPr lang="en-US" sz="2800" dirty="0">
                <a:latin typeface="Titillium Web" panose="00000500000000000000" pitchFamily="2" charset="0"/>
                <a:ea typeface="Open Sans" panose="020B0606030504020204" pitchFamily="34" charset="0"/>
                <a:cs typeface="Open Sans" panose="020B0606030504020204" pitchFamily="34" charset="0"/>
              </a:rPr>
              <a:t>U.S. solar policy</a:t>
            </a:r>
          </a:p>
          <a:p>
            <a:pPr marL="1085850" lvl="1" indent="-342900" algn="just">
              <a:buFont typeface="Arial" panose="020B0604020202020204" pitchFamily="34" charset="0"/>
              <a:buChar char="•"/>
            </a:pPr>
            <a:r>
              <a:rPr lang="en-US" sz="2800" dirty="0">
                <a:latin typeface="Titillium Web" panose="00000500000000000000" pitchFamily="2" charset="0"/>
                <a:ea typeface="Open Sans" panose="020B0606030504020204" pitchFamily="34" charset="0"/>
                <a:cs typeface="Open Sans" panose="020B0606030504020204" pitchFamily="34" charset="0"/>
              </a:rPr>
              <a:t>International solar technologies and cross-border projects</a:t>
            </a:r>
          </a:p>
          <a:p>
            <a:pPr marL="1085850" lvl="1" indent="-342900" algn="just">
              <a:buFont typeface="Arial" panose="020B0604020202020204" pitchFamily="34" charset="0"/>
              <a:buChar char="•"/>
            </a:pPr>
            <a:r>
              <a:rPr lang="en-US" sz="2800" dirty="0">
                <a:latin typeface="Titillium Web" panose="00000500000000000000" pitchFamily="2" charset="0"/>
                <a:ea typeface="Open Sans" panose="020B0606030504020204" pitchFamily="34" charset="0"/>
                <a:cs typeface="Open Sans" panose="020B0606030504020204" pitchFamily="34" charset="0"/>
              </a:rPr>
              <a:t>International organizations promoting solar energy</a:t>
            </a:r>
          </a:p>
        </p:txBody>
      </p:sp>
      <p:sp>
        <p:nvSpPr>
          <p:cNvPr id="42" name="Rectangle 5">
            <a:extLst>
              <a:ext uri="{FF2B5EF4-FFF2-40B4-BE49-F238E27FC236}">
                <a16:creationId xmlns:a16="http://schemas.microsoft.com/office/drawing/2014/main" id="{C08CCD14-6632-49E3-A19B-81E98D465D46}"/>
              </a:ext>
            </a:extLst>
          </p:cNvPr>
          <p:cNvSpPr>
            <a:spLocks noChangeArrowheads="1"/>
          </p:cNvSpPr>
          <p:nvPr/>
        </p:nvSpPr>
        <p:spPr bwMode="auto">
          <a:xfrm>
            <a:off x="33101279" y="7125252"/>
            <a:ext cx="10058400" cy="784225"/>
          </a:xfrm>
          <a:prstGeom prst="rect">
            <a:avLst/>
          </a:prstGeom>
          <a:solidFill>
            <a:srgbClr val="1482A5"/>
          </a:solidFill>
          <a:ln>
            <a:noFill/>
          </a:ln>
          <a:effectLst/>
        </p:spPr>
        <p:txBody>
          <a:bodyPr wrap="none" lIns="274320" tIns="68580" rIns="274320" bIns="68580" anchor="ctr"/>
          <a:lstStyle>
            <a:defPPr>
              <a:defRPr kern="1200"/>
            </a:defPPr>
          </a:lstStyle>
          <a:p>
            <a:pPr defTabSz="4703763"/>
            <a:r>
              <a:rPr lang="en-US" sz="3600" dirty="0">
                <a:solidFill>
                  <a:schemeClr val="bg1"/>
                </a:solidFill>
                <a:latin typeface="Amaranth" panose="02000503050000020004" pitchFamily="2" charset="0"/>
              </a:rPr>
              <a:t>Future Work</a:t>
            </a:r>
          </a:p>
        </p:txBody>
      </p:sp>
      <p:sp>
        <p:nvSpPr>
          <p:cNvPr id="46" name="Rectangle 5">
            <a:extLst>
              <a:ext uri="{FF2B5EF4-FFF2-40B4-BE49-F238E27FC236}">
                <a16:creationId xmlns:a16="http://schemas.microsoft.com/office/drawing/2014/main" id="{88D57C6D-9B7C-4799-9EEF-AD493DF30EC4}"/>
              </a:ext>
            </a:extLst>
          </p:cNvPr>
          <p:cNvSpPr>
            <a:spLocks noChangeArrowheads="1"/>
          </p:cNvSpPr>
          <p:nvPr/>
        </p:nvSpPr>
        <p:spPr bwMode="auto">
          <a:xfrm>
            <a:off x="33093960" y="25329663"/>
            <a:ext cx="10058400" cy="784225"/>
          </a:xfrm>
          <a:prstGeom prst="rect">
            <a:avLst/>
          </a:prstGeom>
          <a:solidFill>
            <a:srgbClr val="1482A5"/>
          </a:solidFill>
          <a:ln>
            <a:noFill/>
          </a:ln>
          <a:effectLst/>
        </p:spPr>
        <p:txBody>
          <a:bodyPr wrap="none" lIns="274320" tIns="68580" rIns="274320" bIns="68580" anchor="ctr"/>
          <a:lstStyle>
            <a:defPPr>
              <a:defRPr kern="1200"/>
            </a:defPPr>
          </a:lstStyle>
          <a:p>
            <a:pPr defTabSz="4703763"/>
            <a:r>
              <a:rPr lang="en-US" sz="3600">
                <a:solidFill>
                  <a:schemeClr val="bg1"/>
                </a:solidFill>
                <a:latin typeface="Amaranth" panose="02000503050000020004" pitchFamily="2" charset="0"/>
              </a:rPr>
              <a:t>Acknowledgements</a:t>
            </a:r>
          </a:p>
        </p:txBody>
      </p:sp>
      <p:sp>
        <p:nvSpPr>
          <p:cNvPr id="16" name="Rectangle 5">
            <a:extLst>
              <a:ext uri="{FF2B5EF4-FFF2-40B4-BE49-F238E27FC236}">
                <a16:creationId xmlns:a16="http://schemas.microsoft.com/office/drawing/2014/main" id="{620C51D2-3423-4C6C-A077-34B27F321D2D}"/>
              </a:ext>
            </a:extLst>
          </p:cNvPr>
          <p:cNvSpPr>
            <a:spLocks noChangeArrowheads="1"/>
          </p:cNvSpPr>
          <p:nvPr/>
        </p:nvSpPr>
        <p:spPr bwMode="auto">
          <a:xfrm>
            <a:off x="731521" y="7125059"/>
            <a:ext cx="10058400" cy="784225"/>
          </a:xfrm>
          <a:prstGeom prst="rect">
            <a:avLst/>
          </a:prstGeom>
          <a:solidFill>
            <a:srgbClr val="1482A5"/>
          </a:solidFill>
          <a:ln>
            <a:noFill/>
          </a:ln>
          <a:effectLst/>
        </p:spPr>
        <p:txBody>
          <a:bodyPr wrap="none" lIns="274320" tIns="68580" rIns="274320" bIns="68580" anchor="ctr"/>
          <a:lstStyle>
            <a:defPPr>
              <a:defRPr kern="1200"/>
            </a:defPPr>
          </a:lstStyle>
          <a:p>
            <a:pPr defTabSz="4703763"/>
            <a:r>
              <a:rPr lang="en-US" sz="3600" dirty="0">
                <a:solidFill>
                  <a:schemeClr val="bg1"/>
                </a:solidFill>
                <a:latin typeface="Amaranth" panose="02000503050000020004" pitchFamily="2" charset="0"/>
              </a:rPr>
              <a:t>Introduction</a:t>
            </a:r>
          </a:p>
        </p:txBody>
      </p:sp>
      <p:sp>
        <p:nvSpPr>
          <p:cNvPr id="287" name="TextBox 286">
            <a:extLst>
              <a:ext uri="{FF2B5EF4-FFF2-40B4-BE49-F238E27FC236}">
                <a16:creationId xmlns:a16="http://schemas.microsoft.com/office/drawing/2014/main" id="{2C6E9F3E-3183-4639-8BD4-4D30DDD1A58D}"/>
              </a:ext>
            </a:extLst>
          </p:cNvPr>
          <p:cNvSpPr txBox="1"/>
          <p:nvPr/>
        </p:nvSpPr>
        <p:spPr>
          <a:xfrm>
            <a:off x="33086641" y="26325113"/>
            <a:ext cx="9857035" cy="3139321"/>
          </a:xfrm>
          <a:prstGeom prst="rect">
            <a:avLst/>
          </a:prstGeom>
          <a:solidFill>
            <a:srgbClr val="B4D3E2"/>
          </a:solidFill>
          <a:ln>
            <a:noFill/>
          </a:ln>
          <a:effectLst>
            <a:softEdge rad="0"/>
          </a:effectLst>
        </p:spPr>
        <p:txBody>
          <a:bodyPr lIns="274320" tIns="274320" rIns="274320" bIns="274320">
            <a:spAutoFit/>
          </a:bodyPr>
          <a:lstStyle>
            <a:defPPr>
              <a:defRPr lang="en-US" kern="1200"/>
            </a:defPPr>
            <a:lvl1pPr marL="342900" indent="-342900" algn="just" defTabSz="4703763" eaLnBrk="0" hangingPunct="0">
              <a:buFont typeface="Arial" panose="020B0604020202020204" pitchFamily="34" charset="0"/>
              <a:buChar char="•"/>
              <a:defRPr sz="2800">
                <a:latin typeface="Titillium Web" panose="00000500000000000000" pitchFamily="2" charset="0"/>
                <a:ea typeface="Open Sans" panose="020B0606030504020204" pitchFamily="34" charset="0"/>
                <a:cs typeface="Open Sans" panose="020B0606030504020204" pitchFamily="34" charset="0"/>
              </a:defRPr>
            </a:lvl1pPr>
            <a:lvl2pPr marL="742950" indent="-285750" defTabSz="4703763" eaLnBrk="0" hangingPunct="0"/>
            <a:lvl3pPr marL="1143000" indent="-228600" defTabSz="4703763" eaLnBrk="0" hangingPunct="0"/>
            <a:lvl4pPr marL="1600200" indent="-228600" defTabSz="4703763" eaLnBrk="0" hangingPunct="0"/>
            <a:lvl5pPr marL="2057400" indent="-228600" defTabSz="4703763" eaLnBrk="0" hangingPunct="0"/>
            <a:lvl6pPr marL="2514600" indent="-228600" defTabSz="4703763" eaLnBrk="0" fontAlgn="base" hangingPunct="0">
              <a:spcBef>
                <a:spcPct val="0"/>
              </a:spcBef>
              <a:spcAft>
                <a:spcPct val="0"/>
              </a:spcAft>
            </a:lvl6pPr>
            <a:lvl7pPr marL="2971800" indent="-228600" defTabSz="4703763" eaLnBrk="0" fontAlgn="base" hangingPunct="0">
              <a:spcBef>
                <a:spcPct val="0"/>
              </a:spcBef>
              <a:spcAft>
                <a:spcPct val="0"/>
              </a:spcAft>
            </a:lvl7pPr>
            <a:lvl8pPr marL="3429000" indent="-228600" defTabSz="4703763" eaLnBrk="0" fontAlgn="base" hangingPunct="0">
              <a:spcBef>
                <a:spcPct val="0"/>
              </a:spcBef>
              <a:spcAft>
                <a:spcPct val="0"/>
              </a:spcAft>
            </a:lvl8pPr>
            <a:lvl9pPr marL="3886200" indent="-228600" defTabSz="4703763" eaLnBrk="0" fontAlgn="base" hangingPunct="0">
              <a:spcBef>
                <a:spcPct val="0"/>
              </a:spcBef>
              <a:spcAft>
                <a:spcPct val="0"/>
              </a:spcAft>
            </a:lvl9pPr>
          </a:lstStyle>
          <a:p>
            <a:pPr marL="0" indent="0">
              <a:buNone/>
            </a:pPr>
            <a:r>
              <a:rPr lang="en-US" dirty="0"/>
              <a:t>Special thanks to Prof. Chris Dunham for his guidance and support throughout this project. We also thank the Cornell Newsroom project for providing access to the underlying dataset. This work was conducted as part of the Syracuse University REU in Text Analytics for Social Scientists, funded by the NSF ASSURE program.</a:t>
            </a:r>
          </a:p>
        </p:txBody>
      </p:sp>
      <p:sp>
        <p:nvSpPr>
          <p:cNvPr id="12" name="Rectangle 5">
            <a:extLst>
              <a:ext uri="{FF2B5EF4-FFF2-40B4-BE49-F238E27FC236}">
                <a16:creationId xmlns:a16="http://schemas.microsoft.com/office/drawing/2014/main" id="{114A7476-6864-8128-A04C-407D201C8BD4}"/>
              </a:ext>
            </a:extLst>
          </p:cNvPr>
          <p:cNvSpPr>
            <a:spLocks noChangeArrowheads="1"/>
          </p:cNvSpPr>
          <p:nvPr/>
        </p:nvSpPr>
        <p:spPr bwMode="auto">
          <a:xfrm>
            <a:off x="33165657" y="19698929"/>
            <a:ext cx="10058400" cy="784225"/>
          </a:xfrm>
          <a:prstGeom prst="rect">
            <a:avLst/>
          </a:prstGeom>
          <a:solidFill>
            <a:srgbClr val="1482A5"/>
          </a:solidFill>
          <a:ln>
            <a:noFill/>
          </a:ln>
          <a:effectLst/>
        </p:spPr>
        <p:txBody>
          <a:bodyPr wrap="none" lIns="274320" tIns="68580" rIns="274320" bIns="68580" anchor="ctr"/>
          <a:lstStyle>
            <a:defPPr>
              <a:defRPr kern="1200"/>
            </a:defPPr>
          </a:lstStyle>
          <a:p>
            <a:pPr defTabSz="4703763"/>
            <a:r>
              <a:rPr lang="en-US" sz="3600" dirty="0">
                <a:solidFill>
                  <a:schemeClr val="bg1"/>
                </a:solidFill>
                <a:latin typeface="Amaranth" panose="02000503050000020004" pitchFamily="2" charset="0"/>
              </a:rPr>
              <a:t>Resources and Contact Information</a:t>
            </a:r>
          </a:p>
        </p:txBody>
      </p:sp>
      <p:sp>
        <p:nvSpPr>
          <p:cNvPr id="13" name="Rectangle 12">
            <a:extLst>
              <a:ext uri="{FF2B5EF4-FFF2-40B4-BE49-F238E27FC236}">
                <a16:creationId xmlns:a16="http://schemas.microsoft.com/office/drawing/2014/main" id="{E9835FDE-A306-B85D-791B-8C956ADB42BB}"/>
              </a:ext>
            </a:extLst>
          </p:cNvPr>
          <p:cNvSpPr/>
          <p:nvPr/>
        </p:nvSpPr>
        <p:spPr bwMode="auto">
          <a:xfrm>
            <a:off x="34819769" y="21805719"/>
            <a:ext cx="6750176" cy="197718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4702175" rtl="0" eaLnBrk="1" fontAlgn="base" latinLnBrk="0" hangingPunct="1">
              <a:lnSpc>
                <a:spcPct val="100000"/>
              </a:lnSpc>
              <a:spcBef>
                <a:spcPct val="0"/>
              </a:spcBef>
              <a:spcAft>
                <a:spcPct val="0"/>
              </a:spcAft>
              <a:buClrTx/>
              <a:buSzTx/>
              <a:buFontTx/>
              <a:buNone/>
              <a:tabLst/>
            </a:pPr>
            <a:r>
              <a:rPr kumimoji="0" lang="en-US" sz="9300" b="0" i="0" u="none" strike="noStrike" cap="none" normalizeH="0" baseline="0" dirty="0">
                <a:ln>
                  <a:noFill/>
                </a:ln>
                <a:solidFill>
                  <a:schemeClr val="tx1"/>
                </a:solidFill>
                <a:effectLst/>
                <a:latin typeface="Arial" pitchFamily="34" charset="0"/>
              </a:rPr>
              <a:t>QR CODES</a:t>
            </a:r>
          </a:p>
        </p:txBody>
      </p:sp>
      <p:pic>
        <p:nvPicPr>
          <p:cNvPr id="15" name="Picture 14">
            <a:extLst>
              <a:ext uri="{FF2B5EF4-FFF2-40B4-BE49-F238E27FC236}">
                <a16:creationId xmlns:a16="http://schemas.microsoft.com/office/drawing/2014/main" id="{57FFC0EE-7EF3-426C-241E-F3889769AA8C}"/>
              </a:ext>
            </a:extLst>
          </p:cNvPr>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38537188" y="864109"/>
            <a:ext cx="4114808" cy="4133096"/>
          </a:xfrm>
          <a:prstGeom prst="rect">
            <a:avLst/>
          </a:prstGeom>
        </p:spPr>
      </p:pic>
      <p:pic>
        <p:nvPicPr>
          <p:cNvPr id="231" name="Picture 230">
            <a:extLst>
              <a:ext uri="{FF2B5EF4-FFF2-40B4-BE49-F238E27FC236}">
                <a16:creationId xmlns:a16="http://schemas.microsoft.com/office/drawing/2014/main" id="{8BAE6E6E-6724-4726-D4E8-7B1051042D0D}"/>
              </a:ext>
            </a:extLst>
          </p:cNvPr>
          <p:cNvPicPr>
            <a:picLocks noChangeAspect="1"/>
          </p:cNvPicPr>
          <p:nvPr/>
        </p:nvPicPr>
        <p:blipFill>
          <a:blip r:embed="rId3" cstate="print">
            <a:clrChange>
              <a:clrFrom>
                <a:srgbClr val="FFFFFF"/>
              </a:clrFrom>
              <a:clrTo>
                <a:srgbClr val="FFFFFF">
                  <a:alpha val="0"/>
                </a:srgbClr>
              </a:clrTo>
            </a:clrChange>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33164889" y="864109"/>
            <a:ext cx="4133096" cy="4133096"/>
          </a:xfrm>
          <a:prstGeom prst="rect">
            <a:avLst/>
          </a:prstGeom>
        </p:spPr>
      </p:pic>
      <p:sp>
        <p:nvSpPr>
          <p:cNvPr id="235" name="Text Box 6">
            <a:extLst>
              <a:ext uri="{FF2B5EF4-FFF2-40B4-BE49-F238E27FC236}">
                <a16:creationId xmlns:a16="http://schemas.microsoft.com/office/drawing/2014/main" id="{DC771754-0602-7C35-AAA2-C4CF5FF723D5}"/>
              </a:ext>
            </a:extLst>
          </p:cNvPr>
          <p:cNvSpPr txBox="1">
            <a:spLocks noChangeArrowheads="1"/>
          </p:cNvSpPr>
          <p:nvPr/>
        </p:nvSpPr>
        <p:spPr bwMode="auto">
          <a:xfrm>
            <a:off x="702227" y="27084261"/>
            <a:ext cx="10058400" cy="4001095"/>
          </a:xfrm>
          <a:prstGeom prst="rect">
            <a:avLst/>
          </a:prstGeom>
          <a:solidFill>
            <a:srgbClr val="B4D3E2"/>
          </a:solidFill>
          <a:ln>
            <a:noFill/>
          </a:ln>
          <a:effectLst>
            <a:softEdge rad="0"/>
          </a:effectLst>
        </p:spPr>
        <p:txBody>
          <a:bodyPr lIns="274320" tIns="274320" rIns="274320" bIns="27432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pPr algn="ctr"/>
            <a:r>
              <a:rPr lang="en-US" sz="2800" dirty="0">
                <a:latin typeface="Titillium Web" panose="00000500000000000000" pitchFamily="2" charset="0"/>
                <a:ea typeface="Open Sans" panose="020B0606030504020204" pitchFamily="34" charset="0"/>
                <a:cs typeface="Open Sans" panose="020B0606030504020204" pitchFamily="34" charset="0"/>
              </a:rPr>
              <a:t>Dataset Filtering</a:t>
            </a:r>
          </a:p>
          <a:p>
            <a:pPr algn="just"/>
            <a:r>
              <a:rPr lang="en-US" sz="2800" dirty="0">
                <a:latin typeface="Titillium Web" panose="00000500000000000000" pitchFamily="2" charset="0"/>
                <a:ea typeface="Open Sans" panose="020B0606030504020204" pitchFamily="34" charset="0"/>
                <a:cs typeface="Open Sans" panose="020B0606030504020204" pitchFamily="34" charset="0"/>
              </a:rPr>
              <a:t>Each article was tokenized using </a:t>
            </a:r>
            <a:r>
              <a:rPr lang="en-US" sz="2800" dirty="0" err="1">
                <a:latin typeface="Titillium Web" panose="00000500000000000000" pitchFamily="2" charset="0"/>
                <a:ea typeface="Open Sans" panose="020B0606030504020204" pitchFamily="34" charset="0"/>
                <a:cs typeface="Open Sans" panose="020B0606030504020204" pitchFamily="34" charset="0"/>
              </a:rPr>
              <a:t>tiktoken</a:t>
            </a:r>
            <a:r>
              <a:rPr lang="en-US" sz="2800" dirty="0">
                <a:latin typeface="Titillium Web" panose="00000500000000000000" pitchFamily="2" charset="0"/>
                <a:ea typeface="Open Sans" panose="020B0606030504020204" pitchFamily="34" charset="0"/>
                <a:cs typeface="Open Sans" panose="020B0606030504020204" pitchFamily="34" charset="0"/>
              </a:rPr>
              <a:t> and processed with GPT-4o. During development, the extraction pipeline was tested on a subset of articles before applying additional filtering criteria. Articles containing fewer than two solar-related keyword mentions or only brief references to solar energy were excluded, reducing the dataset from 5,374 to 1,985 articles while substantially lowering inference cost.</a:t>
            </a:r>
          </a:p>
        </p:txBody>
      </p:sp>
      <p:sp>
        <p:nvSpPr>
          <p:cNvPr id="237" name="Text Box 6">
            <a:extLst>
              <a:ext uri="{FF2B5EF4-FFF2-40B4-BE49-F238E27FC236}">
                <a16:creationId xmlns:a16="http://schemas.microsoft.com/office/drawing/2014/main" id="{F8EAF608-3616-200D-13DA-E3D715DE2FCA}"/>
              </a:ext>
            </a:extLst>
          </p:cNvPr>
          <p:cNvSpPr txBox="1">
            <a:spLocks noChangeArrowheads="1"/>
          </p:cNvSpPr>
          <p:nvPr/>
        </p:nvSpPr>
        <p:spPr bwMode="auto">
          <a:xfrm>
            <a:off x="11506794" y="12026173"/>
            <a:ext cx="10058400" cy="3570208"/>
          </a:xfrm>
          <a:prstGeom prst="rect">
            <a:avLst/>
          </a:prstGeom>
          <a:solidFill>
            <a:srgbClr val="B4D3E2"/>
          </a:solidFill>
          <a:ln>
            <a:noFill/>
          </a:ln>
          <a:effectLst>
            <a:softEdge rad="0"/>
          </a:effectLst>
        </p:spPr>
        <p:txBody>
          <a:bodyPr lIns="274320" tIns="274320" rIns="274320" bIns="27432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pPr algn="ctr"/>
            <a:r>
              <a:rPr lang="en-US" sz="2800" dirty="0">
                <a:latin typeface="Titillium Web" panose="00000500000000000000" pitchFamily="2" charset="0"/>
                <a:ea typeface="Open Sans" panose="020B0606030504020204" pitchFamily="34" charset="0"/>
                <a:cs typeface="Open Sans" panose="020B0606030504020204" pitchFamily="34" charset="0"/>
              </a:rPr>
              <a:t>Knowledge Graph Construction</a:t>
            </a:r>
          </a:p>
          <a:p>
            <a:pPr algn="just"/>
            <a:r>
              <a:rPr lang="en-US" sz="2800" dirty="0">
                <a:latin typeface="Titillium Web" panose="00000500000000000000" pitchFamily="2" charset="0"/>
                <a:ea typeface="Open Sans" panose="020B0606030504020204" pitchFamily="34" charset="0"/>
                <a:cs typeface="Open Sans" panose="020B0606030504020204" pitchFamily="34" charset="0"/>
              </a:rPr>
              <a:t>The extracted JSON outputs were converted into node and edge tables to construct a knowledge graph. To improve graph quality, nodes with fewer than two connections were removed, semantically similar entities were merged using fuzzy matching and transformer-based similarity, node size was scaled by degree, and colors were assigned by entity type.</a:t>
            </a:r>
          </a:p>
        </p:txBody>
      </p:sp>
      <p:sp>
        <p:nvSpPr>
          <p:cNvPr id="239" name="Text Box 6">
            <a:extLst>
              <a:ext uri="{FF2B5EF4-FFF2-40B4-BE49-F238E27FC236}">
                <a16:creationId xmlns:a16="http://schemas.microsoft.com/office/drawing/2014/main" id="{5DAD8F8A-EF61-4280-03BC-FDEB19449874}"/>
              </a:ext>
            </a:extLst>
          </p:cNvPr>
          <p:cNvSpPr txBox="1">
            <a:spLocks noChangeArrowheads="1"/>
          </p:cNvSpPr>
          <p:nvPr/>
        </p:nvSpPr>
        <p:spPr bwMode="auto">
          <a:xfrm>
            <a:off x="11525101" y="8154671"/>
            <a:ext cx="10058400" cy="3570208"/>
          </a:xfrm>
          <a:prstGeom prst="rect">
            <a:avLst/>
          </a:prstGeom>
          <a:solidFill>
            <a:srgbClr val="B4D3E2"/>
          </a:solidFill>
          <a:ln>
            <a:noFill/>
          </a:ln>
          <a:effectLst>
            <a:softEdge rad="0"/>
          </a:effectLst>
        </p:spPr>
        <p:txBody>
          <a:bodyPr lIns="274320" tIns="274320" rIns="274320" bIns="27432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pPr algn="ctr"/>
            <a:r>
              <a:rPr lang="en-US" sz="2800" dirty="0">
                <a:latin typeface="Titillium Web" panose="00000500000000000000" pitchFamily="2" charset="0"/>
                <a:ea typeface="Open Sans" panose="020B0606030504020204" pitchFamily="34" charset="0"/>
                <a:cs typeface="Open Sans" panose="020B0606030504020204" pitchFamily="34" charset="0"/>
              </a:rPr>
              <a:t>LLM-Based Information Extraction</a:t>
            </a:r>
          </a:p>
          <a:p>
            <a:pPr algn="just"/>
            <a:r>
              <a:rPr lang="en-US" sz="2800" dirty="0">
                <a:latin typeface="Titillium Web" panose="00000500000000000000" pitchFamily="2" charset="0"/>
                <a:ea typeface="Open Sans" panose="020B0606030504020204" pitchFamily="34" charset="0"/>
                <a:cs typeface="Open Sans" panose="020B0606030504020204" pitchFamily="34" charset="0"/>
              </a:rPr>
              <a:t>A structured prompting framework consisting of a system prompt, user prompt, and JSON output schema was developed and iteratively optimized to reduce token usage. GPT-4o extracted entities (e.g., organizations, technologies, policies, countries) and semantic relationships while also determining whether each article was meaningfully related to solar energy.</a:t>
            </a:r>
          </a:p>
        </p:txBody>
      </p:sp>
      <p:sp>
        <p:nvSpPr>
          <p:cNvPr id="241" name="Text Box 6">
            <a:extLst>
              <a:ext uri="{FF2B5EF4-FFF2-40B4-BE49-F238E27FC236}">
                <a16:creationId xmlns:a16="http://schemas.microsoft.com/office/drawing/2014/main" id="{7FFDF291-C30B-7440-51D0-7CB74BA6F891}"/>
              </a:ext>
            </a:extLst>
          </p:cNvPr>
          <p:cNvSpPr txBox="1">
            <a:spLocks noChangeArrowheads="1"/>
          </p:cNvSpPr>
          <p:nvPr/>
        </p:nvSpPr>
        <p:spPr bwMode="auto">
          <a:xfrm>
            <a:off x="11506794" y="24107540"/>
            <a:ext cx="10058400" cy="3570208"/>
          </a:xfrm>
          <a:prstGeom prst="rect">
            <a:avLst/>
          </a:prstGeom>
          <a:solidFill>
            <a:srgbClr val="B4D3E2"/>
          </a:solidFill>
          <a:ln>
            <a:noFill/>
          </a:ln>
          <a:effectLst>
            <a:softEdge rad="0"/>
          </a:effectLst>
        </p:spPr>
        <p:txBody>
          <a:bodyPr lIns="274320" tIns="274320" rIns="274320" bIns="27432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pPr algn="ctr"/>
            <a:r>
              <a:rPr lang="en-US" sz="2800" dirty="0">
                <a:latin typeface="Titillium Web" panose="00000500000000000000" pitchFamily="2" charset="0"/>
                <a:ea typeface="Open Sans" panose="020B0606030504020204" pitchFamily="34" charset="0"/>
                <a:cs typeface="Open Sans" panose="020B0606030504020204" pitchFamily="34" charset="0"/>
              </a:rPr>
              <a:t>Network Analysis</a:t>
            </a:r>
          </a:p>
          <a:p>
            <a:pPr algn="just"/>
            <a:r>
              <a:rPr lang="en-US" sz="2800" dirty="0">
                <a:latin typeface="Titillium Web" panose="00000500000000000000" pitchFamily="2" charset="0"/>
                <a:ea typeface="Open Sans" panose="020B0606030504020204" pitchFamily="34" charset="0"/>
                <a:cs typeface="Open Sans" panose="020B0606030504020204" pitchFamily="34" charset="0"/>
              </a:rPr>
              <a:t>The greedy modularity maximization/</a:t>
            </a:r>
            <a:r>
              <a:rPr lang="en-US" sz="2800" dirty="0" err="1">
                <a:latin typeface="Titillium Web" panose="00000500000000000000" pitchFamily="2" charset="0"/>
                <a:ea typeface="Open Sans" panose="020B0606030504020204" pitchFamily="34" charset="0"/>
                <a:cs typeface="Open Sans" panose="020B0606030504020204" pitchFamily="34" charset="0"/>
              </a:rPr>
              <a:t>Clauset</a:t>
            </a:r>
            <a:r>
              <a:rPr lang="en-US" sz="2800" dirty="0">
                <a:latin typeface="Titillium Web" panose="00000500000000000000" pitchFamily="2" charset="0"/>
                <a:ea typeface="Open Sans" panose="020B0606030504020204" pitchFamily="34" charset="0"/>
                <a:cs typeface="Open Sans" panose="020B0606030504020204" pitchFamily="34" charset="0"/>
              </a:rPr>
              <a:t>-Newman-Moore (CNM) community detection algorithm was applied to identify groups of closely connected entities. Additional analysis examined interactions between communities and the relationship types that most strongly connected different sectors of the international solar energy ecosystem.</a:t>
            </a:r>
          </a:p>
        </p:txBody>
      </p:sp>
      <p:sp>
        <p:nvSpPr>
          <p:cNvPr id="244" name="Rectangle 5">
            <a:extLst>
              <a:ext uri="{FF2B5EF4-FFF2-40B4-BE49-F238E27FC236}">
                <a16:creationId xmlns:a16="http://schemas.microsoft.com/office/drawing/2014/main" id="{3287EB6F-AA5C-E342-30B0-E54767021E00}"/>
              </a:ext>
            </a:extLst>
          </p:cNvPr>
          <p:cNvSpPr>
            <a:spLocks noChangeArrowheads="1"/>
          </p:cNvSpPr>
          <p:nvPr/>
        </p:nvSpPr>
        <p:spPr bwMode="auto">
          <a:xfrm>
            <a:off x="709550" y="17507311"/>
            <a:ext cx="10058400" cy="784225"/>
          </a:xfrm>
          <a:prstGeom prst="rect">
            <a:avLst/>
          </a:prstGeom>
          <a:solidFill>
            <a:srgbClr val="1482A5"/>
          </a:solidFill>
          <a:ln>
            <a:noFill/>
          </a:ln>
          <a:effectLst/>
        </p:spPr>
        <p:txBody>
          <a:bodyPr wrap="none" lIns="274320" tIns="68580" rIns="274320" bIns="68580" anchor="ctr"/>
          <a:lstStyle>
            <a:defPPr>
              <a:defRPr kern="1200"/>
            </a:defPPr>
          </a:lstStyle>
          <a:p>
            <a:pPr defTabSz="4703763"/>
            <a:r>
              <a:rPr lang="en-US" sz="3600" dirty="0">
                <a:solidFill>
                  <a:schemeClr val="bg1"/>
                </a:solidFill>
                <a:latin typeface="Amaranth" panose="02000503050000020004" pitchFamily="2" charset="0"/>
              </a:rPr>
              <a:t>Methodology</a:t>
            </a:r>
          </a:p>
        </p:txBody>
      </p:sp>
      <p:sp>
        <p:nvSpPr>
          <p:cNvPr id="246" name="Text Box 6">
            <a:extLst>
              <a:ext uri="{FF2B5EF4-FFF2-40B4-BE49-F238E27FC236}">
                <a16:creationId xmlns:a16="http://schemas.microsoft.com/office/drawing/2014/main" id="{2576A97F-56DB-4BBD-B2A5-6AF36265324E}"/>
              </a:ext>
            </a:extLst>
          </p:cNvPr>
          <p:cNvSpPr txBox="1">
            <a:spLocks noChangeArrowheads="1"/>
          </p:cNvSpPr>
          <p:nvPr/>
        </p:nvSpPr>
        <p:spPr bwMode="auto">
          <a:xfrm>
            <a:off x="33115927" y="8154671"/>
            <a:ext cx="10058400" cy="4862870"/>
          </a:xfrm>
          <a:prstGeom prst="rect">
            <a:avLst/>
          </a:prstGeom>
          <a:solidFill>
            <a:srgbClr val="B4D3E2"/>
          </a:solidFill>
          <a:ln>
            <a:noFill/>
          </a:ln>
          <a:effectLst>
            <a:softEdge rad="0"/>
          </a:effectLst>
        </p:spPr>
        <p:txBody>
          <a:bodyPr lIns="274320" tIns="274320" rIns="274320" bIns="27432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pPr marL="457200" indent="-457200" algn="just">
              <a:buFont typeface="Arial" panose="020B0604020202020204" pitchFamily="34" charset="0"/>
              <a:buChar char="•"/>
            </a:pPr>
            <a:r>
              <a:rPr lang="en-US" sz="2800" dirty="0">
                <a:latin typeface="Titillium Web" panose="00000500000000000000" pitchFamily="2" charset="0"/>
                <a:ea typeface="Open Sans" panose="020B0606030504020204" pitchFamily="34" charset="0"/>
                <a:cs typeface="Open Sans" panose="020B0606030504020204" pitchFamily="34" charset="0"/>
              </a:rPr>
              <a:t>Further analysis can be done with the dataset on the companies reporting on solar energy. Metrics such as common topics, geographical focus, and coverage percentage can provide an understanding of how news corporations in the dataset report on solar energy.</a:t>
            </a:r>
          </a:p>
          <a:p>
            <a:pPr marL="457200" indent="-457200" algn="just">
              <a:buFont typeface="Arial" panose="020B0604020202020204" pitchFamily="34" charset="0"/>
              <a:buChar char="•"/>
            </a:pPr>
            <a:r>
              <a:rPr lang="en-US" sz="2800" dirty="0">
                <a:latin typeface="Titillium Web" panose="00000500000000000000" pitchFamily="2" charset="0"/>
                <a:ea typeface="Open Sans" panose="020B0606030504020204" pitchFamily="34" charset="0"/>
                <a:cs typeface="Open Sans" panose="020B0606030504020204" pitchFamily="34" charset="0"/>
              </a:rPr>
              <a:t>A similar pipeline can be applied to other topics beyond solar energy. As the Cornell Newsroom dataset is not limited to solar energy, data filtering strategies with different topic-specific keywords can be applied to construct similar datasets for other topics and network analyses.</a:t>
            </a:r>
          </a:p>
        </p:txBody>
      </p:sp>
      <p:sp>
        <p:nvSpPr>
          <p:cNvPr id="248" name="Rectangle 5">
            <a:extLst>
              <a:ext uri="{FF2B5EF4-FFF2-40B4-BE49-F238E27FC236}">
                <a16:creationId xmlns:a16="http://schemas.microsoft.com/office/drawing/2014/main" id="{8EB9A9AE-9CE2-CF79-0BF2-28093D349CFA}"/>
              </a:ext>
            </a:extLst>
          </p:cNvPr>
          <p:cNvSpPr>
            <a:spLocks noChangeArrowheads="1"/>
          </p:cNvSpPr>
          <p:nvPr/>
        </p:nvSpPr>
        <p:spPr bwMode="auto">
          <a:xfrm>
            <a:off x="33093960" y="13390988"/>
            <a:ext cx="10058400" cy="784225"/>
          </a:xfrm>
          <a:prstGeom prst="rect">
            <a:avLst/>
          </a:prstGeom>
          <a:solidFill>
            <a:srgbClr val="1482A5"/>
          </a:solidFill>
          <a:ln>
            <a:noFill/>
          </a:ln>
          <a:effectLst/>
        </p:spPr>
        <p:txBody>
          <a:bodyPr wrap="none" lIns="274320" tIns="68580" rIns="274320" bIns="68580" anchor="ctr"/>
          <a:lstStyle>
            <a:defPPr>
              <a:defRPr kern="1200"/>
            </a:defPPr>
          </a:lstStyle>
          <a:p>
            <a:pPr defTabSz="4703763"/>
            <a:r>
              <a:rPr lang="en-US" sz="3600" dirty="0">
                <a:solidFill>
                  <a:schemeClr val="bg1"/>
                </a:solidFill>
                <a:latin typeface="Amaranth" panose="02000503050000020004" pitchFamily="2" charset="0"/>
              </a:rPr>
              <a:t>Limitations</a:t>
            </a:r>
          </a:p>
        </p:txBody>
      </p:sp>
      <p:sp>
        <p:nvSpPr>
          <p:cNvPr id="250" name="Text Box 6">
            <a:extLst>
              <a:ext uri="{FF2B5EF4-FFF2-40B4-BE49-F238E27FC236}">
                <a16:creationId xmlns:a16="http://schemas.microsoft.com/office/drawing/2014/main" id="{B54F5422-44CD-FE3F-1DF0-906EFB78BC57}"/>
              </a:ext>
            </a:extLst>
          </p:cNvPr>
          <p:cNvSpPr txBox="1">
            <a:spLocks noChangeArrowheads="1"/>
          </p:cNvSpPr>
          <p:nvPr/>
        </p:nvSpPr>
        <p:spPr bwMode="auto">
          <a:xfrm>
            <a:off x="33165657" y="14423653"/>
            <a:ext cx="10058400" cy="4862870"/>
          </a:xfrm>
          <a:prstGeom prst="rect">
            <a:avLst/>
          </a:prstGeom>
          <a:solidFill>
            <a:srgbClr val="B4D3E2"/>
          </a:solidFill>
          <a:ln>
            <a:noFill/>
          </a:ln>
          <a:effectLst>
            <a:softEdge rad="0"/>
          </a:effectLst>
        </p:spPr>
        <p:txBody>
          <a:bodyPr lIns="274320" tIns="274320" rIns="274320" bIns="27432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pPr marL="342900" indent="-342900" algn="just">
              <a:buFont typeface="Arial" panose="020B0604020202020204" pitchFamily="34" charset="0"/>
              <a:buChar char="•"/>
            </a:pPr>
            <a:r>
              <a:rPr lang="en-US" sz="2800" dirty="0">
                <a:latin typeface="Titillium Web" panose="00000500000000000000" pitchFamily="2" charset="0"/>
                <a:ea typeface="Open Sans" panose="020B0606030504020204" pitchFamily="34" charset="0"/>
                <a:cs typeface="Open Sans" panose="020B0606030504020204" pitchFamily="34" charset="0"/>
              </a:rPr>
              <a:t>Articles are limited to 1998-2017, limiting analysis for current trends such as Artificial Intelligence. This creates a restricted analysis of solar energy, only allowing for a look into the past.</a:t>
            </a:r>
          </a:p>
          <a:p>
            <a:pPr marL="342900" indent="-342900" algn="just">
              <a:buFont typeface="Arial" panose="020B0604020202020204" pitchFamily="34" charset="0"/>
              <a:buChar char="•"/>
            </a:pPr>
            <a:r>
              <a:rPr lang="en-US" sz="2800" dirty="0">
                <a:latin typeface="Titillium Web" panose="00000500000000000000" pitchFamily="2" charset="0"/>
                <a:ea typeface="Open Sans" panose="020B0606030504020204" pitchFamily="34" charset="0"/>
                <a:cs typeface="Open Sans" panose="020B0606030504020204" pitchFamily="34" charset="0"/>
              </a:rPr>
              <a:t>Sources are limited to the 38 major publications originally found in the Cornell Newsroom dataset, limiting the diversity of information available. News publications outside the United States are likely to be missing, in particular those in other languages. Therefore, this project is likely to reveal highly Americanized views of solar energy.</a:t>
            </a:r>
          </a:p>
        </p:txBody>
      </p:sp>
      <p:pic>
        <p:nvPicPr>
          <p:cNvPr id="253" name="Picture 252">
            <a:extLst>
              <a:ext uri="{FF2B5EF4-FFF2-40B4-BE49-F238E27FC236}">
                <a16:creationId xmlns:a16="http://schemas.microsoft.com/office/drawing/2014/main" id="{562B6D9C-DDD3-4929-5FDE-80BDB426CF81}"/>
              </a:ext>
            </a:extLst>
          </p:cNvPr>
          <p:cNvPicPr>
            <a:picLocks noChangeAspect="1"/>
          </p:cNvPicPr>
          <p:nvPr/>
        </p:nvPicPr>
        <p:blipFill>
          <a:blip r:embed="rId5"/>
          <a:stretch>
            <a:fillRect/>
          </a:stretch>
        </p:blipFill>
        <p:spPr>
          <a:xfrm>
            <a:off x="22763502" y="18591513"/>
            <a:ext cx="9139468" cy="7068807"/>
          </a:xfrm>
          <a:prstGeom prst="rect">
            <a:avLst/>
          </a:prstGeom>
        </p:spPr>
      </p:pic>
      <p:graphicFrame>
        <p:nvGraphicFramePr>
          <p:cNvPr id="254" name="Table 253">
            <a:extLst>
              <a:ext uri="{FF2B5EF4-FFF2-40B4-BE49-F238E27FC236}">
                <a16:creationId xmlns:a16="http://schemas.microsoft.com/office/drawing/2014/main" id="{4948646E-1634-82C2-40D9-444CDAF07FF7}"/>
              </a:ext>
            </a:extLst>
          </p:cNvPr>
          <p:cNvGraphicFramePr>
            <a:graphicFrameLocks noGrp="1"/>
          </p:cNvGraphicFramePr>
          <p:nvPr>
            <p:extLst>
              <p:ext uri="{D42A27DB-BD31-4B8C-83A1-F6EECF244321}">
                <p14:modId xmlns:p14="http://schemas.microsoft.com/office/powerpoint/2010/main" val="1187851998"/>
              </p:ext>
            </p:extLst>
          </p:nvPr>
        </p:nvGraphicFramePr>
        <p:xfrm>
          <a:off x="12282998" y="27976396"/>
          <a:ext cx="8535284" cy="3108960"/>
        </p:xfrm>
        <a:graphic>
          <a:graphicData uri="http://schemas.openxmlformats.org/drawingml/2006/table">
            <a:tbl>
              <a:tblPr firstRow="1" firstCol="1">
                <a:tableStyleId>{2D5ABB26-0587-4C30-8999-92F81FD0307C}</a:tableStyleId>
              </a:tblPr>
              <a:tblGrid>
                <a:gridCol w="4158645">
                  <a:extLst>
                    <a:ext uri="{9D8B030D-6E8A-4147-A177-3AD203B41FA5}">
                      <a16:colId xmlns:a16="http://schemas.microsoft.com/office/drawing/2014/main" val="3833514160"/>
                    </a:ext>
                  </a:extLst>
                </a:gridCol>
                <a:gridCol w="2293124">
                  <a:extLst>
                    <a:ext uri="{9D8B030D-6E8A-4147-A177-3AD203B41FA5}">
                      <a16:colId xmlns:a16="http://schemas.microsoft.com/office/drawing/2014/main" val="1902017129"/>
                    </a:ext>
                  </a:extLst>
                </a:gridCol>
                <a:gridCol w="2083515">
                  <a:extLst>
                    <a:ext uri="{9D8B030D-6E8A-4147-A177-3AD203B41FA5}">
                      <a16:colId xmlns:a16="http://schemas.microsoft.com/office/drawing/2014/main" val="2938504809"/>
                    </a:ext>
                  </a:extLst>
                </a:gridCol>
              </a:tblGrid>
              <a:tr h="0">
                <a:tc>
                  <a:txBody>
                    <a:bodyPr/>
                    <a:lstStyle/>
                    <a:p>
                      <a:pPr>
                        <a:buNone/>
                      </a:pPr>
                      <a:r>
                        <a:rPr lang="en-US" sz="2800" b="1" dirty="0">
                          <a:latin typeface="Titillium Web" panose="00000500000000000000" pitchFamily="2" charset="0"/>
                        </a:rPr>
                        <a:t>Item</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569BBE"/>
                    </a:solidFill>
                  </a:tcPr>
                </a:tc>
                <a:tc>
                  <a:txBody>
                    <a:bodyPr/>
                    <a:lstStyle/>
                    <a:p>
                      <a:pPr algn="r">
                        <a:buNone/>
                      </a:pPr>
                      <a:r>
                        <a:rPr lang="en-US" sz="2800" b="1" dirty="0">
                          <a:latin typeface="Titillium Web" panose="00000500000000000000" pitchFamily="2" charset="0"/>
                        </a:rPr>
                        <a:t>Before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569BBE"/>
                    </a:solidFill>
                  </a:tcPr>
                </a:tc>
                <a:tc>
                  <a:txBody>
                    <a:bodyPr/>
                    <a:lstStyle/>
                    <a:p>
                      <a:pPr algn="r">
                        <a:buNone/>
                      </a:pPr>
                      <a:r>
                        <a:rPr lang="en-US" sz="2800" b="1" dirty="0">
                          <a:latin typeface="Titillium Web" panose="00000500000000000000" pitchFamily="2" charset="0"/>
                        </a:rPr>
                        <a:t>After</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569BBE"/>
                    </a:solidFill>
                  </a:tcPr>
                </a:tc>
                <a:extLst>
                  <a:ext uri="{0D108BD9-81ED-4DB2-BD59-A6C34878D82A}">
                    <a16:rowId xmlns:a16="http://schemas.microsoft.com/office/drawing/2014/main" val="1046880155"/>
                  </a:ext>
                </a:extLst>
              </a:tr>
              <a:tr h="0">
                <a:tc>
                  <a:txBody>
                    <a:bodyPr/>
                    <a:lstStyle/>
                    <a:p>
                      <a:pPr>
                        <a:buNone/>
                      </a:pPr>
                      <a:r>
                        <a:rPr lang="en-US" sz="2800" b="1" dirty="0">
                          <a:latin typeface="Titillium Web" panose="00000500000000000000" pitchFamily="2" charset="0"/>
                        </a:rPr>
                        <a:t>Number of articles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D3E2"/>
                    </a:solidFill>
                  </a:tcPr>
                </a:tc>
                <a:tc>
                  <a:txBody>
                    <a:bodyPr/>
                    <a:lstStyle/>
                    <a:p>
                      <a:pPr algn="r">
                        <a:buNone/>
                      </a:pPr>
                      <a:r>
                        <a:rPr lang="en-US" sz="2800" dirty="0">
                          <a:latin typeface="Titillium Web" panose="00000500000000000000" pitchFamily="2" charset="0"/>
                        </a:rPr>
                        <a:t>5,374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D3E2"/>
                    </a:solidFill>
                  </a:tcPr>
                </a:tc>
                <a:tc>
                  <a:txBody>
                    <a:bodyPr/>
                    <a:lstStyle/>
                    <a:p>
                      <a:pPr algn="r">
                        <a:buNone/>
                      </a:pPr>
                      <a:r>
                        <a:rPr lang="en-US" sz="2800" dirty="0">
                          <a:latin typeface="Titillium Web" panose="00000500000000000000" pitchFamily="2" charset="0"/>
                        </a:rPr>
                        <a:t>1,985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D3E2"/>
                    </a:solidFill>
                  </a:tcPr>
                </a:tc>
                <a:extLst>
                  <a:ext uri="{0D108BD9-81ED-4DB2-BD59-A6C34878D82A}">
                    <a16:rowId xmlns:a16="http://schemas.microsoft.com/office/drawing/2014/main" val="385092680"/>
                  </a:ext>
                </a:extLst>
              </a:tr>
              <a:tr h="0">
                <a:tc>
                  <a:txBody>
                    <a:bodyPr/>
                    <a:lstStyle/>
                    <a:p>
                      <a:pPr>
                        <a:buNone/>
                      </a:pPr>
                      <a:r>
                        <a:rPr lang="en-US" sz="2800" b="1" dirty="0">
                          <a:latin typeface="Titillium Web" panose="00000500000000000000" pitchFamily="2" charset="0"/>
                        </a:rPr>
                        <a:t>System prompt tokens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D3E2"/>
                    </a:solidFill>
                  </a:tcPr>
                </a:tc>
                <a:tc>
                  <a:txBody>
                    <a:bodyPr/>
                    <a:lstStyle/>
                    <a:p>
                      <a:pPr algn="r">
                        <a:buNone/>
                      </a:pPr>
                      <a:r>
                        <a:rPr lang="en-US" sz="2800" dirty="0">
                          <a:latin typeface="Titillium Web" panose="00000500000000000000" pitchFamily="2" charset="0"/>
                        </a:rPr>
                        <a:t>1,773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D3E2"/>
                    </a:solidFill>
                  </a:tcPr>
                </a:tc>
                <a:tc>
                  <a:txBody>
                    <a:bodyPr/>
                    <a:lstStyle/>
                    <a:p>
                      <a:pPr algn="r">
                        <a:buNone/>
                      </a:pPr>
                      <a:r>
                        <a:rPr lang="en-US" sz="2800">
                          <a:latin typeface="Titillium Web" panose="00000500000000000000" pitchFamily="2" charset="0"/>
                        </a:rPr>
                        <a:t>775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D3E2"/>
                    </a:solidFill>
                  </a:tcPr>
                </a:tc>
                <a:extLst>
                  <a:ext uri="{0D108BD9-81ED-4DB2-BD59-A6C34878D82A}">
                    <a16:rowId xmlns:a16="http://schemas.microsoft.com/office/drawing/2014/main" val="3255593464"/>
                  </a:ext>
                </a:extLst>
              </a:tr>
              <a:tr h="0">
                <a:tc>
                  <a:txBody>
                    <a:bodyPr/>
                    <a:lstStyle/>
                    <a:p>
                      <a:pPr>
                        <a:buNone/>
                      </a:pPr>
                      <a:r>
                        <a:rPr lang="en-US" sz="2800" b="1" dirty="0">
                          <a:latin typeface="Titillium Web" panose="00000500000000000000" pitchFamily="2" charset="0"/>
                        </a:rPr>
                        <a:t>Article corpus tokens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D3E2"/>
                    </a:solidFill>
                  </a:tcPr>
                </a:tc>
                <a:tc>
                  <a:txBody>
                    <a:bodyPr/>
                    <a:lstStyle/>
                    <a:p>
                      <a:pPr algn="r">
                        <a:buNone/>
                      </a:pPr>
                      <a:r>
                        <a:rPr lang="en-US" sz="2800">
                          <a:latin typeface="Titillium Web" panose="00000500000000000000" pitchFamily="2" charset="0"/>
                        </a:rPr>
                        <a:t>6,673,300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D3E2"/>
                    </a:solidFill>
                  </a:tcPr>
                </a:tc>
                <a:tc>
                  <a:txBody>
                    <a:bodyPr/>
                    <a:lstStyle/>
                    <a:p>
                      <a:pPr algn="r">
                        <a:buNone/>
                      </a:pPr>
                      <a:r>
                        <a:rPr lang="en-US" sz="2800" dirty="0">
                          <a:latin typeface="Titillium Web" panose="00000500000000000000" pitchFamily="2" charset="0"/>
                        </a:rPr>
                        <a:t>2,534,844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D3E2"/>
                    </a:solidFill>
                  </a:tcPr>
                </a:tc>
                <a:extLst>
                  <a:ext uri="{0D108BD9-81ED-4DB2-BD59-A6C34878D82A}">
                    <a16:rowId xmlns:a16="http://schemas.microsoft.com/office/drawing/2014/main" val="2177487150"/>
                  </a:ext>
                </a:extLst>
              </a:tr>
              <a:tr h="0">
                <a:tc>
                  <a:txBody>
                    <a:bodyPr/>
                    <a:lstStyle/>
                    <a:p>
                      <a:pPr>
                        <a:buNone/>
                      </a:pPr>
                      <a:r>
                        <a:rPr lang="en-US" sz="2800" b="1" dirty="0">
                          <a:latin typeface="Titillium Web" panose="00000500000000000000" pitchFamily="2" charset="0"/>
                        </a:rPr>
                        <a:t>Total input tokens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D3E2"/>
                    </a:solidFill>
                  </a:tcPr>
                </a:tc>
                <a:tc>
                  <a:txBody>
                    <a:bodyPr/>
                    <a:lstStyle/>
                    <a:p>
                      <a:pPr algn="r">
                        <a:buNone/>
                      </a:pPr>
                      <a:r>
                        <a:rPr lang="en-US" sz="2800" dirty="0">
                          <a:latin typeface="Titillium Web" panose="00000500000000000000" pitchFamily="2" charset="0"/>
                        </a:rPr>
                        <a:t>16,201,402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D3E2"/>
                    </a:solidFill>
                  </a:tcPr>
                </a:tc>
                <a:tc>
                  <a:txBody>
                    <a:bodyPr/>
                    <a:lstStyle/>
                    <a:p>
                      <a:pPr algn="r">
                        <a:buNone/>
                      </a:pPr>
                      <a:r>
                        <a:rPr lang="en-US" sz="2800" dirty="0">
                          <a:latin typeface="Titillium Web" panose="00000500000000000000" pitchFamily="2" charset="0"/>
                        </a:rPr>
                        <a:t>4,073,219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D3E2"/>
                    </a:solidFill>
                  </a:tcPr>
                </a:tc>
                <a:extLst>
                  <a:ext uri="{0D108BD9-81ED-4DB2-BD59-A6C34878D82A}">
                    <a16:rowId xmlns:a16="http://schemas.microsoft.com/office/drawing/2014/main" val="731956399"/>
                  </a:ext>
                </a:extLst>
              </a:tr>
              <a:tr h="0">
                <a:tc>
                  <a:txBody>
                    <a:bodyPr/>
                    <a:lstStyle/>
                    <a:p>
                      <a:pPr>
                        <a:buNone/>
                      </a:pPr>
                      <a:r>
                        <a:rPr lang="en-US" sz="2800" b="1" dirty="0">
                          <a:latin typeface="Titillium Web" panose="00000500000000000000" pitchFamily="2" charset="0"/>
                        </a:rPr>
                        <a:t>Estimated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D3E2"/>
                    </a:solidFill>
                  </a:tcPr>
                </a:tc>
                <a:tc>
                  <a:txBody>
                    <a:bodyPr/>
                    <a:lstStyle/>
                    <a:p>
                      <a:pPr algn="r">
                        <a:buNone/>
                      </a:pPr>
                      <a:r>
                        <a:rPr lang="en-US" sz="2800" dirty="0">
                          <a:latin typeface="Titillium Web" panose="00000500000000000000" pitchFamily="2" charset="0"/>
                        </a:rPr>
                        <a:t>$40.51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D3E2"/>
                    </a:solidFill>
                  </a:tcPr>
                </a:tc>
                <a:tc>
                  <a:txBody>
                    <a:bodyPr/>
                    <a:lstStyle/>
                    <a:p>
                      <a:pPr algn="r">
                        <a:buNone/>
                      </a:pPr>
                      <a:r>
                        <a:rPr lang="en-US" sz="2800" dirty="0">
                          <a:latin typeface="Titillium Web" panose="00000500000000000000" pitchFamily="2" charset="0"/>
                        </a:rPr>
                        <a:t>$10.19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D3E2"/>
                    </a:solidFill>
                  </a:tcPr>
                </a:tc>
                <a:extLst>
                  <a:ext uri="{0D108BD9-81ED-4DB2-BD59-A6C34878D82A}">
                    <a16:rowId xmlns:a16="http://schemas.microsoft.com/office/drawing/2014/main" val="3325067963"/>
                  </a:ext>
                </a:extLst>
              </a:tr>
            </a:tbl>
          </a:graphicData>
        </a:graphic>
      </p:graphicFrame>
      <p:sp>
        <p:nvSpPr>
          <p:cNvPr id="2050" name="Text Box 6">
            <a:extLst>
              <a:ext uri="{FF2B5EF4-FFF2-40B4-BE49-F238E27FC236}">
                <a16:creationId xmlns:a16="http://schemas.microsoft.com/office/drawing/2014/main" id="{158581E5-9480-CD9F-29FE-7A61A2EDFD34}"/>
              </a:ext>
            </a:extLst>
          </p:cNvPr>
          <p:cNvSpPr txBox="1">
            <a:spLocks noChangeArrowheads="1"/>
          </p:cNvSpPr>
          <p:nvPr/>
        </p:nvSpPr>
        <p:spPr bwMode="auto">
          <a:xfrm>
            <a:off x="731517" y="8154671"/>
            <a:ext cx="10058400" cy="4431983"/>
          </a:xfrm>
          <a:prstGeom prst="rect">
            <a:avLst/>
          </a:prstGeom>
          <a:solidFill>
            <a:srgbClr val="B4D3E2"/>
          </a:solidFill>
          <a:ln>
            <a:noFill/>
          </a:ln>
          <a:effectLst>
            <a:softEdge rad="0"/>
          </a:effectLst>
        </p:spPr>
        <p:txBody>
          <a:bodyPr lIns="274320" tIns="274320" rIns="274320" bIns="27432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pPr algn="just"/>
            <a:r>
              <a:rPr lang="en-US" sz="2800" dirty="0">
                <a:latin typeface="Titillium Web" panose="00000500000000000000" pitchFamily="2" charset="0"/>
                <a:ea typeface="Open Sans" panose="020B0606030504020204" pitchFamily="34" charset="0"/>
                <a:cs typeface="Open Sans" panose="020B0606030504020204" pitchFamily="34" charset="0"/>
              </a:rPr>
              <a:t>The global solar energy industry consists of interconnected organizations, technologies, policies, and markets that are difficult to analyze from unstructured information sources. This project uses OpenAI’s GPT-4o to extract entities and relationships from Cornell Newsroom articles and construct a solar energy knowledge graph. Graph analysis and community detection are then applied to identify major themes, influential entities, and connections within the international solar energy ecosystem.</a:t>
            </a:r>
          </a:p>
        </p:txBody>
      </p:sp>
      <p:sp>
        <p:nvSpPr>
          <p:cNvPr id="2051" name="Rectangle: Rounded Corners 2050">
            <a:extLst>
              <a:ext uri="{FF2B5EF4-FFF2-40B4-BE49-F238E27FC236}">
                <a16:creationId xmlns:a16="http://schemas.microsoft.com/office/drawing/2014/main" id="{4814BC19-28E3-6671-1C45-FEC7FB747A27}"/>
              </a:ext>
            </a:extLst>
          </p:cNvPr>
          <p:cNvSpPr/>
          <p:nvPr/>
        </p:nvSpPr>
        <p:spPr bwMode="auto">
          <a:xfrm>
            <a:off x="1666969" y="18595094"/>
            <a:ext cx="1712067" cy="1390020"/>
          </a:xfrm>
          <a:prstGeom prst="roundRect">
            <a:avLst/>
          </a:prstGeom>
          <a:solidFill>
            <a:srgbClr val="B4D3E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ctr" defTabSz="4702175" rtl="0" eaLnBrk="1" fontAlgn="base" latinLnBrk="0" hangingPunct="1">
              <a:lnSpc>
                <a:spcPct val="100000"/>
              </a:lnSpc>
              <a:spcBef>
                <a:spcPct val="0"/>
              </a:spcBef>
              <a:spcAft>
                <a:spcPct val="0"/>
              </a:spcAft>
              <a:buClrTx/>
              <a:buSzTx/>
              <a:buFontTx/>
              <a:buNone/>
              <a:tabLst/>
            </a:pPr>
            <a:r>
              <a:rPr lang="en-US" sz="2400" dirty="0">
                <a:latin typeface="Arial" pitchFamily="34" charset="0"/>
              </a:rPr>
              <a:t>Data Collection</a:t>
            </a:r>
            <a:endParaRPr kumimoji="0" lang="en-US" sz="2400" b="0" i="0" u="none" strike="noStrike" cap="none" normalizeH="0" baseline="0" dirty="0">
              <a:ln>
                <a:noFill/>
              </a:ln>
              <a:solidFill>
                <a:schemeClr val="tx1"/>
              </a:solidFill>
              <a:effectLst/>
              <a:latin typeface="Arial" pitchFamily="34" charset="0"/>
            </a:endParaRPr>
          </a:p>
        </p:txBody>
      </p:sp>
      <p:sp>
        <p:nvSpPr>
          <p:cNvPr id="2054" name="Rectangle: Rounded Corners 2053">
            <a:extLst>
              <a:ext uri="{FF2B5EF4-FFF2-40B4-BE49-F238E27FC236}">
                <a16:creationId xmlns:a16="http://schemas.microsoft.com/office/drawing/2014/main" id="{84AEB166-E2F1-1950-7A73-4BC05C034947}"/>
              </a:ext>
            </a:extLst>
          </p:cNvPr>
          <p:cNvSpPr/>
          <p:nvPr/>
        </p:nvSpPr>
        <p:spPr bwMode="auto">
          <a:xfrm>
            <a:off x="4450065" y="18595094"/>
            <a:ext cx="1712067" cy="1390020"/>
          </a:xfrm>
          <a:prstGeom prst="roundRect">
            <a:avLst/>
          </a:prstGeom>
          <a:solidFill>
            <a:srgbClr val="B4D3E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ctr" defTabSz="4702175" rtl="0" eaLnBrk="1" fontAlgn="base" latinLnBrk="0" hangingPunct="1">
              <a:lnSpc>
                <a:spcPct val="100000"/>
              </a:lnSpc>
              <a:spcBef>
                <a:spcPct val="0"/>
              </a:spcBef>
              <a:spcAft>
                <a:spcPct val="0"/>
              </a:spcAft>
              <a:buClrTx/>
              <a:buSzTx/>
              <a:buFontTx/>
              <a:buNone/>
              <a:tabLst/>
            </a:pPr>
            <a:r>
              <a:rPr lang="en-US" sz="2400" dirty="0">
                <a:latin typeface="Arial" pitchFamily="34" charset="0"/>
              </a:rPr>
              <a:t>Data Filtering</a:t>
            </a:r>
            <a:endParaRPr kumimoji="0" lang="en-US" sz="2400" b="0" i="0" u="none" strike="noStrike" cap="none" normalizeH="0" baseline="0" dirty="0">
              <a:ln>
                <a:noFill/>
              </a:ln>
              <a:solidFill>
                <a:schemeClr val="tx1"/>
              </a:solidFill>
              <a:effectLst/>
              <a:latin typeface="Arial" pitchFamily="34" charset="0"/>
            </a:endParaRPr>
          </a:p>
        </p:txBody>
      </p:sp>
      <p:sp>
        <p:nvSpPr>
          <p:cNvPr id="2056" name="Rectangle: Rounded Corners 2055">
            <a:extLst>
              <a:ext uri="{FF2B5EF4-FFF2-40B4-BE49-F238E27FC236}">
                <a16:creationId xmlns:a16="http://schemas.microsoft.com/office/drawing/2014/main" id="{F22D4792-2BA9-465A-A834-C3E507D03407}"/>
              </a:ext>
            </a:extLst>
          </p:cNvPr>
          <p:cNvSpPr/>
          <p:nvPr/>
        </p:nvSpPr>
        <p:spPr bwMode="auto">
          <a:xfrm>
            <a:off x="7233161" y="18591513"/>
            <a:ext cx="3075322" cy="1390020"/>
          </a:xfrm>
          <a:prstGeom prst="roundRect">
            <a:avLst/>
          </a:prstGeom>
          <a:solidFill>
            <a:srgbClr val="B4D3E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ctr" defTabSz="4702175" rtl="0" eaLnBrk="1" fontAlgn="base" latinLnBrk="0" hangingPunct="1">
              <a:lnSpc>
                <a:spcPct val="100000"/>
              </a:lnSpc>
              <a:spcBef>
                <a:spcPct val="0"/>
              </a:spcBef>
              <a:spcAft>
                <a:spcPct val="0"/>
              </a:spcAft>
              <a:buClrTx/>
              <a:buSzTx/>
              <a:buFontTx/>
              <a:buNone/>
              <a:tabLst/>
            </a:pPr>
            <a:r>
              <a:rPr lang="en-US" sz="2400" dirty="0">
                <a:latin typeface="Arial" pitchFamily="34" charset="0"/>
              </a:rPr>
              <a:t>LLM-Based Information Extraction</a:t>
            </a:r>
            <a:endParaRPr kumimoji="0" lang="en-US" sz="2400" b="0" i="0" u="none" strike="noStrike" cap="none" normalizeH="0" baseline="0" dirty="0">
              <a:ln>
                <a:noFill/>
              </a:ln>
              <a:solidFill>
                <a:schemeClr val="tx1"/>
              </a:solidFill>
              <a:effectLst/>
              <a:latin typeface="Arial" pitchFamily="34" charset="0"/>
            </a:endParaRPr>
          </a:p>
        </p:txBody>
      </p:sp>
      <p:sp>
        <p:nvSpPr>
          <p:cNvPr id="2058" name="Rectangle: Rounded Corners 2057">
            <a:extLst>
              <a:ext uri="{FF2B5EF4-FFF2-40B4-BE49-F238E27FC236}">
                <a16:creationId xmlns:a16="http://schemas.microsoft.com/office/drawing/2014/main" id="{FDA0C9EE-51C0-66D1-1994-293D6C012A87}"/>
              </a:ext>
            </a:extLst>
          </p:cNvPr>
          <p:cNvSpPr/>
          <p:nvPr/>
        </p:nvSpPr>
        <p:spPr bwMode="auto">
          <a:xfrm>
            <a:off x="2976324" y="20748529"/>
            <a:ext cx="2947481" cy="1390020"/>
          </a:xfrm>
          <a:prstGeom prst="roundRect">
            <a:avLst/>
          </a:prstGeom>
          <a:solidFill>
            <a:srgbClr val="B4D3E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ctr" defTabSz="4702175" rtl="0" eaLnBrk="1" fontAlgn="base" latinLnBrk="0" hangingPunct="1">
              <a:lnSpc>
                <a:spcPct val="100000"/>
              </a:lnSpc>
              <a:spcBef>
                <a:spcPct val="0"/>
              </a:spcBef>
              <a:spcAft>
                <a:spcPct val="0"/>
              </a:spcAft>
              <a:buClrTx/>
              <a:buSzTx/>
              <a:buFontTx/>
              <a:buNone/>
              <a:tabLst/>
            </a:pPr>
            <a:r>
              <a:rPr lang="en-US" sz="2400" dirty="0">
                <a:latin typeface="Arial" pitchFamily="34" charset="0"/>
              </a:rPr>
              <a:t>Knowledge Graph Construction</a:t>
            </a:r>
            <a:endParaRPr kumimoji="0" lang="en-US" sz="2400" b="0" i="0" u="none" strike="noStrike" cap="none" normalizeH="0" baseline="0" dirty="0">
              <a:ln>
                <a:noFill/>
              </a:ln>
              <a:solidFill>
                <a:schemeClr val="tx1"/>
              </a:solidFill>
              <a:effectLst/>
              <a:latin typeface="Arial" pitchFamily="34" charset="0"/>
            </a:endParaRPr>
          </a:p>
        </p:txBody>
      </p:sp>
      <p:sp>
        <p:nvSpPr>
          <p:cNvPr id="2060" name="Rectangle: Rounded Corners 2059">
            <a:extLst>
              <a:ext uri="{FF2B5EF4-FFF2-40B4-BE49-F238E27FC236}">
                <a16:creationId xmlns:a16="http://schemas.microsoft.com/office/drawing/2014/main" id="{6E848268-A6FD-662F-01C4-0C52CCA4BE82}"/>
              </a:ext>
            </a:extLst>
          </p:cNvPr>
          <p:cNvSpPr/>
          <p:nvPr/>
        </p:nvSpPr>
        <p:spPr bwMode="auto">
          <a:xfrm>
            <a:off x="6735826" y="20748529"/>
            <a:ext cx="1712067" cy="1390020"/>
          </a:xfrm>
          <a:prstGeom prst="roundRect">
            <a:avLst/>
          </a:prstGeom>
          <a:solidFill>
            <a:srgbClr val="B4D3E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ctr" defTabSz="4702175" rtl="0" eaLnBrk="1" fontAlgn="base" latinLnBrk="0" hangingPunct="1">
              <a:lnSpc>
                <a:spcPct val="100000"/>
              </a:lnSpc>
              <a:spcBef>
                <a:spcPct val="0"/>
              </a:spcBef>
              <a:spcAft>
                <a:spcPct val="0"/>
              </a:spcAft>
              <a:buClrTx/>
              <a:buSzTx/>
              <a:buFontTx/>
              <a:buNone/>
              <a:tabLst/>
            </a:pPr>
            <a:r>
              <a:rPr lang="en-US" sz="2400" dirty="0">
                <a:latin typeface="Arial" pitchFamily="34" charset="0"/>
              </a:rPr>
              <a:t>Network Analysis</a:t>
            </a:r>
            <a:endParaRPr kumimoji="0" lang="en-US" sz="2400" b="0" i="0" u="none" strike="noStrike" cap="none" normalizeH="0" baseline="0" dirty="0">
              <a:ln>
                <a:noFill/>
              </a:ln>
              <a:solidFill>
                <a:schemeClr val="tx1"/>
              </a:solidFill>
              <a:effectLst/>
              <a:latin typeface="Arial" pitchFamily="34" charset="0"/>
            </a:endParaRPr>
          </a:p>
        </p:txBody>
      </p:sp>
      <p:cxnSp>
        <p:nvCxnSpPr>
          <p:cNvPr id="2062" name="Straight Arrow Connector 2061">
            <a:extLst>
              <a:ext uri="{FF2B5EF4-FFF2-40B4-BE49-F238E27FC236}">
                <a16:creationId xmlns:a16="http://schemas.microsoft.com/office/drawing/2014/main" id="{AFBCFF72-AAFD-3EC2-D05C-2884D4AE3516}"/>
              </a:ext>
            </a:extLst>
          </p:cNvPr>
          <p:cNvCxnSpPr>
            <a:stCxn id="2051" idx="3"/>
            <a:endCxn id="2054" idx="1"/>
          </p:cNvCxnSpPr>
          <p:nvPr/>
        </p:nvCxnSpPr>
        <p:spPr bwMode="auto">
          <a:xfrm>
            <a:off x="3379036" y="19290104"/>
            <a:ext cx="1071029" cy="0"/>
          </a:xfrm>
          <a:prstGeom prst="straightConnector1">
            <a:avLst/>
          </a:prstGeom>
          <a:solidFill>
            <a:schemeClr val="accent1"/>
          </a:solidFill>
          <a:ln w="9525"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3" name="Straight Arrow Connector 2062">
            <a:extLst>
              <a:ext uri="{FF2B5EF4-FFF2-40B4-BE49-F238E27FC236}">
                <a16:creationId xmlns:a16="http://schemas.microsoft.com/office/drawing/2014/main" id="{92468783-B67E-B10D-2C2F-1533D3CB2A59}"/>
              </a:ext>
            </a:extLst>
          </p:cNvPr>
          <p:cNvCxnSpPr>
            <a:stCxn id="2054" idx="3"/>
            <a:endCxn id="2056" idx="1"/>
          </p:cNvCxnSpPr>
          <p:nvPr/>
        </p:nvCxnSpPr>
        <p:spPr bwMode="auto">
          <a:xfrm flipV="1">
            <a:off x="6162132" y="19286523"/>
            <a:ext cx="1071029" cy="3581"/>
          </a:xfrm>
          <a:prstGeom prst="straightConnector1">
            <a:avLst/>
          </a:prstGeom>
          <a:solidFill>
            <a:schemeClr val="accent1"/>
          </a:solidFill>
          <a:ln w="9525"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7" name="Straight Arrow Connector 2066">
            <a:extLst>
              <a:ext uri="{FF2B5EF4-FFF2-40B4-BE49-F238E27FC236}">
                <a16:creationId xmlns:a16="http://schemas.microsoft.com/office/drawing/2014/main" id="{29324F28-B740-8CCE-37B7-783481D15E06}"/>
              </a:ext>
            </a:extLst>
          </p:cNvPr>
          <p:cNvCxnSpPr>
            <a:stCxn id="2058" idx="3"/>
            <a:endCxn id="2060" idx="1"/>
          </p:cNvCxnSpPr>
          <p:nvPr/>
        </p:nvCxnSpPr>
        <p:spPr bwMode="auto">
          <a:xfrm>
            <a:off x="5923805" y="21443539"/>
            <a:ext cx="812021" cy="0"/>
          </a:xfrm>
          <a:prstGeom prst="straightConnector1">
            <a:avLst/>
          </a:prstGeom>
          <a:solidFill>
            <a:schemeClr val="accent1"/>
          </a:solidFill>
          <a:ln w="9525"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4" name="Connector: Elbow 2073">
            <a:extLst>
              <a:ext uri="{FF2B5EF4-FFF2-40B4-BE49-F238E27FC236}">
                <a16:creationId xmlns:a16="http://schemas.microsoft.com/office/drawing/2014/main" id="{D53C8133-2288-D327-CCB3-446B89C6410E}"/>
              </a:ext>
            </a:extLst>
          </p:cNvPr>
          <p:cNvCxnSpPr>
            <a:stCxn id="2056" idx="3"/>
            <a:endCxn id="2058" idx="1"/>
          </p:cNvCxnSpPr>
          <p:nvPr/>
        </p:nvCxnSpPr>
        <p:spPr bwMode="auto">
          <a:xfrm flipH="1">
            <a:off x="2976324" y="19286523"/>
            <a:ext cx="7332159" cy="2157016"/>
          </a:xfrm>
          <a:prstGeom prst="bentConnector5">
            <a:avLst>
              <a:gd name="adj1" fmla="val -3118"/>
              <a:gd name="adj2" fmla="val 50000"/>
              <a:gd name="adj3" fmla="val 103118"/>
            </a:avLst>
          </a:prstGeom>
          <a:solidFill>
            <a:schemeClr val="accent1"/>
          </a:solidFill>
          <a:ln w="9525"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82" name="Rectangle 5">
            <a:extLst>
              <a:ext uri="{FF2B5EF4-FFF2-40B4-BE49-F238E27FC236}">
                <a16:creationId xmlns:a16="http://schemas.microsoft.com/office/drawing/2014/main" id="{8CB48CCE-3CAE-DC20-2BFF-ECDCC2D300F0}"/>
              </a:ext>
            </a:extLst>
          </p:cNvPr>
          <p:cNvSpPr>
            <a:spLocks noChangeArrowheads="1"/>
          </p:cNvSpPr>
          <p:nvPr/>
        </p:nvSpPr>
        <p:spPr bwMode="auto">
          <a:xfrm>
            <a:off x="727857" y="12948566"/>
            <a:ext cx="10058400" cy="784225"/>
          </a:xfrm>
          <a:prstGeom prst="rect">
            <a:avLst/>
          </a:prstGeom>
          <a:solidFill>
            <a:srgbClr val="1482A5"/>
          </a:solidFill>
          <a:ln>
            <a:noFill/>
          </a:ln>
          <a:effectLst/>
        </p:spPr>
        <p:txBody>
          <a:bodyPr wrap="none" lIns="274320" tIns="68580" rIns="274320" bIns="68580" anchor="ctr"/>
          <a:lstStyle>
            <a:defPPr>
              <a:defRPr kern="1200"/>
            </a:defPPr>
          </a:lstStyle>
          <a:p>
            <a:pPr defTabSz="4703763"/>
            <a:r>
              <a:rPr lang="en-US" sz="3600" dirty="0">
                <a:solidFill>
                  <a:schemeClr val="bg1"/>
                </a:solidFill>
                <a:latin typeface="Amaranth" panose="02000503050000020004" pitchFamily="2" charset="0"/>
              </a:rPr>
              <a:t>Questions</a:t>
            </a:r>
          </a:p>
        </p:txBody>
      </p:sp>
      <p:sp>
        <p:nvSpPr>
          <p:cNvPr id="2084" name="Text Box 6">
            <a:extLst>
              <a:ext uri="{FF2B5EF4-FFF2-40B4-BE49-F238E27FC236}">
                <a16:creationId xmlns:a16="http://schemas.microsoft.com/office/drawing/2014/main" id="{108CF4A8-4083-B251-ACBD-59B05429E293}"/>
              </a:ext>
            </a:extLst>
          </p:cNvPr>
          <p:cNvSpPr txBox="1">
            <a:spLocks noChangeArrowheads="1"/>
          </p:cNvSpPr>
          <p:nvPr/>
        </p:nvSpPr>
        <p:spPr bwMode="auto">
          <a:xfrm>
            <a:off x="727853" y="13978178"/>
            <a:ext cx="10058400" cy="3139321"/>
          </a:xfrm>
          <a:prstGeom prst="rect">
            <a:avLst/>
          </a:prstGeom>
          <a:solidFill>
            <a:srgbClr val="B4D3E2"/>
          </a:solidFill>
          <a:ln>
            <a:noFill/>
          </a:ln>
          <a:effectLst>
            <a:softEdge rad="0"/>
          </a:effectLst>
        </p:spPr>
        <p:txBody>
          <a:bodyPr lIns="274320" tIns="274320" rIns="274320" bIns="27432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pPr marL="457200" indent="-457200" algn="just">
              <a:buFont typeface="Arial" panose="020B0604020202020204" pitchFamily="34" charset="0"/>
              <a:buChar char="•"/>
            </a:pPr>
            <a:r>
              <a:rPr lang="en-US" sz="2800" dirty="0">
                <a:latin typeface="Titillium Web" panose="00000500000000000000" pitchFamily="2" charset="0"/>
                <a:ea typeface="Open Sans" panose="020B0606030504020204" pitchFamily="34" charset="0"/>
                <a:cs typeface="Open Sans" panose="020B0606030504020204" pitchFamily="34" charset="0"/>
              </a:rPr>
              <a:t>How do solar energy industries interact across world borders? In particular, what types of entities connect these communities directly and indirectly?</a:t>
            </a:r>
          </a:p>
          <a:p>
            <a:pPr marL="457200" indent="-457200" algn="just">
              <a:buFont typeface="Arial" panose="020B0604020202020204" pitchFamily="34" charset="0"/>
              <a:buChar char="•"/>
            </a:pPr>
            <a:r>
              <a:rPr lang="en-US" sz="2800" dirty="0">
                <a:latin typeface="Titillium Web" panose="00000500000000000000" pitchFamily="2" charset="0"/>
                <a:ea typeface="Open Sans" panose="020B0606030504020204" pitchFamily="34" charset="0"/>
                <a:cs typeface="Open Sans" panose="020B0606030504020204" pitchFamily="34" charset="0"/>
              </a:rPr>
              <a:t>How can information be extracted from a large corpus of articles to analyze communities and relationships in the solar energy industry?</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conceptualizingcobalt|08-2022"/>
</p:tagLst>
</file>

<file path=ppt/theme/theme1.xml><?xml version="1.0" encoding="utf-8"?>
<a:theme xmlns:a="http://schemas.openxmlformats.org/drawingml/2006/main" name="Default Design">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2175" rtl="0" eaLnBrk="1" fontAlgn="base" latinLnBrk="0" hangingPunct="1">
          <a:lnSpc>
            <a:spcPct val="100000"/>
          </a:lnSpc>
          <a:spcBef>
            <a:spcPct val="0"/>
          </a:spcBef>
          <a:spcAft>
            <a:spcPct val="0"/>
          </a:spcAft>
          <a:buClrTx/>
          <a:buSzTx/>
          <a:buFontTx/>
          <a:buNone/>
          <a:tabLst/>
          <a:defRPr kumimoji="0" lang="en-US" sz="93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2175" rtl="0" eaLnBrk="1" fontAlgn="base" latinLnBrk="0" hangingPunct="1">
          <a:lnSpc>
            <a:spcPct val="100000"/>
          </a:lnSpc>
          <a:spcBef>
            <a:spcPct val="0"/>
          </a:spcBef>
          <a:spcAft>
            <a:spcPct val="0"/>
          </a:spcAft>
          <a:buClrTx/>
          <a:buSzTx/>
          <a:buFontTx/>
          <a:buNone/>
          <a:tabLst/>
          <a:defRPr kumimoji="0" lang="en-US" sz="93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1167</TotalTime>
  <Words>869</Words>
  <Application>Microsoft Office PowerPoint</Application>
  <PresentationFormat>Custom</PresentationFormat>
  <Paragraphs>64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Titillium Web</vt:lpstr>
      <vt:lpstr>Arial</vt:lpstr>
      <vt:lpstr>Symbol</vt:lpstr>
      <vt:lpstr>Amaranth</vt:lpstr>
      <vt:lpstr>Default Design</vt:lpstr>
      <vt:lpstr>PowerPoint Presentation</vt:lpstr>
    </vt:vector>
  </TitlesOfParts>
  <Company>Graphicsland/MAKESIGNS.COM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Graphs for Solar Energy News Analysis</dc:title>
  <dc:subject>Example Of A Sample Research Poster</dc:subject>
  <dc:creator>Rachel Kan</dc:creator>
  <cp:keywords>scientific, research, template, custom, poster, presentation, symposium, printing, PowerPoint, create, design, example, sample, download</cp:keywords>
  <dc:description>Download our scientific poster templates at no cost to you and get one step closer to making a great research poster.</dc:description>
  <cp:lastModifiedBy>Rachel Kan</cp:lastModifiedBy>
  <cp:revision>57</cp:revision>
  <dcterms:modified xsi:type="dcterms:W3CDTF">2026-08-03T14:34:54Z</dcterms:modified>
  <cp:category>scientific poster PowerPoint</cp:category>
</cp:coreProperties>
</file>